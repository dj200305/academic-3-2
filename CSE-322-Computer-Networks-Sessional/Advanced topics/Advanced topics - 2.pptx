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69" r:id="rId16"/>
  </p:sldIdLst>
  <p:sldSz cx="9144000" cy="5143500" type="screen16x9"/>
  <p:notesSz cx="6858000" cy="9144000"/>
  <p:embeddedFontLst>
    <p:embeddedFont>
      <p:font typeface="Cinzel" panose="020B0604020202020204" charset="0"/>
      <p:regular r:id="rId18"/>
      <p:bold r:id="rId19"/>
    </p:embeddedFont>
    <p:embeddedFont>
      <p:font typeface="Cinzel SemiBold" panose="020B0604020202020204" charset="0"/>
      <p:regular r:id="rId20"/>
      <p:bold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gI0GytQVXcj5wYpNS/q0u1wdPi+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055" autoAdjust="0"/>
  </p:normalViewPr>
  <p:slideViewPr>
    <p:cSldViewPr snapToGrid="0">
      <p:cViewPr varScale="1">
        <p:scale>
          <a:sx n="66" d="100"/>
          <a:sy n="66" d="100"/>
        </p:scale>
        <p:origin x="1506" y="6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110987524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8" Type="http://schemas.openxmlformats.org/officeDocument/2006/relationships/hyperlink" Target="https://en.wikipedia.org/wiki/Subnetwork" TargetMode="External"/><Relationship Id="rId3" Type="http://schemas.openxmlformats.org/officeDocument/2006/relationships/hyperlink" Target="https://en.wikipedia.org/wiki/Networking_protocol" TargetMode="External"/><Relationship Id="rId7" Type="http://schemas.openxmlformats.org/officeDocument/2006/relationships/hyperlink" Target="https://en.wikipedia.org/wiki/Default_gateway"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en.wikipedia.org/wiki/Routing" TargetMode="External"/><Relationship Id="rId5" Type="http://schemas.openxmlformats.org/officeDocument/2006/relationships/hyperlink" Target="https://en.wikipedia.org/wiki/Host_(network)" TargetMode="External"/><Relationship Id="rId10" Type="http://schemas.openxmlformats.org/officeDocument/2006/relationships/hyperlink" Target="https://en.wikipedia.org/wiki/Network_packet" TargetMode="External"/><Relationship Id="rId4" Type="http://schemas.openxmlformats.org/officeDocument/2006/relationships/hyperlink" Target="https://en.wikipedia.org/wiki/Internet_Protocol" TargetMode="External"/><Relationship Id="rId9" Type="http://schemas.openxmlformats.org/officeDocument/2006/relationships/hyperlink" Target="https://en.wikipedia.org/wiki/Router_(computing)"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en.wikipedia.org/wiki/Virtual_Extensible_LAN"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s://learningnetwork.cisco.com/s/blogs/a0D3i000005YebJEAS/introduction-to-vxlan"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 name="Google Shape;6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 name="Google Shape;7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The </a:t>
            </a:r>
            <a:r>
              <a:rPr lang="en-US" sz="1100" b="1" i="0" u="none" strike="noStrike" cap="none" dirty="0">
                <a:solidFill>
                  <a:srgbClr val="000000"/>
                </a:solidFill>
                <a:effectLst/>
                <a:latin typeface="Arial"/>
                <a:ea typeface="Arial"/>
                <a:cs typeface="Arial"/>
                <a:sym typeface="Arial"/>
              </a:rPr>
              <a:t>Virtual Router Redundancy Protocol</a:t>
            </a:r>
            <a:r>
              <a:rPr lang="en-US" sz="1100" b="0" i="0" u="none" strike="noStrike" cap="none" dirty="0">
                <a:solidFill>
                  <a:srgbClr val="000000"/>
                </a:solidFill>
                <a:effectLst/>
                <a:latin typeface="Arial"/>
                <a:ea typeface="Arial"/>
                <a:cs typeface="Arial"/>
                <a:sym typeface="Arial"/>
              </a:rPr>
              <a:t> (</a:t>
            </a:r>
            <a:r>
              <a:rPr lang="en-US" sz="1100" b="1" i="0" u="none" strike="noStrike" cap="none" dirty="0">
                <a:solidFill>
                  <a:srgbClr val="000000"/>
                </a:solidFill>
                <a:effectLst/>
                <a:latin typeface="Arial"/>
                <a:ea typeface="Arial"/>
                <a:cs typeface="Arial"/>
                <a:sym typeface="Arial"/>
              </a:rPr>
              <a:t>VRRP</a:t>
            </a:r>
            <a:r>
              <a:rPr lang="en-US" sz="1100" b="0" i="0" u="none" strike="noStrike" cap="none" dirty="0">
                <a:solidFill>
                  <a:srgbClr val="000000"/>
                </a:solidFill>
                <a:effectLst/>
                <a:latin typeface="Arial"/>
                <a:ea typeface="Arial"/>
                <a:cs typeface="Arial"/>
                <a:sym typeface="Arial"/>
              </a:rPr>
              <a:t>) is a computer </a:t>
            </a:r>
            <a:r>
              <a:rPr lang="en-US" sz="1100" b="0" i="0" u="none" strike="noStrike" cap="none" dirty="0">
                <a:solidFill>
                  <a:srgbClr val="000000"/>
                </a:solidFill>
                <a:effectLst/>
                <a:latin typeface="Arial"/>
                <a:ea typeface="Arial"/>
                <a:cs typeface="Arial"/>
                <a:sym typeface="Arial"/>
                <a:hlinkClick r:id="rId3" tooltip="Networking protocol"/>
              </a:rPr>
              <a:t>networking protocol</a:t>
            </a:r>
            <a:r>
              <a:rPr lang="en-US" sz="1100" b="0" i="0" u="none" strike="noStrike" cap="none" dirty="0">
                <a:solidFill>
                  <a:srgbClr val="000000"/>
                </a:solidFill>
                <a:effectLst/>
                <a:latin typeface="Arial"/>
                <a:ea typeface="Arial"/>
                <a:cs typeface="Arial"/>
                <a:sym typeface="Arial"/>
              </a:rPr>
              <a:t> that provides for automatic assignment of available </a:t>
            </a:r>
            <a:r>
              <a:rPr lang="en-US" sz="1100" b="0" i="0" u="none" strike="noStrike" cap="none" dirty="0">
                <a:solidFill>
                  <a:srgbClr val="000000"/>
                </a:solidFill>
                <a:effectLst/>
                <a:latin typeface="Arial"/>
                <a:ea typeface="Arial"/>
                <a:cs typeface="Arial"/>
                <a:sym typeface="Arial"/>
                <a:hlinkClick r:id="rId4" tooltip="Internet Protocol"/>
              </a:rPr>
              <a:t>Internet Protocol</a:t>
            </a:r>
            <a:r>
              <a:rPr lang="en-US" sz="1100" b="0" i="0" u="none" strike="noStrike" cap="none" dirty="0">
                <a:solidFill>
                  <a:srgbClr val="000000"/>
                </a:solidFill>
                <a:effectLst/>
                <a:latin typeface="Arial"/>
                <a:ea typeface="Arial"/>
                <a:cs typeface="Arial"/>
                <a:sym typeface="Arial"/>
              </a:rPr>
              <a:t> (IP) routers to participating </a:t>
            </a:r>
            <a:r>
              <a:rPr lang="en-US" sz="1100" b="0" i="0" u="none" strike="noStrike" cap="none" dirty="0">
                <a:solidFill>
                  <a:srgbClr val="000000"/>
                </a:solidFill>
                <a:effectLst/>
                <a:latin typeface="Arial"/>
                <a:ea typeface="Arial"/>
                <a:cs typeface="Arial"/>
                <a:sym typeface="Arial"/>
                <a:hlinkClick r:id="rId5" tooltip="Host (network)"/>
              </a:rPr>
              <a:t>hosts</a:t>
            </a:r>
            <a:r>
              <a:rPr lang="en-US" sz="1100" b="0" i="0" u="none" strike="noStrike" cap="none" dirty="0">
                <a:solidFill>
                  <a:srgbClr val="000000"/>
                </a:solidFill>
                <a:effectLst/>
                <a:latin typeface="Arial"/>
                <a:ea typeface="Arial"/>
                <a:cs typeface="Arial"/>
                <a:sym typeface="Arial"/>
              </a:rPr>
              <a:t>. This increases the availability and reliability of </a:t>
            </a:r>
            <a:r>
              <a:rPr lang="en-US" sz="1100" b="0" i="0" u="none" strike="noStrike" cap="none" dirty="0">
                <a:solidFill>
                  <a:srgbClr val="000000"/>
                </a:solidFill>
                <a:effectLst/>
                <a:latin typeface="Arial"/>
                <a:ea typeface="Arial"/>
                <a:cs typeface="Arial"/>
                <a:sym typeface="Arial"/>
                <a:hlinkClick r:id="rId6" tooltip="Routing"/>
              </a:rPr>
              <a:t>routing</a:t>
            </a:r>
            <a:r>
              <a:rPr lang="en-US" sz="1100" b="0" i="0" u="none" strike="noStrike" cap="none" dirty="0">
                <a:solidFill>
                  <a:srgbClr val="000000"/>
                </a:solidFill>
                <a:effectLst/>
                <a:latin typeface="Arial"/>
                <a:ea typeface="Arial"/>
                <a:cs typeface="Arial"/>
                <a:sym typeface="Arial"/>
              </a:rPr>
              <a:t> paths via automatic </a:t>
            </a:r>
            <a:r>
              <a:rPr lang="en-US" sz="1100" b="0" i="0" u="none" strike="noStrike" cap="none" dirty="0">
                <a:solidFill>
                  <a:srgbClr val="000000"/>
                </a:solidFill>
                <a:effectLst/>
                <a:latin typeface="Arial"/>
                <a:ea typeface="Arial"/>
                <a:cs typeface="Arial"/>
                <a:sym typeface="Arial"/>
                <a:hlinkClick r:id="rId7" tooltip="Default gateway"/>
              </a:rPr>
              <a:t>default gateway</a:t>
            </a:r>
            <a:r>
              <a:rPr lang="en-US" sz="1100" b="0" i="0" u="none" strike="noStrike" cap="none" dirty="0">
                <a:solidFill>
                  <a:srgbClr val="000000"/>
                </a:solidFill>
                <a:effectLst/>
                <a:latin typeface="Arial"/>
                <a:ea typeface="Arial"/>
                <a:cs typeface="Arial"/>
                <a:sym typeface="Arial"/>
              </a:rPr>
              <a:t> selections on an IP </a:t>
            </a:r>
            <a:r>
              <a:rPr lang="en-US" sz="1100" b="0" i="0" u="none" strike="noStrike" cap="none" dirty="0">
                <a:solidFill>
                  <a:srgbClr val="000000"/>
                </a:solidFill>
                <a:effectLst/>
                <a:latin typeface="Arial"/>
                <a:ea typeface="Arial"/>
                <a:cs typeface="Arial"/>
                <a:sym typeface="Arial"/>
                <a:hlinkClick r:id="rId8" tooltip="Subnetwork"/>
              </a:rPr>
              <a:t>subnetwork</a:t>
            </a:r>
            <a:r>
              <a:rPr lang="en-US" sz="1100" b="0" i="0" u="none" strike="noStrike" cap="none" dirty="0">
                <a:solidFill>
                  <a:srgbClr val="000000"/>
                </a:solidFill>
                <a:effectLst/>
                <a:latin typeface="Arial"/>
                <a:ea typeface="Arial"/>
                <a:cs typeface="Arial"/>
                <a:sym typeface="Arial"/>
              </a:rPr>
              <a:t>.</a:t>
            </a:r>
          </a:p>
          <a:p>
            <a:r>
              <a:rPr lang="en-US" sz="1100" b="0" i="0" u="none" strike="noStrike" cap="none" dirty="0">
                <a:solidFill>
                  <a:srgbClr val="000000"/>
                </a:solidFill>
                <a:effectLst/>
                <a:latin typeface="Arial"/>
                <a:ea typeface="Arial"/>
                <a:cs typeface="Arial"/>
                <a:sym typeface="Arial"/>
              </a:rPr>
              <a:t>The protocol achieves this by the creation of virtual routers, which are an abstract representation of multiple routers, i.e. primary/active and secondary/Standby </a:t>
            </a:r>
            <a:r>
              <a:rPr lang="en-US" sz="1100" b="0" i="0" u="none" strike="noStrike" cap="none" dirty="0">
                <a:solidFill>
                  <a:srgbClr val="000000"/>
                </a:solidFill>
                <a:effectLst/>
                <a:latin typeface="Arial"/>
                <a:ea typeface="Arial"/>
                <a:cs typeface="Arial"/>
                <a:sym typeface="Arial"/>
                <a:hlinkClick r:id="rId9" tooltip="Router (computing)"/>
              </a:rPr>
              <a:t>routers</a:t>
            </a:r>
            <a:r>
              <a:rPr lang="en-US" sz="1100" b="0" i="0" u="none" strike="noStrike" cap="none" dirty="0">
                <a:solidFill>
                  <a:srgbClr val="000000"/>
                </a:solidFill>
                <a:effectLst/>
                <a:latin typeface="Arial"/>
                <a:ea typeface="Arial"/>
                <a:cs typeface="Arial"/>
                <a:sym typeface="Arial"/>
              </a:rPr>
              <a:t>, acting as a group. The virtual router is assigned to act as a default gateway of participating hosts, instead of a physical router. If the physical router that is routing packets on behalf of the virtual router fails, another physical router is selected to automatically replace it. The physical router that is forwarding </a:t>
            </a:r>
            <a:r>
              <a:rPr lang="en-US" sz="1100" b="0" i="0" u="none" strike="noStrike" cap="none" dirty="0">
                <a:solidFill>
                  <a:srgbClr val="000000"/>
                </a:solidFill>
                <a:effectLst/>
                <a:latin typeface="Arial"/>
                <a:ea typeface="Arial"/>
                <a:cs typeface="Arial"/>
                <a:sym typeface="Arial"/>
                <a:hlinkClick r:id="rId10" tooltip="Network packet"/>
              </a:rPr>
              <a:t>packets</a:t>
            </a:r>
            <a:r>
              <a:rPr lang="en-US" sz="1100" b="0" i="0" u="none" strike="noStrike" cap="none" dirty="0">
                <a:solidFill>
                  <a:srgbClr val="000000"/>
                </a:solidFill>
                <a:effectLst/>
                <a:latin typeface="Arial"/>
                <a:ea typeface="Arial"/>
                <a:cs typeface="Arial"/>
                <a:sym typeface="Arial"/>
              </a:rPr>
              <a:t> at any given time is called the primary/active router.</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2795e634fb3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2795e634fb3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2795e634fb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2795e634fb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 name="Google Shape;9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 name="Google Shape;10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Network virtualization divides networking into an </a:t>
            </a:r>
            <a:r>
              <a:rPr lang="en-US" sz="1100" b="1" i="0" u="none" strike="noStrike" cap="none" dirty="0">
                <a:solidFill>
                  <a:srgbClr val="000000"/>
                </a:solidFill>
                <a:effectLst/>
                <a:latin typeface="Arial"/>
                <a:ea typeface="Arial"/>
                <a:cs typeface="Arial"/>
                <a:sym typeface="Arial"/>
              </a:rPr>
              <a:t>underlay</a:t>
            </a:r>
            <a:r>
              <a:rPr lang="en-US" sz="1100" b="0" i="0" u="none" strike="noStrike" cap="none" dirty="0">
                <a:solidFill>
                  <a:srgbClr val="000000"/>
                </a:solidFill>
                <a:effectLst/>
                <a:latin typeface="Arial"/>
                <a:ea typeface="Arial"/>
                <a:cs typeface="Arial"/>
                <a:sym typeface="Arial"/>
              </a:rPr>
              <a:t> (physical, hardware-based transport) and an </a:t>
            </a:r>
            <a:r>
              <a:rPr lang="en-US" sz="1100" b="1" i="0" u="none" strike="noStrike" cap="none" dirty="0">
                <a:solidFill>
                  <a:srgbClr val="000000"/>
                </a:solidFill>
                <a:effectLst/>
                <a:latin typeface="Arial"/>
                <a:ea typeface="Arial"/>
                <a:cs typeface="Arial"/>
                <a:sym typeface="Arial"/>
              </a:rPr>
              <a:t>overlay</a:t>
            </a:r>
            <a:r>
              <a:rPr lang="en-US" sz="1100" b="0" i="0" u="none" strike="noStrike" cap="none" dirty="0">
                <a:solidFill>
                  <a:srgbClr val="000000"/>
                </a:solidFill>
                <a:effectLst/>
                <a:latin typeface="Arial"/>
                <a:ea typeface="Arial"/>
                <a:cs typeface="Arial"/>
                <a:sym typeface="Arial"/>
              </a:rPr>
              <a:t> (logical, software-defined network). The underlay provides stable, high-speed connectivity, while the overlay utilizes tunneling (e.g., VXLAN) to provide flexibility, scalability, and security, allowing multiple logical networks to run over one physical infrastructure. </a:t>
            </a:r>
          </a:p>
          <a:p>
            <a:r>
              <a:rPr lang="en-US" sz="1100" b="0" i="0" u="none" strike="noStrike" cap="none" dirty="0">
                <a:solidFill>
                  <a:srgbClr val="000000"/>
                </a:solidFill>
                <a:effectLst/>
                <a:latin typeface="Arial"/>
                <a:ea typeface="Arial"/>
                <a:cs typeface="Arial"/>
                <a:sym typeface="Arial"/>
              </a:rPr>
              <a:t>NetworkLessons.com +1</a:t>
            </a:r>
          </a:p>
          <a:p>
            <a:r>
              <a:rPr lang="en-US" sz="1100" b="1" i="0" u="none" strike="noStrike" cap="none" dirty="0">
                <a:solidFill>
                  <a:srgbClr val="000000"/>
                </a:solidFill>
                <a:effectLst/>
                <a:latin typeface="Arial"/>
                <a:ea typeface="Arial"/>
                <a:cs typeface="Arial"/>
                <a:sym typeface="Arial"/>
              </a:rPr>
              <a:t>Key Differences Between Overlay and Underlay Networks</a:t>
            </a:r>
            <a:endParaRPr lang="en-US" sz="1100" b="0" i="0" u="none" strike="noStrike" cap="none" dirty="0">
              <a:solidFill>
                <a:srgbClr val="000000"/>
              </a:solidFill>
              <a:effectLst/>
              <a:latin typeface="Arial"/>
              <a:ea typeface="Arial"/>
              <a:cs typeface="Arial"/>
              <a:sym typeface="Arial"/>
            </a:endParaRPr>
          </a:p>
          <a:p>
            <a:r>
              <a:rPr lang="en-US" sz="1100" b="1" i="0" u="none" strike="noStrike" cap="none" dirty="0">
                <a:solidFill>
                  <a:srgbClr val="000000"/>
                </a:solidFill>
                <a:effectLst/>
                <a:latin typeface="Arial"/>
                <a:ea typeface="Arial"/>
                <a:cs typeface="Arial"/>
                <a:sym typeface="Arial"/>
              </a:rPr>
              <a:t>Definition:</a:t>
            </a:r>
            <a:r>
              <a:rPr lang="en-US" sz="1100" b="0" i="0" u="none" strike="noStrike" cap="none" dirty="0">
                <a:solidFill>
                  <a:srgbClr val="000000"/>
                </a:solidFill>
                <a:effectLst/>
                <a:latin typeface="Arial"/>
                <a:ea typeface="Arial"/>
                <a:cs typeface="Arial"/>
                <a:sym typeface="Arial"/>
              </a:rPr>
              <a:t> The </a:t>
            </a:r>
            <a:r>
              <a:rPr lang="en-US" sz="1100" b="1" i="0" u="none" strike="noStrike" cap="none" dirty="0">
                <a:solidFill>
                  <a:srgbClr val="000000"/>
                </a:solidFill>
                <a:effectLst/>
                <a:latin typeface="Arial"/>
                <a:ea typeface="Arial"/>
                <a:cs typeface="Arial"/>
                <a:sym typeface="Arial"/>
              </a:rPr>
              <a:t>Underlay</a:t>
            </a:r>
            <a:r>
              <a:rPr lang="en-US" sz="1100" b="0" i="0" u="none" strike="noStrike" cap="none" dirty="0">
                <a:solidFill>
                  <a:srgbClr val="000000"/>
                </a:solidFill>
                <a:effectLst/>
                <a:latin typeface="Arial"/>
                <a:ea typeface="Arial"/>
                <a:cs typeface="Arial"/>
                <a:sym typeface="Arial"/>
              </a:rPr>
              <a:t> is the actual physical network of routers, switches, and cables. The </a:t>
            </a:r>
            <a:r>
              <a:rPr lang="en-US" sz="1100" b="1" i="0" u="none" strike="noStrike" cap="none" dirty="0">
                <a:solidFill>
                  <a:srgbClr val="000000"/>
                </a:solidFill>
                <a:effectLst/>
                <a:latin typeface="Arial"/>
                <a:ea typeface="Arial"/>
                <a:cs typeface="Arial"/>
                <a:sym typeface="Arial"/>
              </a:rPr>
              <a:t>Overlay</a:t>
            </a:r>
            <a:r>
              <a:rPr lang="en-US" sz="1100" b="0" i="0" u="none" strike="noStrike" cap="none" dirty="0">
                <a:solidFill>
                  <a:srgbClr val="000000"/>
                </a:solidFill>
                <a:effectLst/>
                <a:latin typeface="Arial"/>
                <a:ea typeface="Arial"/>
                <a:cs typeface="Arial"/>
                <a:sym typeface="Arial"/>
              </a:rPr>
              <a:t> is a virtual, logical network built on top of the underlay.</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Virtual Extensible LAN</a:t>
            </a:r>
          </a:p>
          <a:p>
            <a:pPr marL="0" lvl="0" indent="0" algn="l" rtl="0">
              <a:lnSpc>
                <a:spcPct val="100000"/>
              </a:lnSpc>
              <a:spcBef>
                <a:spcPts val="0"/>
              </a:spcBef>
              <a:spcAft>
                <a:spcPts val="0"/>
              </a:spcAft>
              <a:buSzPts val="1100"/>
              <a:buNone/>
            </a:pPr>
            <a:r>
              <a:rPr lang="en-US" dirty="0"/>
              <a:t>VLAN </a:t>
            </a:r>
            <a:r>
              <a:rPr lang="en-US" baseline="0" dirty="0"/>
              <a:t>– 12-bit – 4094 + Spanning tree, so unused link</a:t>
            </a:r>
          </a:p>
          <a:p>
            <a:pPr marL="0" lvl="0" indent="0" algn="l" rtl="0">
              <a:lnSpc>
                <a:spcPct val="100000"/>
              </a:lnSpc>
              <a:spcBef>
                <a:spcPts val="0"/>
              </a:spcBef>
              <a:spcAft>
                <a:spcPts val="0"/>
              </a:spcAft>
              <a:buSzPts val="1100"/>
              <a:buNone/>
            </a:pPr>
            <a:r>
              <a:rPr lang="en-US" baseline="0" dirty="0"/>
              <a:t>VXLAN – 24-bit – 16 million + No Spanning tree + (tunneling protocol – encapsulate IPv6 packet in the payload of IPv4 packet)</a:t>
            </a:r>
          </a:p>
          <a:p>
            <a:pPr marL="0" lvl="0" indent="0" algn="l" rtl="0">
              <a:lnSpc>
                <a:spcPct val="100000"/>
              </a:lnSpc>
              <a:spcBef>
                <a:spcPts val="0"/>
              </a:spcBef>
              <a:spcAft>
                <a:spcPts val="0"/>
              </a:spcAft>
              <a:buSzPts val="1100"/>
              <a:buNone/>
            </a:pPr>
            <a:r>
              <a:rPr lang="en-US" baseline="0" dirty="0"/>
              <a:t>L2 packet gets encapsulated in the payload of the packet + extra info for handling VXLAN (is done by VTEP - </a:t>
            </a:r>
            <a:r>
              <a:rPr lang="en-US" sz="1100" b="0" i="0" u="none" strike="noStrike" cap="none" dirty="0">
                <a:solidFill>
                  <a:srgbClr val="000000"/>
                </a:solidFill>
                <a:effectLst/>
                <a:latin typeface="Arial"/>
                <a:ea typeface="Arial"/>
                <a:cs typeface="Arial"/>
                <a:sym typeface="Arial"/>
              </a:rPr>
              <a:t> VXLAN Tunnel </a:t>
            </a:r>
            <a:r>
              <a:rPr lang="en-US" sz="1100" b="0" i="0" u="none" strike="noStrike" cap="none" dirty="0" err="1">
                <a:solidFill>
                  <a:srgbClr val="000000"/>
                </a:solidFill>
                <a:effectLst/>
                <a:latin typeface="Arial"/>
                <a:ea typeface="Arial"/>
                <a:cs typeface="Arial"/>
                <a:sym typeface="Arial"/>
              </a:rPr>
              <a:t>EndPoint</a:t>
            </a:r>
            <a:r>
              <a:rPr lang="en-US" baseline="0" dirty="0"/>
              <a:t>)</a:t>
            </a:r>
          </a:p>
          <a:p>
            <a:pPr marL="0" lvl="0" indent="0" algn="l" rtl="0">
              <a:lnSpc>
                <a:spcPct val="100000"/>
              </a:lnSpc>
              <a:spcBef>
                <a:spcPts val="0"/>
              </a:spcBef>
              <a:spcAft>
                <a:spcPts val="0"/>
              </a:spcAft>
              <a:buSzPts val="1100"/>
              <a:buNone/>
            </a:pPr>
            <a:r>
              <a:rPr lang="en-US" baseline="0" dirty="0"/>
              <a:t>-----------------------</a:t>
            </a:r>
          </a:p>
          <a:p>
            <a:r>
              <a:rPr lang="en-US" sz="1100" b="0" i="0" u="none" strike="noStrike" cap="none" dirty="0">
                <a:solidFill>
                  <a:srgbClr val="000000"/>
                </a:solidFill>
                <a:effectLst/>
                <a:latin typeface="Arial"/>
                <a:ea typeface="Arial"/>
                <a:cs typeface="Arial"/>
                <a:sym typeface="Arial"/>
              </a:rPr>
              <a:t>A VXLAN Tunnel Endpoint (VTEP) is an edge device—either a physical switch or a virtualized server—that encapsulates and de-encapsulates traffic in a </a:t>
            </a:r>
            <a:r>
              <a:rPr lang="en-US" sz="1100" b="0" i="0" u="none" strike="noStrike" cap="none" dirty="0">
                <a:solidFill>
                  <a:srgbClr val="000000"/>
                </a:solidFill>
                <a:effectLst/>
                <a:latin typeface="Arial"/>
                <a:ea typeface="Arial"/>
                <a:cs typeface="Arial"/>
                <a:sym typeface="Arial"/>
                <a:hlinkClick r:id="rId3"/>
              </a:rPr>
              <a:t>Virtual Extensible LAN (VXLAN)</a:t>
            </a:r>
            <a:r>
              <a:rPr lang="en-US" sz="1100" b="0" i="0" u="none" strike="noStrike" cap="none" dirty="0">
                <a:solidFill>
                  <a:srgbClr val="000000"/>
                </a:solidFill>
                <a:effectLst/>
                <a:latin typeface="Arial"/>
                <a:ea typeface="Arial"/>
                <a:cs typeface="Arial"/>
                <a:sym typeface="Arial"/>
              </a:rPr>
              <a:t> network. It enables Layer 2 connectivity over a Layer 3 underlay network by mapping </a:t>
            </a:r>
            <a:r>
              <a:rPr lang="en-US" sz="1100" b="0" i="0" u="none" strike="noStrike" cap="none" dirty="0">
                <a:solidFill>
                  <a:srgbClr val="000000"/>
                </a:solidFill>
                <a:effectLst/>
                <a:latin typeface="Arial"/>
                <a:ea typeface="Arial"/>
                <a:cs typeface="Arial"/>
                <a:sym typeface="Arial"/>
                <a:hlinkClick r:id="rId4"/>
              </a:rPr>
              <a:t>Virtual Network Identifiers (VNIs)</a:t>
            </a:r>
            <a:r>
              <a:rPr lang="en-US" sz="1100" b="0" i="0" u="none" strike="noStrike" cap="none" dirty="0">
                <a:solidFill>
                  <a:srgbClr val="000000"/>
                </a:solidFill>
                <a:effectLst/>
                <a:latin typeface="Arial"/>
                <a:ea typeface="Arial"/>
                <a:cs typeface="Arial"/>
                <a:sym typeface="Arial"/>
              </a:rPr>
              <a:t> to VLANs, serving as the tunnel's start/end point. </a:t>
            </a:r>
          </a:p>
          <a:p>
            <a:r>
              <a:rPr lang="en-US" sz="1100" b="0" i="0" u="none" strike="noStrike" cap="none" dirty="0">
                <a:solidFill>
                  <a:srgbClr val="000000"/>
                </a:solidFill>
                <a:effectLst/>
                <a:latin typeface="Arial"/>
                <a:ea typeface="Arial"/>
                <a:cs typeface="Arial"/>
                <a:sym typeface="Arial"/>
              </a:rPr>
              <a:t>Cisco Learning Network +4</a:t>
            </a:r>
          </a:p>
          <a:p>
            <a:r>
              <a:rPr lang="en-US" sz="1100" b="1" i="0" u="none" strike="noStrike" cap="none" dirty="0">
                <a:solidFill>
                  <a:srgbClr val="000000"/>
                </a:solidFill>
                <a:effectLst/>
                <a:latin typeface="Arial"/>
                <a:ea typeface="Arial"/>
                <a:cs typeface="Arial"/>
                <a:sym typeface="Arial"/>
              </a:rPr>
              <a:t>Key Aspects of VTEP:</a:t>
            </a:r>
            <a:endParaRPr lang="en-US" sz="1100" b="0" i="0" u="none" strike="noStrike" cap="none" dirty="0">
              <a:solidFill>
                <a:srgbClr val="000000"/>
              </a:solidFill>
              <a:effectLst/>
              <a:latin typeface="Arial"/>
              <a:ea typeface="Arial"/>
              <a:cs typeface="Arial"/>
              <a:sym typeface="Arial"/>
            </a:endParaRPr>
          </a:p>
          <a:p>
            <a:r>
              <a:rPr lang="en-US" sz="1100" b="1" i="0" u="none" strike="noStrike" cap="none" dirty="0">
                <a:solidFill>
                  <a:srgbClr val="000000"/>
                </a:solidFill>
                <a:effectLst/>
                <a:latin typeface="Arial"/>
                <a:ea typeface="Arial"/>
                <a:cs typeface="Arial"/>
                <a:sym typeface="Arial"/>
              </a:rPr>
              <a:t>Encapsulation/Decapsulation:</a:t>
            </a:r>
            <a:r>
              <a:rPr lang="en-US" sz="1100" b="0" i="0" u="none" strike="noStrike" cap="none" dirty="0">
                <a:solidFill>
                  <a:srgbClr val="000000"/>
                </a:solidFill>
                <a:effectLst/>
                <a:latin typeface="Arial"/>
                <a:ea typeface="Arial"/>
                <a:cs typeface="Arial"/>
                <a:sym typeface="Arial"/>
              </a:rPr>
              <a:t> VTEPs take Ethernet frames, wrap them in IP/UDP headers (typically UDP port 4789 or 8472), and send them to a destination VTEP.</a:t>
            </a:r>
          </a:p>
          <a:p>
            <a:r>
              <a:rPr lang="en-US" sz="1100" b="1" i="0" u="none" strike="noStrike" cap="none" dirty="0">
                <a:solidFill>
                  <a:srgbClr val="000000"/>
                </a:solidFill>
                <a:effectLst/>
                <a:latin typeface="Arial"/>
                <a:ea typeface="Arial"/>
                <a:cs typeface="Arial"/>
                <a:sym typeface="Arial"/>
              </a:rPr>
              <a:t>Interfaces:</a:t>
            </a:r>
            <a:r>
              <a:rPr lang="en-US" sz="1100" b="0" i="0" u="none" strike="noStrike" cap="none" dirty="0">
                <a:solidFill>
                  <a:srgbClr val="000000"/>
                </a:solidFill>
                <a:effectLst/>
                <a:latin typeface="Arial"/>
                <a:ea typeface="Arial"/>
                <a:cs typeface="Arial"/>
                <a:sym typeface="Arial"/>
              </a:rPr>
              <a:t> Each VTEP has two interfaces: a local LAN interface for endpoint communication and an IP interface to the transport network for tunnel communication.</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 name="Google Shape;10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 name="Google Shape;10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1"/>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1"/>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1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1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1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14"/>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14"/>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16"/>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16"/>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17"/>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8"/>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8"/>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8"/>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9"/>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20"/>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0"/>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support.huawei.com/enterprise/en/doc/EDOC1100086966"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r>
              <a:rPr lang="en" dirty="0"/>
              <a:t>Advanced Topics - 2</a:t>
            </a:r>
            <a:endParaRPr dirty="0"/>
          </a:p>
        </p:txBody>
      </p:sp>
      <p:sp>
        <p:nvSpPr>
          <p:cNvPr id="55" name="Google Shape;55;p1"/>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r>
              <a:rPr lang="en" dirty="0"/>
              <a:t>(Ack: Ishrat Jahan)</a:t>
            </a:r>
            <a:endParaRPr dirty="0"/>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a:t>
            </a:fld>
            <a:endParaRPr lang="e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2"/>
          <p:cNvSpPr txBox="1">
            <a:spLocks noGrp="1"/>
          </p:cNvSpPr>
          <p:nvPr>
            <p:ph type="title"/>
          </p:nvPr>
        </p:nvSpPr>
        <p:spPr>
          <a:xfrm>
            <a:off x="3420050" y="2124950"/>
            <a:ext cx="35208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latin typeface="Cinzel"/>
                <a:ea typeface="Cinzel"/>
                <a:cs typeface="Cinzel"/>
                <a:sym typeface="Cinzel"/>
              </a:rPr>
              <a:t>Load Balancing</a:t>
            </a:r>
            <a:endParaRPr b="1">
              <a:latin typeface="Cinzel"/>
              <a:ea typeface="Cinzel"/>
              <a:cs typeface="Cinzel"/>
              <a:sym typeface="Cinze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Load Balancing</a:t>
            </a:r>
            <a:endParaRPr/>
          </a:p>
        </p:txBody>
      </p:sp>
      <p:pic>
        <p:nvPicPr>
          <p:cNvPr id="66" name="Google Shape;66;p3"/>
          <p:cNvPicPr preferRelativeResize="0"/>
          <p:nvPr/>
        </p:nvPicPr>
        <p:blipFill rotWithShape="1">
          <a:blip r:embed="rId3">
            <a:alphaModFix/>
          </a:blip>
          <a:srcRect/>
          <a:stretch/>
        </p:blipFill>
        <p:spPr>
          <a:xfrm>
            <a:off x="1357025" y="1132373"/>
            <a:ext cx="6429951" cy="3680000"/>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4"/>
          <p:cNvSpPr txBox="1">
            <a:spLocks noGrp="1"/>
          </p:cNvSpPr>
          <p:nvPr>
            <p:ph type="title"/>
          </p:nvPr>
        </p:nvSpPr>
        <p:spPr>
          <a:xfrm>
            <a:off x="3420050" y="2124950"/>
            <a:ext cx="35208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latin typeface="Cinzel"/>
                <a:ea typeface="Cinzel"/>
                <a:cs typeface="Cinzel"/>
                <a:sym typeface="Cinzel"/>
              </a:rPr>
              <a:t>High Availability</a:t>
            </a:r>
            <a:endParaRPr b="1">
              <a:latin typeface="Cinzel"/>
              <a:ea typeface="Cinzel"/>
              <a:cs typeface="Cinzel"/>
              <a:sym typeface="Cinze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VRRP - Virtual Router Redundancy Protocol</a:t>
            </a:r>
            <a:endParaRPr dirty="0"/>
          </a:p>
        </p:txBody>
      </p:sp>
      <p:pic>
        <p:nvPicPr>
          <p:cNvPr id="77" name="Google Shape;77;p5"/>
          <p:cNvPicPr preferRelativeResize="0"/>
          <p:nvPr/>
        </p:nvPicPr>
        <p:blipFill rotWithShape="1">
          <a:blip r:embed="rId3">
            <a:alphaModFix/>
          </a:blip>
          <a:srcRect/>
          <a:stretch/>
        </p:blipFill>
        <p:spPr>
          <a:xfrm>
            <a:off x="1852450" y="1180200"/>
            <a:ext cx="4354200" cy="3820975"/>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g2795e634fb3_0_8"/>
          <p:cNvSpPr txBox="1">
            <a:spLocks noGrp="1"/>
          </p:cNvSpPr>
          <p:nvPr>
            <p:ph type="title"/>
          </p:nvPr>
        </p:nvSpPr>
        <p:spPr>
          <a:xfrm>
            <a:off x="1246875" y="22008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latin typeface="Cinzel SemiBold"/>
                <a:ea typeface="Cinzel SemiBold"/>
                <a:cs typeface="Cinzel SemiBold"/>
                <a:sym typeface="Cinzel SemiBold"/>
              </a:rPr>
              <a:t>SDN (Software Defined Networking)</a:t>
            </a:r>
            <a:endParaRPr>
              <a:latin typeface="Cinzel SemiBold"/>
              <a:ea typeface="Cinzel SemiBold"/>
              <a:cs typeface="Cinzel SemiBold"/>
              <a:sym typeface="Cinzel SemiBold"/>
            </a:endParaRPr>
          </a:p>
          <a:p>
            <a:pPr marL="0" lvl="0" indent="0" algn="l" rtl="0">
              <a:spcBef>
                <a:spcPts val="0"/>
              </a:spcBef>
              <a:spcAft>
                <a:spcPts val="0"/>
              </a:spcAft>
              <a:buClr>
                <a:schemeClr val="dk1"/>
              </a:buClr>
              <a:buSzPct val="39285"/>
              <a:buFont typeface="Arial"/>
              <a:buNone/>
            </a:pPr>
            <a:endParaRPr>
              <a:latin typeface="Cinzel SemiBold"/>
              <a:ea typeface="Cinzel SemiBold"/>
              <a:cs typeface="Cinzel SemiBold"/>
              <a:sym typeface="Cinzel SemiBold"/>
            </a:endParaRPr>
          </a:p>
          <a:p>
            <a:pPr marL="0" lvl="0" indent="0" algn="l" rtl="0">
              <a:spcBef>
                <a:spcPts val="0"/>
              </a:spcBef>
              <a:spcAft>
                <a:spcPts val="0"/>
              </a:spcAft>
              <a:buNone/>
            </a:pPr>
            <a:endParaRPr>
              <a:latin typeface="Cinzel SemiBold"/>
              <a:ea typeface="Cinzel SemiBold"/>
              <a:cs typeface="Cinzel SemiBold"/>
              <a:sym typeface="Cinzel SemiBold"/>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pic>
        <p:nvPicPr>
          <p:cNvPr id="87" name="Google Shape;87;g2795e634fb3_0_0"/>
          <p:cNvPicPr preferRelativeResize="0"/>
          <p:nvPr/>
        </p:nvPicPr>
        <p:blipFill>
          <a:blip r:embed="rId3">
            <a:alphaModFix/>
          </a:blip>
          <a:stretch>
            <a:fillRect/>
          </a:stretch>
        </p:blipFill>
        <p:spPr>
          <a:xfrm>
            <a:off x="2280700" y="496225"/>
            <a:ext cx="4042946" cy="4566151"/>
          </a:xfrm>
          <a:prstGeom prst="rect">
            <a:avLst/>
          </a:prstGeom>
          <a:noFill/>
          <a:ln>
            <a:noFill/>
          </a:ln>
        </p:spPr>
      </p:pic>
      <p:sp>
        <p:nvSpPr>
          <p:cNvPr id="88" name="Google Shape;88;g2795e634fb3_0_0"/>
          <p:cNvSpPr txBox="1"/>
          <p:nvPr/>
        </p:nvSpPr>
        <p:spPr>
          <a:xfrm flipH="1">
            <a:off x="6708425" y="1126025"/>
            <a:ext cx="1908600" cy="132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CP - Control Plane</a:t>
            </a:r>
            <a:br>
              <a:rPr lang="en"/>
            </a:br>
            <a:r>
              <a:rPr lang="en"/>
              <a:t>DP - Data Plane</a:t>
            </a:r>
            <a:endParaRPr/>
          </a:p>
          <a:p>
            <a:pPr marL="0" lvl="0" indent="0" algn="l" rtl="0">
              <a:spcBef>
                <a:spcPts val="0"/>
              </a:spcBef>
              <a:spcAft>
                <a:spcPts val="0"/>
              </a:spcAft>
              <a:buNone/>
            </a:pPr>
            <a:endParaRPr/>
          </a:p>
        </p:txBody>
      </p:sp>
      <p:sp>
        <p:nvSpPr>
          <p:cNvPr id="89" name="Google Shape;89;g2795e634fb3_0_0"/>
          <p:cNvSpPr txBox="1"/>
          <p:nvPr/>
        </p:nvSpPr>
        <p:spPr>
          <a:xfrm>
            <a:off x="4150750" y="1851275"/>
            <a:ext cx="4638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Traditional networking</a:t>
            </a:r>
            <a:endParaRPr/>
          </a:p>
        </p:txBody>
      </p:sp>
      <p:sp>
        <p:nvSpPr>
          <p:cNvPr id="90" name="Google Shape;90;g2795e634fb3_0_0"/>
          <p:cNvSpPr txBox="1"/>
          <p:nvPr/>
        </p:nvSpPr>
        <p:spPr>
          <a:xfrm>
            <a:off x="4150750" y="4743300"/>
            <a:ext cx="4638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SDN</a:t>
            </a:r>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6"/>
          <p:cNvSpPr txBox="1">
            <a:spLocks noGrp="1"/>
          </p:cNvSpPr>
          <p:nvPr>
            <p:ph type="title"/>
          </p:nvPr>
        </p:nvSpPr>
        <p:spPr>
          <a:xfrm>
            <a:off x="2152725" y="2124950"/>
            <a:ext cx="55224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latin typeface="Cinzel"/>
                <a:ea typeface="Cinzel"/>
                <a:cs typeface="Cinzel"/>
                <a:sym typeface="Cinzel"/>
              </a:rPr>
              <a:t>Network Virtualization</a:t>
            </a:r>
            <a:endParaRPr b="1">
              <a:latin typeface="Cinzel"/>
              <a:ea typeface="Cinzel"/>
              <a:cs typeface="Cinzel"/>
              <a:sym typeface="Cinze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Server Virtualization</a:t>
            </a:r>
            <a:endParaRPr/>
          </a:p>
        </p:txBody>
      </p:sp>
      <p:pic>
        <p:nvPicPr>
          <p:cNvPr id="101" name="Google Shape;101;p7"/>
          <p:cNvPicPr preferRelativeResize="0"/>
          <p:nvPr/>
        </p:nvPicPr>
        <p:blipFill rotWithShape="1">
          <a:blip r:embed="rId3">
            <a:alphaModFix/>
          </a:blip>
          <a:srcRect/>
          <a:stretch/>
        </p:blipFill>
        <p:spPr>
          <a:xfrm>
            <a:off x="1187703" y="1501678"/>
            <a:ext cx="6028675" cy="3067200"/>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Network Virtualization (Overlay vs Underlay)</a:t>
            </a:r>
            <a:endParaRPr dirty="0"/>
          </a:p>
        </p:txBody>
      </p:sp>
      <p:sp>
        <p:nvSpPr>
          <p:cNvPr id="107" name="Google Shape;107;p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endParaRPr/>
          </a:p>
        </p:txBody>
      </p:sp>
      <p:pic>
        <p:nvPicPr>
          <p:cNvPr id="108" name="Google Shape;108;p8"/>
          <p:cNvPicPr preferRelativeResize="0"/>
          <p:nvPr/>
        </p:nvPicPr>
        <p:blipFill rotWithShape="1">
          <a:blip r:embed="rId3">
            <a:alphaModFix/>
          </a:blip>
          <a:srcRect/>
          <a:stretch/>
        </p:blipFill>
        <p:spPr>
          <a:xfrm>
            <a:off x="2665251" y="1152475"/>
            <a:ext cx="4406499" cy="3359725"/>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pic>
        <p:nvPicPr>
          <p:cNvPr id="113" name="Google Shape;113;p9"/>
          <p:cNvPicPr preferRelativeResize="0"/>
          <p:nvPr/>
        </p:nvPicPr>
        <p:blipFill rotWithShape="1">
          <a:blip r:embed="rId3">
            <a:alphaModFix/>
          </a:blip>
          <a:srcRect/>
          <a:stretch/>
        </p:blipFill>
        <p:spPr>
          <a:xfrm>
            <a:off x="2233200" y="684825"/>
            <a:ext cx="4446250" cy="4305750"/>
          </a:xfrm>
          <a:prstGeom prst="rect">
            <a:avLst/>
          </a:prstGeom>
          <a:noFill/>
          <a:ln>
            <a:noFill/>
          </a:ln>
        </p:spPr>
      </p:pic>
      <p:sp>
        <p:nvSpPr>
          <p:cNvPr id="114" name="Google Shape;114;p9"/>
          <p:cNvSpPr txBox="1"/>
          <p:nvPr/>
        </p:nvSpPr>
        <p:spPr>
          <a:xfrm>
            <a:off x="266600" y="4789500"/>
            <a:ext cx="57942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000000"/>
                </a:solidFill>
                <a:latin typeface="Arial"/>
                <a:ea typeface="Arial"/>
                <a:cs typeface="Arial"/>
                <a:sym typeface="Arial"/>
              </a:rPr>
              <a:t>For details, please check </a:t>
            </a:r>
            <a:r>
              <a:rPr lang="en" sz="1100" b="0" i="0" u="sng" strike="noStrike" cap="none">
                <a:solidFill>
                  <a:schemeClr val="hlink"/>
                </a:solidFill>
                <a:latin typeface="Arial"/>
                <a:ea typeface="Arial"/>
                <a:cs typeface="Arial"/>
                <a:sym typeface="Arial"/>
                <a:hlinkClick r:id="rId4"/>
              </a:rPr>
              <a:t>this</a:t>
            </a:r>
            <a:r>
              <a:rPr lang="en" sz="1100" b="0" i="0" u="none" strike="noStrike" cap="none">
                <a:solidFill>
                  <a:srgbClr val="000000"/>
                </a:solidFill>
                <a:latin typeface="Arial"/>
                <a:ea typeface="Arial"/>
                <a:cs typeface="Arial"/>
                <a:sym typeface="Arial"/>
              </a:rPr>
              <a:t> website.</a:t>
            </a:r>
            <a:endParaRPr sz="1100" b="0" i="0" u="none" strike="noStrike" cap="none">
              <a:solidFill>
                <a:srgbClr val="000000"/>
              </a:solidFill>
              <a:latin typeface="Arial"/>
              <a:ea typeface="Arial"/>
              <a:cs typeface="Arial"/>
              <a:sym typeface="Arial"/>
            </a:endParaRPr>
          </a:p>
        </p:txBody>
      </p:sp>
      <p:sp>
        <p:nvSpPr>
          <p:cNvPr id="115" name="Google Shape;115;p9"/>
          <p:cNvSpPr txBox="1">
            <a:spLocks noGrp="1"/>
          </p:cNvSpPr>
          <p:nvPr>
            <p:ph type="title"/>
          </p:nvPr>
        </p:nvSpPr>
        <p:spPr>
          <a:xfrm>
            <a:off x="311700" y="28407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VXLAN</a:t>
            </a:r>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6"/>
          <p:cNvSpPr txBox="1">
            <a:spLocks noGrp="1"/>
          </p:cNvSpPr>
          <p:nvPr>
            <p:ph type="title"/>
          </p:nvPr>
        </p:nvSpPr>
        <p:spPr>
          <a:xfrm>
            <a:off x="1111250" y="2124950"/>
            <a:ext cx="70104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dirty="0">
                <a:latin typeface="Cinzel"/>
                <a:ea typeface="Cinzel"/>
                <a:cs typeface="Cinzel"/>
                <a:sym typeface="Cinzel"/>
              </a:rPr>
              <a:t>Data Centers and Disaster Recovery</a:t>
            </a:r>
            <a:endParaRPr b="1" dirty="0">
              <a:latin typeface="Cinzel"/>
              <a:ea typeface="Cinzel"/>
              <a:cs typeface="Cinzel"/>
              <a:sym typeface="Cinze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spTree>
    <p:extLst>
      <p:ext uri="{BB962C8B-B14F-4D97-AF65-F5344CB8AC3E}">
        <p14:creationId xmlns:p14="http://schemas.microsoft.com/office/powerpoint/2010/main" val="26970695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lvl="0">
              <a:buSzPct val="111111"/>
            </a:pPr>
            <a:r>
              <a:rPr lang="en-US" dirty="0">
                <a:latin typeface="Times New Roman" pitchFamily="18" charset="0"/>
                <a:cs typeface="Times New Roman" pitchFamily="18" charset="0"/>
              </a:rPr>
              <a:t>DC-DR</a:t>
            </a:r>
            <a:endParaRPr dirty="0"/>
          </a:p>
        </p:txBody>
      </p:sp>
      <p:sp>
        <p:nvSpPr>
          <p:cNvPr id="107" name="Google Shape;107;p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endParaRPr dirty="0"/>
          </a:p>
        </p:txBody>
      </p:sp>
      <p:pic>
        <p:nvPicPr>
          <p:cNvPr id="5" name="Picture 4" descr="C:\Users\User\Desktop\DxxWbbcWoAE0Sp7.jpg"/>
          <p:cNvPicPr>
            <a:picLocks noChangeAspect="1" noChangeArrowheads="1"/>
          </p:cNvPicPr>
          <p:nvPr/>
        </p:nvPicPr>
        <p:blipFill>
          <a:blip r:embed="rId3"/>
          <a:srcRect/>
          <a:stretch>
            <a:fillRect/>
          </a:stretch>
        </p:blipFill>
        <p:spPr bwMode="auto">
          <a:xfrm>
            <a:off x="298450" y="1040130"/>
            <a:ext cx="8509000" cy="3914140"/>
          </a:xfrm>
          <a:prstGeom prst="rect">
            <a:avLst/>
          </a:prstGeom>
          <a:noFill/>
        </p:spPr>
      </p:pic>
      <p:sp>
        <p:nvSpPr>
          <p:cNvPr id="6" name="Half Frame 5"/>
          <p:cNvSpPr/>
          <p:nvPr/>
        </p:nvSpPr>
        <p:spPr>
          <a:xfrm rot="19050109" flipV="1">
            <a:off x="4168115" y="2737958"/>
            <a:ext cx="1466306" cy="619986"/>
          </a:xfrm>
          <a:prstGeom prst="halfFrame">
            <a:avLst/>
          </a:prstGeom>
          <a:solidFill>
            <a:schemeClr val="accent3">
              <a:lumMod val="60000"/>
              <a:lumOff val="4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endParaRPr>
          </a:p>
        </p:txBody>
      </p:sp>
      <p:sp>
        <p:nvSpPr>
          <p:cNvPr id="7" name="Rectangle 6"/>
          <p:cNvSpPr/>
          <p:nvPr/>
        </p:nvSpPr>
        <p:spPr>
          <a:xfrm>
            <a:off x="3746500" y="3965068"/>
            <a:ext cx="1982469" cy="562481"/>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spTree>
    <p:extLst>
      <p:ext uri="{BB962C8B-B14F-4D97-AF65-F5344CB8AC3E}">
        <p14:creationId xmlns:p14="http://schemas.microsoft.com/office/powerpoint/2010/main" val="2409256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lvl="0">
              <a:buSzPct val="111111"/>
            </a:pPr>
            <a:r>
              <a:rPr lang="en-US" dirty="0">
                <a:latin typeface="Times New Roman" pitchFamily="18" charset="0"/>
                <a:cs typeface="Times New Roman" pitchFamily="18" charset="0"/>
              </a:rPr>
              <a:t>Earthquake Zones – An Important Consideration for DR</a:t>
            </a:r>
            <a:endParaRPr dirty="0"/>
          </a:p>
        </p:txBody>
      </p:sp>
      <p:sp>
        <p:nvSpPr>
          <p:cNvPr id="107" name="Google Shape;107;p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endParaRPr dirty="0"/>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pic>
        <p:nvPicPr>
          <p:cNvPr id="1026" name="Picture 2" descr="C:\Users\Hp\Desktop\Bangladesh_earthquake_zone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79" y="1228725"/>
            <a:ext cx="2361723" cy="327259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7" name="Picture 3" descr="C:\Users\Hp\Desktop\RS40503_2018-NSHM-Cover-Image-1-qut.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6302" y="1607722"/>
            <a:ext cx="3857624" cy="248334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8" name="Picture 4" descr="C:\Users\Hp\Desktop\Seismic-zonation-map-of-India-published-by-Bureau-of-Indian-Standards-IS-2002-As-per.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12472" y="1257300"/>
            <a:ext cx="2812478" cy="312019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4747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6"/>
          <p:cNvSpPr txBox="1">
            <a:spLocks noGrp="1"/>
          </p:cNvSpPr>
          <p:nvPr>
            <p:ph type="title"/>
          </p:nvPr>
        </p:nvSpPr>
        <p:spPr>
          <a:xfrm>
            <a:off x="571500" y="2124950"/>
            <a:ext cx="755015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b="1" dirty="0">
                <a:latin typeface="Cinzel"/>
                <a:ea typeface="Cinzel"/>
                <a:cs typeface="Cinzel"/>
                <a:sym typeface="Cinzel"/>
              </a:rPr>
              <a:t>Thank You!</a:t>
            </a:r>
            <a:endParaRPr b="1" dirty="0">
              <a:latin typeface="Cinzel"/>
              <a:ea typeface="Cinzel"/>
              <a:cs typeface="Cinzel"/>
              <a:sym typeface="Cinze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spTree>
    <p:extLst>
      <p:ext uri="{BB962C8B-B14F-4D97-AF65-F5344CB8AC3E}">
        <p14:creationId xmlns:p14="http://schemas.microsoft.com/office/powerpoint/2010/main" val="128962387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TotalTime>
  <Words>554</Words>
  <Application>Microsoft Office PowerPoint</Application>
  <PresentationFormat>On-screen Show (16:9)</PresentationFormat>
  <Paragraphs>50</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Cinzel SemiBold</vt:lpstr>
      <vt:lpstr>Cinzel</vt:lpstr>
      <vt:lpstr>Times New Roman</vt:lpstr>
      <vt:lpstr>Simple Light</vt:lpstr>
      <vt:lpstr>Advanced Topics - 2</vt:lpstr>
      <vt:lpstr>Load Balancing</vt:lpstr>
      <vt:lpstr>Load Balancing</vt:lpstr>
      <vt:lpstr>High Availability</vt:lpstr>
      <vt:lpstr>VRRP - Virtual Router Redundancy Protocol</vt:lpstr>
      <vt:lpstr>SDN (Software Defined Networking)  </vt:lpstr>
      <vt:lpstr>PowerPoint Presentation</vt:lpstr>
      <vt:lpstr>Network Virtualization</vt:lpstr>
      <vt:lpstr>Server Virtualization</vt:lpstr>
      <vt:lpstr>Network Virtualization (Overlay vs Underlay)</vt:lpstr>
      <vt:lpstr>VXLAN</vt:lpstr>
      <vt:lpstr>Data Centers and Disaster Recovery</vt:lpstr>
      <vt:lpstr>DC-DR</vt:lpstr>
      <vt:lpstr>Earthquake Zones – An Important Consideration for DR</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Topics - 2</dc:title>
  <cp:lastModifiedBy>user</cp:lastModifiedBy>
  <cp:revision>10</cp:revision>
  <dcterms:modified xsi:type="dcterms:W3CDTF">2026-02-23T04:36:03Z</dcterms:modified>
</cp:coreProperties>
</file>