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ppm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324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7" r:id="rId13"/>
    <p:sldId id="288" r:id="rId14"/>
    <p:sldId id="286" r:id="rId15"/>
    <p:sldId id="291" r:id="rId16"/>
    <p:sldId id="289" r:id="rId17"/>
    <p:sldId id="290" r:id="rId18"/>
    <p:sldId id="292" r:id="rId19"/>
    <p:sldId id="325" r:id="rId20"/>
    <p:sldId id="326" r:id="rId21"/>
    <p:sldId id="327" r:id="rId22"/>
    <p:sldId id="328" r:id="rId23"/>
    <p:sldId id="329" r:id="rId24"/>
    <p:sldId id="330" r:id="rId25"/>
    <p:sldId id="332" r:id="rId26"/>
    <p:sldId id="334" r:id="rId27"/>
    <p:sldId id="333" r:id="rId28"/>
    <p:sldId id="335" r:id="rId29"/>
    <p:sldId id="336" r:id="rId30"/>
    <p:sldId id="294" r:id="rId31"/>
    <p:sldId id="293" r:id="rId32"/>
    <p:sldId id="295" r:id="rId33"/>
    <p:sldId id="296" r:id="rId34"/>
    <p:sldId id="298" r:id="rId35"/>
    <p:sldId id="299" r:id="rId36"/>
    <p:sldId id="301" r:id="rId37"/>
    <p:sldId id="302" r:id="rId38"/>
    <p:sldId id="303" r:id="rId39"/>
    <p:sldId id="304" r:id="rId40"/>
    <p:sldId id="305" r:id="rId41"/>
    <p:sldId id="307" r:id="rId42"/>
    <p:sldId id="308" r:id="rId43"/>
    <p:sldId id="337" r:id="rId44"/>
    <p:sldId id="338" r:id="rId45"/>
    <p:sldId id="339" r:id="rId46"/>
    <p:sldId id="309" r:id="rId47"/>
    <p:sldId id="316" r:id="rId48"/>
    <p:sldId id="310" r:id="rId49"/>
    <p:sldId id="311" r:id="rId50"/>
    <p:sldId id="312" r:id="rId51"/>
    <p:sldId id="313" r:id="rId52"/>
    <p:sldId id="315" r:id="rId53"/>
    <p:sldId id="317" r:id="rId54"/>
    <p:sldId id="318" r:id="rId55"/>
    <p:sldId id="319" r:id="rId56"/>
    <p:sldId id="314" r:id="rId57"/>
    <p:sldId id="320" r:id="rId58"/>
    <p:sldId id="321" r:id="rId59"/>
    <p:sldId id="322" r:id="rId60"/>
    <p:sldId id="323" r:id="rId61"/>
    <p:sldId id="306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-1488" y="-77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62392-FD4B-4CF8-8245-3826F61AD86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194A1-19AF-448D-BDBD-8356563C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9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27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526A4C6-546D-AFAF-6922-0289E4CBB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E66E62C3-D184-B9CC-5664-CD38C5B92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142CD70F-E2D6-BFCD-F96C-860C6D930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8512785-533D-C7A8-5873-C62F402F8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23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F40209E-81E9-65DD-6C5C-08A6FBD0B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05D474E-6413-C6C8-5539-7E529D4C3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DB2C4E3C-99C8-0D04-E27F-3E76CDBB9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F3E2677-B563-7184-9F99-C9D00863B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80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7A6C5C-36D9-6A4C-4091-4989B19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5A1880EA-5B3A-6819-F446-180AD52F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26A796F-557C-76A8-3D9E-9D82F9B4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3CA5A3-BEEF-73E8-9376-DB046E8E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465DA99-DFF8-4EFE-9D54-879870B5B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42A0FD24-71D1-751E-D9D2-565142F3A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66130689-5BBD-564D-67E9-5E5F61D25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96AF0BB-091C-DEB1-316E-D7EAC6152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194A1-19AF-448D-BDBD-8356563CDBC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24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A833AC-2C4E-6031-C11A-403335400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831F75F-4E05-22CE-F8CB-E2B3C5423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660E893-DAC5-B603-C788-652A0842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1A3FB58-2F00-9EC3-9FEC-B1A56EB8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C90CDD9-957A-C1AB-ECFD-D5AAC6F3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5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9CA6E3-E030-B885-3BC1-6B5CE9DC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E1807C1-3540-1BC7-524E-4A5B99C2F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3496EC3-80AE-3F92-14ED-BFE43D3F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569C5F-610E-37FB-C387-6F7F03DD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84A2223-39FF-90A5-6CD8-E1DA2C5C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9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6BDB15-B1AA-04BF-386C-436301E3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C458379-44CA-7233-2924-7AEF4DC60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2227EC1-141C-36A1-F7A2-0FC505C6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DBC0938-95E6-0FF0-51A3-DC03F21F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50FCA1C-CD9F-CA3B-11A1-A37BC980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6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8F6DAC-A54C-4E40-F88B-4888EE17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93DE00-C3EF-9424-788F-B06CC8216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4A87242-3570-198E-2D49-38AFADDAE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30B8092-C0D6-2CAA-DAC3-7789B0B2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0A5AF6F-115A-6146-E675-EB1B5109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8BAAEE6-AE0F-6B40-D482-C3E7B4A6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5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F985D6-F5E6-343D-7AD4-C7666F13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6053D2-C7D4-DE35-4789-907D24A4F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CF98504-CD68-43AC-EECE-8DA0B8FA3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C126D44-38CF-7973-BB94-331510CCC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EF4780E-0E2D-4B15-DC25-D4F2E9156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CFDA015-6C69-22AA-45C9-F07C309E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25F67EF-A8A6-9AA1-CC32-B39FC2FA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AF898B6-45C5-818F-28BF-D16817C34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9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778D9B-EEF9-8493-273B-7AB57B7F5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81A5D12-CD17-E479-7AF0-44C10A83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6B3DFDD-31A5-B75E-BBA6-5C7FEC3C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CD22506-425A-C2A9-7880-E19D15EC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41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1DBE92E-47D2-AE5B-B39A-6F29E223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4FAB28-736E-8F84-A102-78484ADD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1A9852D-9D80-DC3D-C845-03ACD803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6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2ED827-0F46-7D35-90BF-8DBF5C06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BCD429D-7B5E-0883-9431-9C8697CDE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ADEBBDC-C063-2C1E-FFF3-8DDE98378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9F20A3C-9E64-F205-D96B-2CA78010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72B31CA-1D64-3A36-CC8F-CBE301F6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E758F89-A0E1-ECB6-11EA-43CFCDBE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2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3884EC-ECC7-E046-0586-886CD931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38B1BC7-303F-6CB8-EFD8-1CC087869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D64AF3A-CF29-1A2D-5C59-7EF103485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4404826-FC92-D7EB-9FD8-A1C53EAE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D2372FD-5ADB-8A05-CF12-F64AC233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CD8865B-BFB4-F66A-3EC4-E97E1E1F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6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3DAB1E-C87E-81EE-A721-8DF67E53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6D78B48-1F86-B803-DCEB-038FFC009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053DFCD-5042-33DA-4E86-FDC162B3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1D6BA8B-5069-FE07-4EA8-EF75AB69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6ADF66-7365-87A0-069A-AF4A76DD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B798B9B-1322-577A-0313-41F278FA1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053739B-0C60-CB48-A30B-923148C09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4953FA-9966-BA9D-B0C1-A11A36F4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8C0EFD6-807A-10AC-E7A1-27A23A5F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A298B3C-E0D9-004B-3DDE-8E574494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68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D14FCBC-E3D7-5583-3487-0E038A5B3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E1CED3-EAF9-BEBE-9558-EFF288C82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0B88DB-40E0-AFDC-D36A-EB5545514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B53DF-9F01-4FFA-BBB1-C80CAE80B9D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A32E264-676B-43B8-0168-3A1C67E41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A24704F-3D90-1444-FCF3-5E63F0356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023B0-56AE-492D-869D-F2CCE4499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6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pm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7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9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19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6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20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22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2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2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2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26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60.png"/><Relationship Id="rId3" Type="http://schemas.openxmlformats.org/officeDocument/2006/relationships/image" Target="../media/image68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6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63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5F757C-A879-AB3B-A695-7247A95C9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9D954FE-A021-219A-0AA3-EDB06CC8A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Feedforward Networks and Backpropagation</a:t>
            </a:r>
          </a:p>
        </p:txBody>
      </p:sp>
    </p:spTree>
    <p:extLst>
      <p:ext uri="{BB962C8B-B14F-4D97-AF65-F5344CB8AC3E}">
        <p14:creationId xmlns:p14="http://schemas.microsoft.com/office/powerpoint/2010/main" val="167655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610937-458A-1749-F62A-7CEA03A9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(Recap)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FFE17C3-2051-564A-DBB4-B5868FC7A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558" y="1690688"/>
            <a:ext cx="4963218" cy="46869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9493CCD-9348-20F6-A5BA-9A1C04BBF93A}"/>
              </a:ext>
            </a:extLst>
          </p:cNvPr>
          <p:cNvSpPr txBox="1"/>
          <p:nvPr/>
        </p:nvSpPr>
        <p:spPr>
          <a:xfrm>
            <a:off x="3586030" y="6146808"/>
            <a:ext cx="1409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2388CE3-91E3-BC8D-53DF-9543E6F41431}"/>
              </a:ext>
            </a:extLst>
          </p:cNvPr>
          <p:cNvSpPr txBox="1"/>
          <p:nvPr/>
        </p:nvSpPr>
        <p:spPr>
          <a:xfrm>
            <a:off x="6630652" y="6146808"/>
            <a:ext cx="1224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Target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01BA5C8-3A74-64DC-292A-FEAC70B053C8}"/>
              </a:ext>
            </a:extLst>
          </p:cNvPr>
          <p:cNvSpPr txBox="1"/>
          <p:nvPr/>
        </p:nvSpPr>
        <p:spPr>
          <a:xfrm>
            <a:off x="7055371" y="4440427"/>
            <a:ext cx="2048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Hypothesis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55DE7EE6-0005-C8D5-B57D-DD38E396B28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951095" y="4671260"/>
            <a:ext cx="1104276" cy="6359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02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the relation between x and y are linear</a:t>
            </a:r>
          </a:p>
          <a:p>
            <a:pPr lvl="1"/>
            <a:r>
              <a:rPr lang="en-US" dirty="0" smtClean="0"/>
              <a:t>Linear Regression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If the samples of the classes are linearly separable, </a:t>
            </a:r>
          </a:p>
          <a:p>
            <a:pPr lvl="1"/>
            <a:r>
              <a:rPr lang="en-US" dirty="0" smtClean="0"/>
              <a:t>Logistic Regression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96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EC2F8BA-D3A1-F9A6-302A-4111BA4F7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7A83A8-0A4B-4486-9601-CC77EEBE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="" xmlns:a16="http://schemas.microsoft.com/office/drawing/2014/main" id="{F16F0D3A-A912-2C1C-61CC-70D1F9527F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if the relation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non-linear?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if the classes in the classification task are not linearly separable?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F16F0D3A-A912-2C1C-61CC-70D1F9527F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02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1F0AFA-69E2-CDFE-742C-74061921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Rich Or Not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="" xmlns:a16="http://schemas.microsoft.com/office/drawing/2014/main" id="{CB366F0E-F300-362B-7F4F-239A9F527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84" y="1825625"/>
            <a:ext cx="6862231" cy="4351338"/>
          </a:xfrm>
        </p:spPr>
      </p:pic>
    </p:spTree>
    <p:extLst>
      <p:ext uri="{BB962C8B-B14F-4D97-AF65-F5344CB8AC3E}">
        <p14:creationId xmlns:p14="http://schemas.microsoft.com/office/powerpoint/2010/main" val="201259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99FB93F-D0DD-1D95-49B5-C4D2321E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216978-3639-D3BE-A984-8572A1A8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Rich Or Not</a:t>
            </a:r>
          </a:p>
        </p:txBody>
      </p:sp>
      <p:pic>
        <p:nvPicPr>
          <p:cNvPr id="7" name="Content Placeholder 6" descr="A screenshot of a black board&#10;&#10;AI-generated content may be incorrect.">
            <a:extLst>
              <a:ext uri="{FF2B5EF4-FFF2-40B4-BE49-F238E27FC236}">
                <a16:creationId xmlns="" xmlns:a16="http://schemas.microsoft.com/office/drawing/2014/main" id="{DEABE58E-600F-381E-8E44-9C1F92FBB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4"/>
          <a:stretch>
            <a:fillRect/>
          </a:stretch>
        </p:blipFill>
        <p:spPr>
          <a:xfrm>
            <a:off x="2800502" y="1825625"/>
            <a:ext cx="6590996" cy="4080500"/>
          </a:xfrm>
        </p:spPr>
      </p:pic>
    </p:spTree>
    <p:extLst>
      <p:ext uri="{BB962C8B-B14F-4D97-AF65-F5344CB8AC3E}">
        <p14:creationId xmlns:p14="http://schemas.microsoft.com/office/powerpoint/2010/main" val="32636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9D4F6F1-A297-4219-E4C5-0EC149FD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2899F0-DE25-91F3-2FA9-E8232A62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Rich Or Not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="" xmlns:a16="http://schemas.microsoft.com/office/drawing/2014/main" id="{DCEFA679-8F5C-5F0A-5707-FBF5EBA03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47"/>
          <a:stretch>
            <a:fillRect/>
          </a:stretch>
        </p:blipFill>
        <p:spPr>
          <a:xfrm>
            <a:off x="2800850" y="1825625"/>
            <a:ext cx="6590299" cy="4140460"/>
          </a:xfrm>
        </p:spPr>
      </p:pic>
    </p:spTree>
    <p:extLst>
      <p:ext uri="{BB962C8B-B14F-4D97-AF65-F5344CB8AC3E}">
        <p14:creationId xmlns:p14="http://schemas.microsoft.com/office/powerpoint/2010/main" val="265962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4AA791-D449-FFB6-224C-2C0CBD81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4296D5D7-9BC1-9852-CFAB-907242C7F7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neuron is defined as a function that computes the following given an input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Here,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are weights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a threshold / bias, 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is a non-linear activation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96D5D7-9BC1-9852-CFAB-907242C7F7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5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BAC25DB-988D-366A-2785-DD74BA7B7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79A74E-EFA6-4D4F-3048-2CBA9CB5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ABA50186-5729-C4B8-5B8D-9CB064D2440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single neuron can learn a non-linear relation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also stack neurons in layers to learn more complex relations</a:t>
                </a:r>
              </a:p>
              <a:p>
                <a:endParaRPr lang="en-US" dirty="0"/>
              </a:p>
              <a:p>
                <a:r>
                  <a:rPr lang="en-US" dirty="0"/>
                  <a:t>Output from previous layer is input to the next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50186-5729-C4B8-5B8D-9CB064D24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501BB26-3657-C0D4-D5F4-EA2E2033CC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example, the rich prediction can be modeled as,</a:t>
            </a: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DD9871F5-F0B5-05F1-769A-3FFC45466234}"/>
              </a:ext>
            </a:extLst>
          </p:cNvPr>
          <p:cNvSpPr/>
          <p:nvPr/>
        </p:nvSpPr>
        <p:spPr>
          <a:xfrm>
            <a:off x="8004748" y="3297836"/>
            <a:ext cx="704537" cy="7345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3001192D-056E-C8D5-9832-07004D3356E3}"/>
              </a:ext>
            </a:extLst>
          </p:cNvPr>
          <p:cNvSpPr/>
          <p:nvPr/>
        </p:nvSpPr>
        <p:spPr>
          <a:xfrm>
            <a:off x="8004748" y="4770047"/>
            <a:ext cx="704537" cy="7345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D309CD6E-9FDD-96F8-F2AC-F6885B5E4112}"/>
              </a:ext>
            </a:extLst>
          </p:cNvPr>
          <p:cNvSpPr/>
          <p:nvPr/>
        </p:nvSpPr>
        <p:spPr>
          <a:xfrm>
            <a:off x="10189564" y="4035529"/>
            <a:ext cx="704537" cy="73451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E9C04C21-33DF-4801-84FB-0F00880889D7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8709285" y="3665095"/>
            <a:ext cx="1480279" cy="7376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6905FEAC-E98F-52A5-3B51-6019E323540F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8709285" y="4402788"/>
            <a:ext cx="1480279" cy="7345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DF2E9E15-AAC5-35C1-0C51-845589CA6F65}"/>
              </a:ext>
            </a:extLst>
          </p:cNvPr>
          <p:cNvCxnSpPr>
            <a:cxnSpLocks/>
          </p:cNvCxnSpPr>
          <p:nvPr/>
        </p:nvCxnSpPr>
        <p:spPr>
          <a:xfrm>
            <a:off x="10894101" y="4402788"/>
            <a:ext cx="45969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DC503FE1-1383-F6A8-0954-14A9F03D6388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7545049" y="3429000"/>
            <a:ext cx="459699" cy="2360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="" xmlns:a16="http://schemas.microsoft.com/office/drawing/2014/main" id="{96D3A6A2-8922-2BF1-692F-AE43241C21E3}"/>
              </a:ext>
            </a:extLst>
          </p:cNvPr>
          <p:cNvCxnSpPr>
            <a:cxnSpLocks/>
          </p:cNvCxnSpPr>
          <p:nvPr/>
        </p:nvCxnSpPr>
        <p:spPr>
          <a:xfrm flipV="1">
            <a:off x="7545049" y="3665095"/>
            <a:ext cx="459699" cy="3361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C8C5874A-F603-E602-3C47-4205A2BB2700}"/>
              </a:ext>
            </a:extLst>
          </p:cNvPr>
          <p:cNvCxnSpPr>
            <a:cxnSpLocks/>
          </p:cNvCxnSpPr>
          <p:nvPr/>
        </p:nvCxnSpPr>
        <p:spPr>
          <a:xfrm>
            <a:off x="7545049" y="4932271"/>
            <a:ext cx="459699" cy="2360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C5E19F4E-C1BA-CEA6-8050-CAB460182AD9}"/>
              </a:ext>
            </a:extLst>
          </p:cNvPr>
          <p:cNvCxnSpPr>
            <a:cxnSpLocks/>
          </p:cNvCxnSpPr>
          <p:nvPr/>
        </p:nvCxnSpPr>
        <p:spPr>
          <a:xfrm flipV="1">
            <a:off x="7545049" y="5168366"/>
            <a:ext cx="459699" cy="3361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63F7030-B704-C9B4-06B8-F20E12A5B911}"/>
              </a:ext>
            </a:extLst>
          </p:cNvPr>
          <p:cNvSpPr txBox="1"/>
          <p:nvPr/>
        </p:nvSpPr>
        <p:spPr>
          <a:xfrm>
            <a:off x="6289962" y="3235681"/>
            <a:ext cx="1239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Tanned?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8F9E318-0127-0EB6-B5A0-CE400B380E2E}"/>
              </a:ext>
            </a:extLst>
          </p:cNvPr>
          <p:cNvSpPr txBox="1"/>
          <p:nvPr/>
        </p:nvSpPr>
        <p:spPr>
          <a:xfrm>
            <a:off x="6289962" y="3739950"/>
            <a:ext cx="1255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Employs a </a:t>
            </a:r>
          </a:p>
          <a:p>
            <a:r>
              <a:rPr lang="en-US" dirty="0"/>
              <a:t>Captain?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BBB845CB-1E50-26EA-5611-11233D21B512}"/>
              </a:ext>
            </a:extLst>
          </p:cNvPr>
          <p:cNvSpPr txBox="1"/>
          <p:nvPr/>
        </p:nvSpPr>
        <p:spPr>
          <a:xfrm>
            <a:off x="6010975" y="4690134"/>
            <a:ext cx="1534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Pays Property</a:t>
            </a:r>
          </a:p>
          <a:p>
            <a:r>
              <a:rPr lang="en-US" dirty="0"/>
              <a:t> Tax?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B9B53BFD-3854-D4F8-F2AD-2CAD7CEFFDD0}"/>
              </a:ext>
            </a:extLst>
          </p:cNvPr>
          <p:cNvSpPr txBox="1"/>
          <p:nvPr/>
        </p:nvSpPr>
        <p:spPr>
          <a:xfrm>
            <a:off x="6019800" y="5347205"/>
            <a:ext cx="1996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Employs a </a:t>
            </a:r>
          </a:p>
          <a:p>
            <a:r>
              <a:rPr lang="en-US" dirty="0"/>
              <a:t>cook?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0264A5EE-B332-AB18-CDA9-35BA0E55FC4E}"/>
              </a:ext>
            </a:extLst>
          </p:cNvPr>
          <p:cNvSpPr txBox="1"/>
          <p:nvPr/>
        </p:nvSpPr>
        <p:spPr>
          <a:xfrm>
            <a:off x="11457809" y="4201615"/>
            <a:ext cx="916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Rich?</a:t>
            </a:r>
          </a:p>
        </p:txBody>
      </p:sp>
    </p:spTree>
    <p:extLst>
      <p:ext uri="{BB962C8B-B14F-4D97-AF65-F5344CB8AC3E}">
        <p14:creationId xmlns:p14="http://schemas.microsoft.com/office/powerpoint/2010/main" val="413155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24" grpId="0"/>
      <p:bldP spid="25" grpId="0"/>
      <p:bldP spid="26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D25C5C2-A1A3-715E-AF36-9B56C1FC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DA5522-78CF-CE37-D58A-E90E4D8D2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D93F6D3-6C28-8DEA-BAD2-2B7FD39A0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example, if more features are available the housing price prediction can be modeled as,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5893666E-02E9-41EB-2B37-8CF54CC3F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176" y="2853335"/>
            <a:ext cx="8059275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3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1AB3FE-7426-2BCA-43EA-36B53847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4B6DBE-444B-47C1-14D7-4063E5E55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 knowledge about the features may not be available</a:t>
            </a:r>
          </a:p>
          <a:p>
            <a:endParaRPr lang="en-US" dirty="0"/>
          </a:p>
          <a:p>
            <a:r>
              <a:rPr lang="en-US" dirty="0"/>
              <a:t>Output from a neuron is input to every neuron in the next layer</a:t>
            </a:r>
          </a:p>
          <a:p>
            <a:endParaRPr lang="en-US" dirty="0"/>
          </a:p>
          <a:p>
            <a:r>
              <a:rPr lang="en-US" dirty="0"/>
              <a:t>Also called Multilayer Perceptron</a:t>
            </a:r>
          </a:p>
        </p:txBody>
      </p:sp>
    </p:spTree>
    <p:extLst>
      <p:ext uri="{BB962C8B-B14F-4D97-AF65-F5344CB8AC3E}">
        <p14:creationId xmlns:p14="http://schemas.microsoft.com/office/powerpoint/2010/main" val="423172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A3369C7-BAE8-A452-EF61-D66E63D1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363DC0-9926-57AB-5850-41A51A17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50B2C925-4997-C5FB-E8EC-D9572DA58DC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Typical fully-connected neural networks contains,</a:t>
                </a:r>
              </a:p>
              <a:p>
                <a:pPr lvl="1"/>
                <a:r>
                  <a:rPr lang="en-US" dirty="0"/>
                  <a:t>An input layer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units</a:t>
                </a:r>
              </a:p>
              <a:p>
                <a:pPr lvl="1"/>
                <a:r>
                  <a:rPr lang="en-US" dirty="0"/>
                  <a:t>An output layer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units</a:t>
                </a:r>
              </a:p>
              <a:p>
                <a:pPr lvl="1"/>
                <a:r>
                  <a:rPr lang="en-US" dirty="0"/>
                  <a:t>One or more hidden layers with of intermediate neuron outputs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2C925-4997-C5FB-E8EC-D9572DA58D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 r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55E8844A-37F4-F03A-125F-C526500141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3F3F31C-05CB-D788-A5D5-F296A7E5A5FA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7D0F116-0B97-B7BD-8D83-A64077D344BF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A97D235-3AB0-F3BE-7656-7C80A5B6921F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</p:spTree>
    <p:extLst>
      <p:ext uri="{BB962C8B-B14F-4D97-AF65-F5344CB8AC3E}">
        <p14:creationId xmlns:p14="http://schemas.microsoft.com/office/powerpoint/2010/main" val="153156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E857788-739A-DC53-1A37-C133B8EF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D85016-E03A-7A8C-B9CE-E3B2A73B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8A8C9AC0-47DB-850B-9201-25C15247273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Typical fully-connected neural networks contains,</a:t>
                </a:r>
              </a:p>
              <a:p>
                <a:pPr lvl="1"/>
                <a:r>
                  <a:rPr lang="en-US" dirty="0"/>
                  <a:t>Each neuron has a weight vector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and bias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Often the bias term is merged with in the weight vector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8C9AC0-47DB-850B-9201-25C152472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 r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482C3925-B02C-0820-B9AC-8A9DAC7D90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A30214-1145-C56E-B515-AF8F7016C6CB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BF13938-7C20-8B4C-1024-AE4DA46E94AC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8A6432F-0E1D-603D-7F95-3CF499634316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</p:spTree>
    <p:extLst>
      <p:ext uri="{BB962C8B-B14F-4D97-AF65-F5344CB8AC3E}">
        <p14:creationId xmlns:p14="http://schemas.microsoft.com/office/powerpoint/2010/main" val="86563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EEABEF7-5380-B405-A9DE-EEAAAF95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5F8ED1-3A3D-2607-4519-9810A17E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C43297-2447-E0A0-0A07-C8799C547D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Vectorization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1D94A68B-1358-4CB4-96C4-5044365B4A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AE93928-3F58-95FA-E3E6-E037DCA4B5DB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28E8674-59CB-A3D4-B26E-5FEA533C67D7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0680EC-2EA2-5E4A-8A9E-6E8EE786720C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A3BFA227-6185-4933-38B6-DB8E65442F7D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BFA227-6185-4933-38B6-DB8E65442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EC53FB37-D01D-4212-0D3F-F2B0BD3B10A3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53FB37-D01D-4212-0D3F-F2B0BD3B1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AA9D7646-BBA4-3EC0-9E61-3469A92F67FB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9D7646-BBA4-3EC0-9E61-3469A92F6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DB140EE9-4F4E-48D9-7F83-39742B56D599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140EE9-4F4E-48D9-7F83-39742B56D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8ADBF2-09E5-0B85-E46D-F7A053C18D4E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8ADBF2-09E5-0B85-E46D-F7A053C18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8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F7BDC946-1F0B-30FD-621E-C5375AB10D84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BDC946-1F0B-30FD-621E-C5375AB10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F91DA364-0011-D2B8-F3F2-53E4F1BA71C3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1DA364-0011-D2B8-F3F2-53E4F1BA7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26BFDA35-949E-835C-1D7A-71530D184495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BFDA35-949E-835C-1D7A-71530D184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7293D59E-08F7-D56B-8BF8-CF43BFEFE6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93D59E-08F7-D56B-8BF8-CF43BFEFE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3DEB92C5-054E-46B3-B3D9-9DB0B415D3D8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EB92C5-054E-46B3-B3D9-9DB0B415D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3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8F64F243-3AAB-B162-EEB2-4A7242A04E20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64F243-3AAB-B162-EEB2-4A7242A04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87FC3BD5-BA7B-7834-7012-AF136BE54A11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FC3BD5-BA7B-7834-7012-AF136BE54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="" xmlns:a16="http://schemas.microsoft.com/office/drawing/2014/main" id="{DAA5F47E-BDBF-8436-23FA-9E2AEE9AFD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374" y="2644122"/>
            <a:ext cx="5401429" cy="183858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="" xmlns:a16="http://schemas.microsoft.com/office/drawing/2014/main" id="{1DD48298-C155-2E3B-B4FA-EC3EE6347FA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90088" y="4836328"/>
            <a:ext cx="3124636" cy="838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6EE55348-9D70-4E2E-BD83-0F9D0FFFDED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E55348-9D70-4E2E-BD83-0F9D0FFFD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D2E5F363-C63B-5087-B286-BC965B7DE931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E5F363-C63B-5087-B286-BC965B7DE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8B097E48-C422-3710-EC3D-11F8611ECF8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52E046E3-BFA5-5D7D-E836-F688F086509C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39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BFF2A7-E2F5-E1CD-0B10-1FEFDAEAC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E897E2-440F-7CF5-D5DD-79F8EA35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A1A267-3527-DA9F-897A-0FB7D970E6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Multilayer Fully-connected Networks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BD6201F6-6942-D8D2-AE79-2EA6C848D8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8E47DC2-8480-1D23-FFDE-B68C2D04B2AD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34DF3A5-C467-952C-1EB4-E54F54DAF02C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54F800D-7D02-50B1-0B70-E1BEC937BAD3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11923303-0EEF-F9E4-F4A2-1CD5C690B182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923303-0EEF-F9E4-F4A2-1CD5C690B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26294213-2EC2-C69B-3FE4-40060871D6A1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294213-2EC2-C69B-3FE4-40060871D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BA35C822-54F8-F785-1F65-68760122E8DD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35C822-54F8-F785-1F65-68760122E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188AF3E5-E79B-DC53-9F0C-31208662B399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8AF3E5-E79B-DC53-9F0C-31208662B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3DF99E96-3F80-C0BF-1CFE-AFFE515FFE3B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F99E96-3F80-C0BF-1CFE-AFFE515FF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8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1B8032D1-02D5-C1B0-12C2-9E1A831026BA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8032D1-02D5-C1B0-12C2-9E1A83102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CCD72E2F-0A17-CD6C-601A-53BB9F74789A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D72E2F-0A17-CD6C-601A-53BB9F747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93BF236D-08C9-2EF6-12D2-B97E1B9DF8E2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BF236D-08C9-2EF6-12D2-B97E1B9DF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6AAD914D-E669-B93B-08F9-47CC0198F38C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AD914D-E669-B93B-08F9-47CC0198F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4725B9BB-4642-B4E1-82DF-6D98E869A8A7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25B9BB-4642-B4E1-82DF-6D98E869A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3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95E705B8-76FA-C2DF-2BEE-2F74BBC79E7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E705B8-76FA-C2DF-2BEE-2F74BBC7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63B828D7-1C89-CF13-60E0-76AE141F9ABB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3B828D7-1C89-CF13-60E0-76AE141F9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7C65E9E4-AC4B-1796-C353-28B051D223FE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C65E9E4-AC4B-1796-C353-28B051D22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3D8B8103-541D-7A2C-6CC1-C7EAC8654C76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8B8103-541D-7A2C-6CC1-C7EAC8654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C988EB49-3199-A52A-369E-290FCC55E0B5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BB55FD54-B69E-2B6A-4AB9-D6BCE223592C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D0FC00D6-348F-4183-EAA6-F1EEE3E3DF6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3022" y="2979908"/>
            <a:ext cx="4767887" cy="23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75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C513A8-127A-45FA-619A-DCA59513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F3AE55-0A18-B891-0BC8-69712A08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EE302C1-055A-E8B1-F976-5ECC2CE8E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75075" cy="4351338"/>
          </a:xfrm>
        </p:spPr>
        <p:txBody>
          <a:bodyPr>
            <a:normAutofit/>
          </a:bodyPr>
          <a:lstStyle/>
          <a:p>
            <a:r>
              <a:rPr lang="en-US" dirty="0"/>
              <a:t>Introduces Non-linearity in the Network</a:t>
            </a:r>
          </a:p>
          <a:p>
            <a:endParaRPr lang="en-US" dirty="0"/>
          </a:p>
          <a:p>
            <a:pPr lvl="1"/>
            <a:r>
              <a:rPr lang="en-US" dirty="0" smtClean="0"/>
              <a:t>Sigmoid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ReLU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Leaky ReLU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Tanh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3" name="Content Placeholder 22" descr="A graph with a blue line&#10;&#10;AI-generated content may be incorrect.">
            <a:extLst>
              <a:ext uri="{FF2B5EF4-FFF2-40B4-BE49-F238E27FC236}">
                <a16:creationId xmlns="" xmlns:a16="http://schemas.microsoft.com/office/drawing/2014/main" id="{AD864F77-8F62-614A-713F-E1E50F6F06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740" y="2193758"/>
            <a:ext cx="2466474" cy="1644316"/>
          </a:xfrm>
        </p:spPr>
      </p:pic>
      <p:pic>
        <p:nvPicPr>
          <p:cNvPr id="25" name="Picture 24" descr="A graph of a function&#10;&#10;AI-generated content may be incorrect.">
            <a:extLst>
              <a:ext uri="{FF2B5EF4-FFF2-40B4-BE49-F238E27FC236}">
                <a16:creationId xmlns="" xmlns:a16="http://schemas.microsoft.com/office/drawing/2014/main" id="{DAA58759-67AF-B302-3EEC-3D2A9074570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4" y="1895225"/>
            <a:ext cx="2500830" cy="1942849"/>
          </a:xfrm>
          <a:prstGeom prst="rect">
            <a:avLst/>
          </a:prstGeom>
        </p:spPr>
      </p:pic>
      <p:pic>
        <p:nvPicPr>
          <p:cNvPr id="27" name="Picture 26" descr="A graph of a function&#10;&#10;AI-generated content may be incorrect.">
            <a:extLst>
              <a:ext uri="{FF2B5EF4-FFF2-40B4-BE49-F238E27FC236}">
                <a16:creationId xmlns="" xmlns:a16="http://schemas.microsoft.com/office/drawing/2014/main" id="{9C3AA278-03C1-CDB9-C2D1-09FCF3A0C8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669" y="4089609"/>
            <a:ext cx="2196615" cy="183581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="" xmlns:a16="http://schemas.microsoft.com/office/drawing/2014/main" id="{3A848E1A-566D-2258-DACF-34A2B47B27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4" y="4130217"/>
            <a:ext cx="2500830" cy="175460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275" y="1737359"/>
            <a:ext cx="1307401" cy="494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990" y="5925428"/>
            <a:ext cx="1863090" cy="399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137" y="1743465"/>
            <a:ext cx="1886164" cy="241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875" y="5958808"/>
            <a:ext cx="1467801" cy="481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485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7DC909-BB73-6B2B-C534-DF6F8CE5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non-linear activations?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41D105D3-553F-B629-91C8-85AEB943C40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Remember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we use identity function as activation?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105D3-553F-B629-91C8-85AEB943C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8C77B31-40A4-4CA5-DC21-36327D3607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a two-layer neural network,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32E8538-78D9-51CF-2410-A7426311F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865" y="2293261"/>
            <a:ext cx="3896269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8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217939C8-9201-2D98-77B3-099932A113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How to learn 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939C8-9201-2D98-77B3-099932A11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E20CF725-7DAB-095C-4EB5-EA02846A91D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3022" y="2859588"/>
            <a:ext cx="4767887" cy="23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0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7939C8-9201-2D98-77B3-099932A11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How to do classification?</a:t>
            </a:r>
          </a:p>
          <a:p>
            <a:r>
              <a:rPr lang="en-US" dirty="0" smtClean="0"/>
              <a:t>The output layer (discussed so far),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How to perform classification task?</a:t>
            </a:r>
          </a:p>
          <a:p>
            <a:pPr lvl="1"/>
            <a:r>
              <a:rPr lang="en-US" dirty="0" smtClean="0"/>
              <a:t>Binary Classification</a:t>
            </a:r>
          </a:p>
          <a:p>
            <a:pPr lvl="1"/>
            <a:r>
              <a:rPr lang="en-US" dirty="0" smtClean="0"/>
              <a:t>Multi-class Classification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E20CF725-7DAB-095C-4EB5-EA02846A91D0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t="77483"/>
          <a:stretch/>
        </p:blipFill>
        <p:spPr>
          <a:xfrm>
            <a:off x="1339239" y="3188175"/>
            <a:ext cx="4767887" cy="53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2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7939C8-9201-2D98-77B3-099932A11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Binary Classification</a:t>
            </a:r>
          </a:p>
          <a:p>
            <a:pPr lvl="1"/>
            <a:r>
              <a:rPr lang="en-US" dirty="0" smtClean="0"/>
              <a:t>We can use a single output node</a:t>
            </a:r>
          </a:p>
          <a:p>
            <a:pPr lvl="1"/>
            <a:r>
              <a:rPr lang="en-US" dirty="0"/>
              <a:t>Apply sigmoid function on the last layer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We can also use two output nodes each returning the probability of being in the corresponding class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29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7939C8-9201-2D98-77B3-099932A11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</a:p>
          <a:p>
            <a:pPr lvl="1"/>
            <a:r>
              <a:rPr lang="en-US" dirty="0" smtClean="0"/>
              <a:t>What to do?</a:t>
            </a:r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71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Multi-class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7939C8-9201-2D98-77B3-099932A11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Example,</a:t>
            </a:r>
          </a:p>
          <a:p>
            <a:pPr lvl="1"/>
            <a:r>
              <a:rPr lang="en-US" dirty="0" smtClean="0"/>
              <a:t>Predict whether the image is of a </a:t>
            </a:r>
            <a:r>
              <a:rPr lang="en-US" i="1" dirty="0" smtClean="0"/>
              <a:t>cat</a:t>
            </a:r>
            <a:r>
              <a:rPr lang="en-US" dirty="0" smtClean="0"/>
              <a:t>, </a:t>
            </a:r>
            <a:r>
              <a:rPr lang="en-US" i="1" dirty="0" smtClean="0"/>
              <a:t>chicken</a:t>
            </a:r>
            <a:r>
              <a:rPr lang="en-US" dirty="0" smtClean="0"/>
              <a:t> or </a:t>
            </a:r>
            <a:r>
              <a:rPr lang="en-US" i="1" dirty="0" smtClean="0"/>
              <a:t>dog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We can represent them as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w</a:t>
            </a:r>
            <a:r>
              <a:rPr lang="en-US" dirty="0" smtClean="0"/>
              <a:t>here the integers represents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r</a:t>
            </a:r>
            <a:r>
              <a:rPr lang="en-US" dirty="0" smtClean="0"/>
              <a:t>espectively.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103" y="3436088"/>
            <a:ext cx="1473517" cy="303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201" y="4171787"/>
            <a:ext cx="2179320" cy="356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000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Multi-class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7939C8-9201-2D98-77B3-099932A11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Example,</a:t>
            </a:r>
          </a:p>
          <a:p>
            <a:pPr lvl="1"/>
            <a:r>
              <a:rPr lang="en-US" dirty="0" smtClean="0"/>
              <a:t>Predict whether the image is of a </a:t>
            </a:r>
            <a:r>
              <a:rPr lang="en-US" i="1" dirty="0" smtClean="0"/>
              <a:t>cat</a:t>
            </a:r>
            <a:r>
              <a:rPr lang="en-US" dirty="0" smtClean="0"/>
              <a:t>, </a:t>
            </a:r>
            <a:r>
              <a:rPr lang="en-US" i="1" dirty="0" smtClean="0"/>
              <a:t>chicken</a:t>
            </a:r>
            <a:r>
              <a:rPr lang="en-US" dirty="0" smtClean="0"/>
              <a:t> or </a:t>
            </a:r>
            <a:r>
              <a:rPr lang="en-US" i="1" dirty="0" smtClean="0"/>
              <a:t>dog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Instead use one-hot encoding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Equivalent to three binary classifications</a:t>
            </a:r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201" y="3836345"/>
            <a:ext cx="2179320" cy="356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0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685" y="3442055"/>
            <a:ext cx="3582352" cy="318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731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7939C8-9201-2D98-77B3-099932A11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Multi-class Classification</a:t>
            </a:r>
          </a:p>
          <a:p>
            <a:pPr lvl="1"/>
            <a:r>
              <a:rPr lang="en-US" dirty="0" smtClean="0"/>
              <a:t>Encode classes using one-hot encoding</a:t>
            </a:r>
            <a:endParaRPr lang="en-US" dirty="0"/>
          </a:p>
          <a:p>
            <a:pPr lvl="1"/>
            <a:r>
              <a:rPr lang="en-US" dirty="0" smtClean="0"/>
              <a:t>Output layer units, m</a:t>
            </a:r>
          </a:p>
          <a:p>
            <a:pPr lvl="1"/>
            <a:r>
              <a:rPr lang="en-US" dirty="0" smtClean="0"/>
              <a:t>One unit corresponding to each class</a:t>
            </a:r>
          </a:p>
          <a:p>
            <a:pPr lvl="1"/>
            <a:r>
              <a:rPr lang="en-US" dirty="0" smtClean="0"/>
              <a:t>Sigmoid on each unit returning probabilities</a:t>
            </a:r>
          </a:p>
          <a:p>
            <a:pPr lvl="1"/>
            <a:endParaRPr lang="en-US" dirty="0"/>
          </a:p>
          <a:p>
            <a:pPr lvl="2"/>
            <a:r>
              <a:rPr lang="en-US" dirty="0" smtClean="0"/>
              <a:t>The summation of output probabilities may be below or above 1</a:t>
            </a:r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49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17939C8-9201-2D98-77B3-099932A11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Multi-class Classification</a:t>
            </a:r>
          </a:p>
          <a:p>
            <a:pPr lvl="1"/>
            <a:r>
              <a:rPr lang="en-US" dirty="0" smtClean="0"/>
              <a:t>Encode classes using one-hot encoding</a:t>
            </a:r>
            <a:endParaRPr lang="en-US" dirty="0"/>
          </a:p>
          <a:p>
            <a:pPr lvl="1"/>
            <a:r>
              <a:rPr lang="en-US" dirty="0" smtClean="0"/>
              <a:t>Output layer units, m</a:t>
            </a:r>
          </a:p>
          <a:p>
            <a:pPr lvl="1"/>
            <a:r>
              <a:rPr lang="en-US" dirty="0" smtClean="0"/>
              <a:t>One unit corresponding to each class</a:t>
            </a:r>
          </a:p>
          <a:p>
            <a:pPr lvl="1"/>
            <a:r>
              <a:rPr lang="en-US" dirty="0" smtClean="0"/>
              <a:t>Perform </a:t>
            </a:r>
            <a:r>
              <a:rPr lang="en-US" i="1" dirty="0" err="1" smtClean="0"/>
              <a:t>softmax</a:t>
            </a:r>
            <a:r>
              <a:rPr lang="en-US" dirty="0" smtClean="0"/>
              <a:t> over the outputs/</a:t>
            </a:r>
            <a:r>
              <a:rPr lang="en-US" dirty="0" err="1" smtClean="0"/>
              <a:t>logits</a:t>
            </a:r>
            <a:r>
              <a:rPr lang="en-US" dirty="0" smtClean="0"/>
              <a:t> </a:t>
            </a:r>
          </a:p>
        </p:txBody>
      </p:sp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334" y="4935135"/>
            <a:ext cx="4535486" cy="83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342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217939C8-9201-2D98-77B3-099932A113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Multi-class Classification</a:t>
                </a:r>
              </a:p>
              <a:p>
                <a:pPr lvl="1"/>
                <a:r>
                  <a:rPr lang="en-US" dirty="0" smtClean="0"/>
                  <a:t>Loss function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 smtClean="0"/>
                  <a:t> is the ground truth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 is the predicted label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17939C8-9201-2D98-77B3-099932A11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629" y="3481990"/>
            <a:ext cx="4994592" cy="2676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30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217939C8-9201-2D98-77B3-099932A113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Multi-class Classification</a:t>
                </a:r>
              </a:p>
              <a:p>
                <a:pPr lvl="1"/>
                <a:r>
                  <a:rPr lang="en-US" dirty="0" smtClean="0"/>
                  <a:t>Loss function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 smtClean="0"/>
                  <a:t> is the ground truth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 is the predicted label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17939C8-9201-2D98-77B3-099932A11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398" y="3363011"/>
            <a:ext cx="3819525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892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217939C8-9201-2D98-77B3-099932A113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Multi-class Classification</a:t>
                </a:r>
              </a:p>
              <a:p>
                <a:pPr lvl="1"/>
                <a:r>
                  <a:rPr lang="en-US" dirty="0" smtClean="0"/>
                  <a:t>Loss function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 smtClean="0"/>
                  <a:t> is the ground truth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 is the predicted label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17939C8-9201-2D98-77B3-099932A11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629" y="3481990"/>
            <a:ext cx="4994592" cy="2676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33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B43901-D90C-8360-0482-7BFE35DB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FF812C-BB46-F33F-E2A2-C0C70CF5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217939C8-9201-2D98-77B3-099932A113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Multi-class Classification</a:t>
                </a:r>
              </a:p>
              <a:p>
                <a:pPr lvl="1"/>
                <a:r>
                  <a:rPr lang="en-US" dirty="0" smtClean="0"/>
                  <a:t>Loss function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 smtClean="0"/>
                  <a:t> is the ground truth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 is the predicted label</a:t>
                </a:r>
              </a:p>
              <a:p>
                <a:pPr lvl="1"/>
                <a:r>
                  <a:rPr lang="en-US" dirty="0" smtClean="0"/>
                  <a:t>Derivative of the loss function,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17939C8-9201-2D98-77B3-099932A11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6E39DB8A-DCCB-4A58-70BF-B1672BEF1D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46D5464-ABF1-FD56-7076-81821292845C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86D570-AC44-E37E-AB73-091395504C68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97292C0-3373-F3E2-6AC9-676BC18EBF75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0C3AB734-6612-5538-BC88-1E763C903F90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AB734-6612-5538-BC88-1E763C90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0D9AE06-8D11-5655-960B-BBA283C82B3C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D9AE06-8D11-5655-960B-BBA283C8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667715-C54C-AD82-D77C-06A3653E8F68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667715-C54C-AD82-D77C-06A3653E8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373E1E0-3568-887F-5D2B-283E5CFC3FA7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73E1E0-3568-887F-5D2B-283E5CFC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ACDBA079-560D-3577-16A8-7EA6E0070BC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DBA079-560D-3577-16A8-7EA6E007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CC39385D-98EF-FFB9-9227-8FB14531FEF0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39385D-98EF-FFB9-9227-8FB14531F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7039356A-919B-E138-7243-7F36B27F0238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9356A-919B-E138-7243-7F36B27F0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13AF562E-9166-1F37-A7BE-F62C349122EB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AF562E-9166-1F37-A7BE-F62C3491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4E7754E-A536-6758-EA4F-22C663F1CA55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754E-A536-6758-EA4F-22C663F1C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CC038B50-0BFD-B501-7784-1D81907156F4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038B50-0BFD-B501-7784-1D819071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7DE6913E-F647-4B22-F3F4-045EBFD031C5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E6913E-F647-4B22-F3F4-045EBFD0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575C906-C1B9-F211-D101-77F364F6360F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75C906-C1B9-F211-D101-77F364F6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B48F0CC8-0239-DA8B-C46F-D02D9D9AFF27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8F0CC8-0239-DA8B-C46F-D02D9D9AF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8DD64F51-D7D4-4330-DC36-1F4CF2176C3D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D64F51-D7D4-4330-DC36-1F4CF2176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22EFCF1A-D2C6-9D11-A177-69EC300489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2AF8C67-06F3-E33E-E00E-C6F00A45FC14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469" y="3834005"/>
            <a:ext cx="4567872" cy="63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920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99D1F1C-DE42-29F4-85C2-2CEC332A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EA553F-7AD2-81DA-D748-67AB8581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Fully-connected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B160E712-FADB-5FC9-F333-133197DB450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How to learn the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Gradient Descent!!!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How to compute the gradients?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Propagate the gradients through layers.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60E712-FADB-5FC9-F333-133197DB45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118" t="-2381" r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black and white image of a traffic light&#10;&#10;AI-generated content may be incorrect.">
            <a:extLst>
              <a:ext uri="{FF2B5EF4-FFF2-40B4-BE49-F238E27FC236}">
                <a16:creationId xmlns="" xmlns:a16="http://schemas.microsoft.com/office/drawing/2014/main" id="{D56826F3-E4D0-0961-F925-67595B497F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27942"/>
            <a:ext cx="5181600" cy="3346704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27582C8-BFB8-6A8E-B817-C0C22C60D311}"/>
              </a:ext>
            </a:extLst>
          </p:cNvPr>
          <p:cNvSpPr txBox="1"/>
          <p:nvPr/>
        </p:nvSpPr>
        <p:spPr>
          <a:xfrm>
            <a:off x="6172200" y="5028315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3C7B2F6-EBBF-5101-A5E0-F0FF0D61D45D}"/>
              </a:ext>
            </a:extLst>
          </p:cNvPr>
          <p:cNvSpPr txBox="1"/>
          <p:nvPr/>
        </p:nvSpPr>
        <p:spPr>
          <a:xfrm>
            <a:off x="10755674" y="5028314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</a:t>
            </a:r>
          </a:p>
          <a:p>
            <a:r>
              <a:rPr lang="en-US" dirty="0">
                <a:solidFill>
                  <a:srgbClr val="FF0000"/>
                </a:solidFill>
              </a:rPr>
              <a:t>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63306C4-1837-F41E-FD4B-A260ABE46797}"/>
              </a:ext>
            </a:extLst>
          </p:cNvPr>
          <p:cNvSpPr txBox="1"/>
          <p:nvPr/>
        </p:nvSpPr>
        <p:spPr>
          <a:xfrm>
            <a:off x="7637210" y="5674645"/>
            <a:ext cx="221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A9B4F4E8-FA3F-53D8-02B5-1C4FCF29AB8D}"/>
                  </a:ext>
                </a:extLst>
              </p:cNvPr>
              <p:cNvSpPr txBox="1"/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B4F4E8-FA3F-53D8-02B5-1C4FCF29A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221" y="3308797"/>
                <a:ext cx="4747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1E156C2A-D757-80EA-1D20-F8817DD9057B}"/>
                  </a:ext>
                </a:extLst>
              </p:cNvPr>
              <p:cNvSpPr txBox="1"/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156C2A-D757-80EA-1D20-F8817DD90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41" y="4278587"/>
                <a:ext cx="4747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319A124-DE2F-217C-343E-8DB05C740982}"/>
                  </a:ext>
                </a:extLst>
              </p:cNvPr>
              <p:cNvSpPr txBox="1"/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19A124-DE2F-217C-343E-8DB05C740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90" y="2450544"/>
                <a:ext cx="522835" cy="3871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AEBE9115-AA57-4916-97F5-1F79EAEFF2BA}"/>
                  </a:ext>
                </a:extLst>
              </p:cNvPr>
              <p:cNvSpPr txBox="1"/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BE9115-AA57-4916-97F5-1F79EAEFF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73" y="2975854"/>
                <a:ext cx="522835" cy="387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91BACE4E-2DC6-208D-B4B3-DE28782A09B6}"/>
                  </a:ext>
                </a:extLst>
              </p:cNvPr>
              <p:cNvSpPr txBox="1"/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BACE4E-2DC6-208D-B4B3-DE28782A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094" y="3545425"/>
                <a:ext cx="522835" cy="388504"/>
              </a:xfrm>
              <a:prstGeom prst="rect">
                <a:avLst/>
              </a:prstGeom>
              <a:blipFill>
                <a:blip r:embed="rId9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D77E00AE-B198-FFDF-5501-21B8F10AFBB7}"/>
                  </a:ext>
                </a:extLst>
              </p:cNvPr>
              <p:cNvSpPr txBox="1"/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7E00AE-B198-FFDF-5501-21B8F10AF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46" y="4082840"/>
                <a:ext cx="522835" cy="386452"/>
              </a:xfrm>
              <a:prstGeom prst="rect">
                <a:avLst/>
              </a:prstGeom>
              <a:blipFill>
                <a:blip r:embed="rId10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9C86B22-F73B-0338-A45E-65CDD7B3C315}"/>
                  </a:ext>
                </a:extLst>
              </p:cNvPr>
              <p:cNvSpPr txBox="1"/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C86B22-F73B-0338-A45E-65CDD7B3C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937" y="5125585"/>
                <a:ext cx="621196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C43162AD-1647-BCBF-A113-41787048E134}"/>
                  </a:ext>
                </a:extLst>
              </p:cNvPr>
              <p:cNvSpPr txBox="1"/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3162AD-1647-BCBF-A113-41787048E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009" y="2450544"/>
                <a:ext cx="522835" cy="3871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15D717E0-665E-58EC-3064-EBEBB52E8CF7}"/>
                  </a:ext>
                </a:extLst>
              </p:cNvPr>
              <p:cNvSpPr txBox="1"/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D717E0-665E-58EC-3064-EBEBB52E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992" y="2975854"/>
                <a:ext cx="522835" cy="3871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7D9C1154-0DD3-DE2B-456D-13435221F10D}"/>
                  </a:ext>
                </a:extLst>
              </p:cNvPr>
              <p:cNvSpPr txBox="1"/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9C1154-0DD3-DE2B-456D-13435221F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913" y="3545425"/>
                <a:ext cx="522835" cy="388504"/>
              </a:xfrm>
              <a:prstGeom prst="rect">
                <a:avLst/>
              </a:prstGeom>
              <a:blipFill>
                <a:blip r:embed="rId1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BBC1ED84-57DD-E769-6F14-B9F9012CF329}"/>
                  </a:ext>
                </a:extLst>
              </p:cNvPr>
              <p:cNvSpPr txBox="1"/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C1ED84-57DD-E769-6F14-B9F9012CF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65" y="4082840"/>
                <a:ext cx="522835" cy="386452"/>
              </a:xfrm>
              <a:prstGeom prst="rect">
                <a:avLst/>
              </a:prstGeom>
              <a:blipFill>
                <a:blip r:embed="rId1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171194BA-DE9B-C015-9128-C8B401EF0716}"/>
                  </a:ext>
                </a:extLst>
              </p:cNvPr>
              <p:cNvSpPr txBox="1"/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1194BA-DE9B-C015-9128-C8B401EF0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756" y="5125585"/>
                <a:ext cx="621196" cy="405688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="" xmlns:a16="http://schemas.microsoft.com/office/drawing/2014/main" id="{91592F33-FCD3-A068-E994-86C1D1B60502}"/>
                  </a:ext>
                </a:extLst>
              </p:cNvPr>
              <p:cNvSpPr txBox="1"/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592F33-FCD3-A068-E994-86C1D1B60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614" y="1784198"/>
                <a:ext cx="514821" cy="404598"/>
              </a:xfrm>
              <a:prstGeom prst="rect">
                <a:avLst/>
              </a:prstGeom>
              <a:blipFill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EA188BB0-A6FC-15CB-E44B-D398321D96E7}"/>
                  </a:ext>
                </a:extLst>
              </p:cNvPr>
              <p:cNvSpPr txBox="1"/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A188BB0-A6FC-15CB-E44B-D398321D9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35" y="1807016"/>
                <a:ext cx="514821" cy="4045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="" xmlns:a16="http://schemas.microsoft.com/office/drawing/2014/main" id="{94B61524-5530-7073-3AC8-E358C96DEBEC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8250086" y="2188796"/>
            <a:ext cx="80939" cy="368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F44860D1-2CF0-C2FE-818A-43772DBC3EAB}"/>
              </a:ext>
            </a:extLst>
          </p:cNvPr>
          <p:cNvCxnSpPr/>
          <p:nvPr/>
        </p:nvCxnSpPr>
        <p:spPr>
          <a:xfrm flipH="1">
            <a:off x="8264008" y="2327942"/>
            <a:ext cx="498992" cy="841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6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F2A864-CBF4-5D5E-DDD7-7B882719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96890779-D100-F03F-C18F-76975FC3C29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Univariate Chain Rule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univariate functions,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90779-D100-F03F-C18F-76975FC3C2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279DFB9-64A0-DE4F-D76F-45D92A3B8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850" y="3102536"/>
            <a:ext cx="2583088" cy="90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57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A616536-4346-1669-4CBE-7F623EC7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2A9279-E434-2F47-9F88-90971B18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2940869-CF41-C0BC-BDF8-C45A40B9BA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example, univariate logistic least square model.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compute the loss derivative.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028E2C8-0696-7BC5-B203-59D56290C4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520512B-3242-96AB-5484-C66227A17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40" y="2754082"/>
            <a:ext cx="2648320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4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5AF4360-519A-D87E-707F-DD0A39F0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38B382-5070-8E1C-09AC-9C4E5EF7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420378-1D10-C4A3-547B-EB6D3F1D83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="" xmlns:a16="http://schemas.microsoft.com/office/drawing/2014/main" id="{FFABEF7C-B444-9BD0-1031-65D807C667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1751" y="1929118"/>
            <a:ext cx="5181600" cy="3639170"/>
          </a:xfr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D5459FE-80A8-DEF1-7534-A2B1EA5AA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49" y="1825625"/>
            <a:ext cx="5420701" cy="384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5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F5E82BA-307C-D469-B8A9-120F1391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B47512-D470-96C9-C582-00F2FAA4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998D4B-1A12-4204-EC9C-BDD6E58277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more structured way to do it,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45E0E56-2ACB-2A03-D886-F4CD67DF7F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31294D5-6627-7E81-CAED-02C71429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56" y="2683312"/>
            <a:ext cx="2600688" cy="3591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CB470B85-00DC-0295-8458-B1C5DE19B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010" y="1945117"/>
            <a:ext cx="4211979" cy="3744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520512B-3242-96AB-5484-C66227A17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489" y="287107"/>
            <a:ext cx="1724211" cy="136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3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792BB3-2E69-00A2-0AFA-ABFE8830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4D9DEF-A9BE-402E-CCFB-BEF4BB955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37BBFC-E1DF-E802-6FF9-916A81B854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about multivariate chain rule?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98012E7-4CA3-7580-1717-B1D763307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474" y="2676985"/>
            <a:ext cx="3656506" cy="4071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26D3238-0ADC-F59C-A7E1-491DCFDC5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074" y="1825625"/>
            <a:ext cx="4020111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2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2C22170-813D-958A-4ECC-084EC08A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DC3F47-E4DA-5E83-7888-AFCDD0E1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8743430-99E7-5B3E-FA13-D3D247881F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Multivariate chain rule</a:t>
            </a:r>
          </a:p>
          <a:p>
            <a:pPr lvl="1"/>
            <a:r>
              <a:rPr lang="en-US" dirty="0"/>
              <a:t>If f(x, y) is a function of x(t) and y(t), then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9B19D29-30B9-B504-32BB-3850DC0F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124" y="3166819"/>
            <a:ext cx="4259752" cy="8592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DB8CD1F-BA44-0FED-156E-B5D01B275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073" y="2586659"/>
            <a:ext cx="2648320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8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B23CBEE-B832-D7EB-E384-768B909D0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183F34-7885-F206-3831-2A59469B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E049C96-0D46-A55E-438C-E89760A53A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Multivariate chain rule</a:t>
            </a:r>
          </a:p>
          <a:p>
            <a:pPr lvl="1"/>
            <a:r>
              <a:rPr lang="en-US" dirty="0"/>
              <a:t>If f(x, y) is a function of x(t) and y(t), then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F85C00A-B289-1625-7E7B-A0300F5EE9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the context of backpropagation,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279233B-BC0F-849A-6B20-9A27A16D1BB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299124" y="3166819"/>
            <a:ext cx="4259752" cy="859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2C70046-813D-E5FB-2CD4-D01A1DFA3EA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096000" y="2679301"/>
            <a:ext cx="4848902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492D271-EEFC-C1BD-FC04-B33F52C9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2DF94D-D2E8-2C92-8416-F6A013CE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D69F0BE-4385-CB8F-4B81-C45B7D99DAF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299124" y="3166819"/>
            <a:ext cx="4259752" cy="859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86F8763-139A-760D-04E0-03D1B105DE43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096000" y="2679301"/>
            <a:ext cx="4848902" cy="401058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DF4D7F01-A39F-32F2-0A94-EED47814DD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="" xmlns:a16="http://schemas.microsoft.com/office/drawing/2014/main" id="{E5589991-A20C-1561-A934-DA8F35421E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2D9A418D-D1BF-D455-084E-B152A7948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052" y="1690688"/>
            <a:ext cx="8935697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2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0BA44AE-21B7-43BB-C858-36C2C0F4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BF9BB5-9B2F-3BD5-E659-A8856A46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804EEBE-BB69-ED07-C360-7088FE05035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566230" y="1351782"/>
            <a:ext cx="9059539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7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3C20A7F-2520-772D-9280-84AD997DE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DE16AB-4966-63A5-3491-79F42601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065EE9E-ADE3-15B8-391A-6B8246D5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6230" y="1432756"/>
            <a:ext cx="9059539" cy="534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71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Supervised Learning Task</a:t>
                </a:r>
              </a:p>
              <a:p>
                <a:pPr lvl="1"/>
                <a:r>
                  <a:rPr lang="en-US" dirty="0" smtClean="0"/>
                  <a:t>Given the data-generating distribution is,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∼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𝑑𝑎𝑡𝑎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 smtClean="0"/>
                  <a:t>Goal: Minimize the loss</a:t>
                </a:r>
                <a:br>
                  <a:rPr lang="en-US" dirty="0" smtClean="0"/>
                </a:br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In reality,</a:t>
                </a:r>
              </a:p>
              <a:p>
                <a:pPr lvl="1"/>
                <a:r>
                  <a:rPr lang="en-US" dirty="0" smtClean="0"/>
                  <a:t>Given the training data,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∼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𝑑𝑎𝑡𝑎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 smtClean="0"/>
                  <a:t>Goal: Minimize empirical loss,</a:t>
                </a:r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lvl="1"/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329" y="3729307"/>
            <a:ext cx="45624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558" y="3615007"/>
            <a:ext cx="431482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77442" y="5883214"/>
                <a:ext cx="2858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Optimization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/>
                      </a:rPr>
                      <m:t>≠</m:t>
                    </m:r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 Learning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442" y="5883214"/>
                <a:ext cx="285847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923" t="-8197" r="-128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641" y="4958308"/>
            <a:ext cx="745807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702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Optimization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≠</m:t>
                    </m:r>
                  </m:oMath>
                </a14:m>
                <a:r>
                  <a:rPr lang="en-US" dirty="0"/>
                  <a:t> Learning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Empirical Risk Minimization</a:t>
            </a:r>
          </a:p>
          <a:p>
            <a:endParaRPr lang="en-US" dirty="0"/>
          </a:p>
          <a:p>
            <a:r>
              <a:rPr lang="en-US" dirty="0" smtClean="0"/>
              <a:t>Often cannot optimize the true loss</a:t>
            </a:r>
          </a:p>
          <a:p>
            <a:pPr lvl="1"/>
            <a:r>
              <a:rPr lang="en-US" dirty="0" smtClean="0"/>
              <a:t>0-1 loss; No useful derivatives</a:t>
            </a:r>
            <a:endParaRPr lang="en-US" dirty="0"/>
          </a:p>
          <a:p>
            <a:pPr lvl="1"/>
            <a:r>
              <a:rPr lang="en-US" dirty="0" smtClean="0"/>
              <a:t>Use of surrogate loss such as negative log likelihood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Early stopping</a:t>
            </a:r>
          </a:p>
          <a:p>
            <a:pPr lvl="1"/>
            <a:r>
              <a:rPr lang="en-US" dirty="0" smtClean="0"/>
              <a:t>0-1 loss on validation 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07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Optimization Challenges in Deep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Local Minima</a:t>
            </a:r>
          </a:p>
          <a:p>
            <a:endParaRPr lang="en-US" dirty="0"/>
          </a:p>
          <a:p>
            <a:r>
              <a:rPr lang="en-US" dirty="0" smtClean="0"/>
              <a:t>Saddle Points</a:t>
            </a:r>
          </a:p>
          <a:p>
            <a:endParaRPr lang="en-US" dirty="0"/>
          </a:p>
          <a:p>
            <a:r>
              <a:rPr lang="en-US" dirty="0" smtClean="0"/>
              <a:t>Vanishing Gradients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329" y="1493520"/>
            <a:ext cx="2698789" cy="191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052" y="1493520"/>
            <a:ext cx="2468415" cy="182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560" y="3412490"/>
            <a:ext cx="2967038" cy="2120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315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Convexity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Given a convex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 smtClean="0"/>
                  <a:t>, a </a:t>
                </a:r>
                <a:r>
                  <a:rPr lang="en-US" dirty="0"/>
                  <a:t>function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: </m:t>
                    </m:r>
                    <m:r>
                      <a:rPr lang="en-US" i="1" dirty="0" smtClean="0">
                        <a:latin typeface="Cambria Math"/>
                      </a:rPr>
                      <m:t>𝑋</m:t>
                    </m:r>
                    <m:r>
                      <a:rPr lang="en-US" b="0" i="1" dirty="0" smtClean="0">
                        <a:latin typeface="Cambria Math"/>
                      </a:rPr>
                      <m:t>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 is </a:t>
                </a:r>
                <a:r>
                  <a:rPr lang="en-US" i="1" dirty="0"/>
                  <a:t>convex</a:t>
                </a:r>
                <a:r>
                  <a:rPr lang="en-US" dirty="0"/>
                  <a:t> if for </a:t>
                </a:r>
                <a:r>
                  <a:rPr lang="en-US" dirty="0" err="1" smtClean="0"/>
                  <a:t>all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 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959" y="2749646"/>
            <a:ext cx="7840663" cy="61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430" y="3591369"/>
            <a:ext cx="7665720" cy="2768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29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Convexity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Given a convex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 smtClean="0"/>
                  <a:t>, a </a:t>
                </a:r>
                <a:r>
                  <a:rPr lang="en-US" dirty="0"/>
                  <a:t>function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: </m:t>
                    </m:r>
                    <m:r>
                      <a:rPr lang="en-US" i="1" dirty="0" smtClean="0">
                        <a:latin typeface="Cambria Math"/>
                      </a:rPr>
                      <m:t>𝑋</m:t>
                    </m:r>
                    <m:r>
                      <a:rPr lang="en-US" b="0" i="1" dirty="0" smtClean="0">
                        <a:latin typeface="Cambria Math"/>
                      </a:rPr>
                      <m:t>→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 is </a:t>
                </a:r>
                <a:r>
                  <a:rPr lang="en-US" i="1" dirty="0"/>
                  <a:t>convex</a:t>
                </a:r>
                <a:r>
                  <a:rPr lang="en-US" dirty="0"/>
                  <a:t> if for </a:t>
                </a:r>
                <a:r>
                  <a:rPr lang="en-US" dirty="0" err="1" smtClean="0"/>
                  <a:t>all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 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959" y="2749646"/>
            <a:ext cx="7840663" cy="61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570" y="3654939"/>
            <a:ext cx="4663440" cy="255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6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Gradient Descent</a:t>
            </a:r>
          </a:p>
          <a:p>
            <a:pPr lvl="1"/>
            <a:r>
              <a:rPr lang="en-US" dirty="0" smtClean="0"/>
              <a:t>Batch-gradient descent</a:t>
            </a:r>
          </a:p>
          <a:p>
            <a:pPr lvl="1"/>
            <a:r>
              <a:rPr lang="en-US" dirty="0" smtClean="0"/>
              <a:t>Stochastic gradient descent</a:t>
            </a:r>
          </a:p>
          <a:p>
            <a:pPr lvl="1"/>
            <a:r>
              <a:rPr lang="en-US" dirty="0" smtClean="0"/>
              <a:t>Mini-batch stochastic gradient descent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Why use mini-batch?</a:t>
            </a:r>
          </a:p>
          <a:p>
            <a:pPr lvl="1"/>
            <a:r>
              <a:rPr lang="en-US" dirty="0" smtClean="0"/>
              <a:t>Gradient computation is very expensive</a:t>
            </a:r>
          </a:p>
          <a:p>
            <a:pPr lvl="1"/>
            <a:r>
              <a:rPr lang="en-US" dirty="0" smtClean="0"/>
              <a:t>Redundancy in training set</a:t>
            </a:r>
          </a:p>
          <a:p>
            <a:pPr lvl="1"/>
            <a:r>
              <a:rPr lang="en-US" dirty="0" smtClean="0"/>
              <a:t>Can also run in parallel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07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Mini-Batch Stochastic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991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At each epoch,</a:t>
            </a:r>
          </a:p>
          <a:p>
            <a:pPr lvl="1"/>
            <a:r>
              <a:rPr lang="en-US" dirty="0" smtClean="0"/>
              <a:t>Go </a:t>
            </a:r>
            <a:r>
              <a:rPr lang="en-US" dirty="0"/>
              <a:t>over the entire training data </a:t>
            </a:r>
            <a:r>
              <a:rPr lang="en-US" dirty="0" smtClean="0"/>
              <a:t>once</a:t>
            </a:r>
          </a:p>
          <a:p>
            <a:pPr lvl="1"/>
            <a:r>
              <a:rPr lang="en-US" dirty="0" smtClean="0"/>
              <a:t>Make </a:t>
            </a:r>
            <a:r>
              <a:rPr lang="en-US" dirty="0"/>
              <a:t>a vector of training data indices (1,…,</a:t>
            </a:r>
            <a:r>
              <a:rPr lang="en-US" dirty="0" smtClean="0"/>
              <a:t>N)</a:t>
            </a:r>
          </a:p>
          <a:p>
            <a:pPr lvl="1"/>
            <a:r>
              <a:rPr lang="en-US" dirty="0" smtClean="0"/>
              <a:t>Shuffle </a:t>
            </a:r>
            <a:r>
              <a:rPr lang="en-US" dirty="0"/>
              <a:t>the </a:t>
            </a:r>
            <a:r>
              <a:rPr lang="en-US" dirty="0" smtClean="0"/>
              <a:t>vector,</a:t>
            </a:r>
            <a:r>
              <a:rPr lang="en-US" dirty="0"/>
              <a:t> 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epoch_idx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=shuffle(1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,…,N)</a:t>
            </a:r>
          </a:p>
          <a:p>
            <a:pPr lvl="1"/>
            <a:r>
              <a:rPr lang="en-US" dirty="0"/>
              <a:t>Divide 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epoch_idx</a:t>
            </a:r>
            <a:r>
              <a:rPr lang="en-US" dirty="0"/>
              <a:t> into equal-size mini-batches.</a:t>
            </a:r>
          </a:p>
          <a:p>
            <a:pPr lvl="1"/>
            <a:r>
              <a:rPr lang="en-US" dirty="0"/>
              <a:t>Say, mini-batch has size k, then</a:t>
            </a:r>
          </a:p>
          <a:p>
            <a:pPr lvl="2"/>
            <a:r>
              <a:rPr lang="en-US" dirty="0"/>
              <a:t>The first mini-batch uses examples </a:t>
            </a:r>
            <a:endParaRPr lang="en-US" dirty="0" smtClean="0"/>
          </a:p>
          <a:p>
            <a:pPr marL="1371600" lvl="3" indent="0"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D1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={(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xj,yj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):j=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epoch_idx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[0:k]}</a:t>
            </a:r>
          </a:p>
          <a:p>
            <a:pPr lvl="2"/>
            <a:r>
              <a:rPr lang="en-US" dirty="0"/>
              <a:t>The second mini-batch uses examples 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D2={(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xj,yj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):j=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epoch_idx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[k:2k]}</a:t>
            </a:r>
          </a:p>
          <a:p>
            <a:pPr lvl="2"/>
            <a:r>
              <a:rPr lang="en-US" dirty="0" smtClean="0"/>
              <a:t>And so on</a:t>
            </a:r>
            <a:endParaRPr lang="en-US" dirty="0"/>
          </a:p>
          <a:p>
            <a:pPr lvl="1"/>
            <a:r>
              <a:rPr lang="en-US" dirty="0" smtClean="0"/>
              <a:t>Once all mini-batches are exhausted, we start a new epoch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544574" y="4798207"/>
            <a:ext cx="46474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dirty="0">
                <a:solidFill>
                  <a:srgbClr val="FF0000"/>
                </a:solidFill>
              </a:rPr>
              <a:t>If N is not a multiple of k, we ignore the last </a:t>
            </a:r>
            <a:endParaRPr lang="en-US" dirty="0" smtClean="0">
              <a:solidFill>
                <a:srgbClr val="FF0000"/>
              </a:solidFill>
            </a:endParaRPr>
          </a:p>
          <a:p>
            <a:pPr marL="0" lvl="1"/>
            <a:r>
              <a:rPr lang="en-US" dirty="0" smtClean="0">
                <a:solidFill>
                  <a:srgbClr val="FF0000"/>
                </a:solidFill>
              </a:rPr>
              <a:t>mini-batch </a:t>
            </a:r>
            <a:r>
              <a:rPr lang="en-US" dirty="0">
                <a:solidFill>
                  <a:srgbClr val="FF0000"/>
                </a:solidFill>
              </a:rPr>
              <a:t>(whose size is smaller than k).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3165894" y="5259872"/>
            <a:ext cx="4378680" cy="1402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50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Mini-Batch Stochastic Gradient Descent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Mini-batches yields an unbiased estimate of batch gradient if sampled randomly</a:t>
                </a:r>
              </a:p>
              <a:p>
                <a:endParaRPr lang="en-US" dirty="0"/>
              </a:p>
              <a:p>
                <a:r>
                  <a:rPr lang="en-US" dirty="0" smtClean="0"/>
                  <a:t>Mini-batch </a:t>
                </a:r>
                <a:r>
                  <a:rPr lang="en-US" dirty="0"/>
                  <a:t>s</a:t>
                </a:r>
                <a:r>
                  <a:rPr lang="en-US" dirty="0" smtClean="0"/>
                  <a:t>tochastic gradient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pPr lvl="1"/>
                <a:r>
                  <a:rPr lang="en-US" dirty="0" smtClean="0"/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 indicates a mini-batch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118" t="-2241" r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True Empirical Loss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True gradient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03"/>
          <a:stretch/>
        </p:blipFill>
        <p:spPr bwMode="auto">
          <a:xfrm>
            <a:off x="7614429" y="2218070"/>
            <a:ext cx="2720016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622" y="3962670"/>
            <a:ext cx="3114675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66" y="4084698"/>
            <a:ext cx="338137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934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Mini-Batch Stochastic Gradient Descent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Mini-batches yields an unbiased estimate of batch </a:t>
                </a:r>
                <a:r>
                  <a:rPr lang="en-US" dirty="0"/>
                  <a:t>gradient if sampled randomly</a:t>
                </a:r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Mini-batch </a:t>
                </a:r>
                <a:r>
                  <a:rPr lang="en-US" dirty="0"/>
                  <a:t>s</a:t>
                </a:r>
                <a:r>
                  <a:rPr lang="en-US" dirty="0" smtClean="0"/>
                  <a:t>tochastic gradient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pPr lvl="1"/>
                <a:r>
                  <a:rPr lang="en-US" dirty="0" smtClean="0"/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 indicates a mini-batch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118" t="-2241" r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Un-biasedness</a:t>
            </a:r>
          </a:p>
          <a:p>
            <a:pPr lvl="1"/>
            <a:r>
              <a:rPr lang="en-US" dirty="0" smtClean="0"/>
              <a:t>If batches are sampled uniformly at random,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By definition,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66" y="4031358"/>
            <a:ext cx="338137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48"/>
          <a:stretch/>
        </p:blipFill>
        <p:spPr bwMode="auto">
          <a:xfrm>
            <a:off x="6822057" y="2997859"/>
            <a:ext cx="3810000" cy="1086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051" y="4840588"/>
            <a:ext cx="4686300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795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Mini-Batch Stochastic Gradient Descent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Mini-batches yields an unbiased estimate of batch </a:t>
                </a:r>
                <a:r>
                  <a:rPr lang="en-US" dirty="0"/>
                  <a:t>gradient if sampled randomly</a:t>
                </a:r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Mini-batch </a:t>
                </a:r>
                <a:r>
                  <a:rPr lang="en-US" dirty="0"/>
                  <a:t>s</a:t>
                </a:r>
                <a:r>
                  <a:rPr lang="en-US" dirty="0" smtClean="0"/>
                  <a:t>tochastic gradient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pPr lvl="1"/>
                <a:r>
                  <a:rPr lang="en-US" dirty="0" smtClean="0"/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 indicates a mini-batch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118" t="-2241" r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Since the mini-batch is uniformly sampled,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But a smaller variance is  </a:t>
            </a:r>
            <a:r>
              <a:rPr lang="en-US" smtClean="0"/>
              <a:t>estimated compared to SGD,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66" y="4084698"/>
            <a:ext cx="338137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902" y="2881312"/>
            <a:ext cx="585787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902" y="5180073"/>
            <a:ext cx="5438775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302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Mini-Batch Stochastic Gradient Descent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Mini-batches yields an unbiased estimate of batch </a:t>
                </a:r>
                <a:r>
                  <a:rPr lang="en-US" dirty="0"/>
                  <a:t>gradient if sampled randomly</a:t>
                </a:r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Mini-batch </a:t>
                </a:r>
                <a:r>
                  <a:rPr lang="en-US" dirty="0"/>
                  <a:t>s</a:t>
                </a:r>
                <a:r>
                  <a:rPr lang="en-US" dirty="0" smtClean="0"/>
                  <a:t>tochastic gradient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pPr lvl="1"/>
                <a:r>
                  <a:rPr lang="en-US" dirty="0" smtClean="0"/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 indicates a mini-batch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2118" t="-2241" r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Variance decreases as </a:t>
            </a:r>
            <a:r>
              <a:rPr lang="en-US" sz="2400" b="1" dirty="0"/>
              <a:t>mini-batch size </a:t>
            </a:r>
            <a:r>
              <a:rPr lang="en-US" sz="2400" b="1" dirty="0" smtClean="0"/>
              <a:t>m</a:t>
            </a:r>
            <a:r>
              <a:rPr lang="en-US" sz="2400" dirty="0" smtClean="0"/>
              <a:t> </a:t>
            </a:r>
            <a:r>
              <a:rPr lang="en-US" sz="2400" dirty="0"/>
              <a:t>increases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With full batch (m=N</a:t>
            </a:r>
            <a:r>
              <a:rPr lang="en-US" sz="2400" dirty="0" smtClean="0"/>
              <a:t>), </a:t>
            </a:r>
            <a:r>
              <a:rPr lang="en-US" sz="2400" dirty="0"/>
              <a:t>variance becomes zero.</a:t>
            </a:r>
          </a:p>
          <a:p>
            <a:endParaRPr lang="en-US" sz="2400" dirty="0" smtClean="0"/>
          </a:p>
          <a:p>
            <a:r>
              <a:rPr lang="en-US" sz="2400" dirty="0" smtClean="0"/>
              <a:t>Small m </a:t>
            </a:r>
            <a:r>
              <a:rPr lang="en-US" sz="2400" dirty="0"/>
              <a:t>→ more noise → unstable updates</a:t>
            </a:r>
          </a:p>
          <a:p>
            <a:r>
              <a:rPr lang="en-US" sz="2400" dirty="0" smtClean="0"/>
              <a:t>This </a:t>
            </a:r>
            <a:r>
              <a:rPr lang="en-US" sz="2400" dirty="0"/>
              <a:t>motivates </a:t>
            </a:r>
            <a:r>
              <a:rPr lang="en-US" sz="2400" b="1" dirty="0"/>
              <a:t>learning rate schedules</a:t>
            </a:r>
            <a:r>
              <a:rPr lang="en-US" sz="2400" dirty="0"/>
              <a:t> or </a:t>
            </a:r>
            <a:r>
              <a:rPr lang="en-US" sz="2400" b="1" dirty="0"/>
              <a:t>batch size growth</a:t>
            </a:r>
            <a:r>
              <a:rPr lang="en-US" sz="2400" dirty="0"/>
              <a:t> in training.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66" y="4084698"/>
            <a:ext cx="338137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23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Gradient Descent</a:t>
            </a:r>
          </a:p>
          <a:p>
            <a:pPr lvl="1"/>
            <a:r>
              <a:rPr lang="en-US" dirty="0" smtClean="0"/>
              <a:t>Batch-gradient descent</a:t>
            </a:r>
          </a:p>
          <a:p>
            <a:pPr lvl="1"/>
            <a:r>
              <a:rPr lang="en-US" dirty="0" smtClean="0"/>
              <a:t>Stochastic gradient descent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Mini-batch stochastic gradient descent</a:t>
            </a:r>
            <a:endParaRPr lang="en-US" dirty="0" smtClean="0"/>
          </a:p>
          <a:p>
            <a:pPr lvl="1"/>
            <a:endParaRPr lang="en-US" dirty="0"/>
          </a:p>
          <a:p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457200" lvl="1" indent="0">
                  <a:buNone/>
                </a:pPr>
                <a:endParaRPr lang="en-US" b="0" i="1" dirty="0" smtClean="0">
                  <a:latin typeface="Cambria Math"/>
                </a:endParaRPr>
              </a:p>
              <a:p>
                <a:pPr marL="457200" lvl="1" indent="0">
                  <a:buNone/>
                </a:pPr>
                <a:endParaRPr lang="en-US" b="0" i="1" dirty="0" smtClean="0">
                  <a:latin typeface="Cambria Math"/>
                </a:endParaRPr>
              </a:p>
              <a:p>
                <a:pPr marL="457200" lvl="1" indent="0">
                  <a:buNone/>
                </a:pPr>
                <a:endParaRPr lang="en-US" b="0" i="1" dirty="0" smtClean="0">
                  <a:latin typeface="Cambria Math"/>
                </a:endParaRPr>
              </a:p>
              <a:p>
                <a:pPr marL="457200" lvl="1" indent="0">
                  <a:buNone/>
                </a:pPr>
                <a:endParaRPr lang="en-US" b="0" i="1" dirty="0" smtClean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𝜃</m:t>
                      </m:r>
                      <m:r>
                        <a:rPr lang="en-US" b="0" i="1" smtClean="0">
                          <a:latin typeface="Cambria Math"/>
                        </a:rPr>
                        <m:t>←</m:t>
                      </m:r>
                      <m:r>
                        <a:rPr lang="en-US" b="0" i="1" smtClean="0">
                          <a:latin typeface="Cambria Math"/>
                        </a:rPr>
                        <m:t>𝜃</m:t>
                      </m:r>
                      <m:r>
                        <a:rPr lang="en-US" b="0" i="1" smtClean="0">
                          <a:latin typeface="Cambria Math"/>
                        </a:rPr>
                        <m:t> −</m:t>
                      </m:r>
                      <m:r>
                        <a:rPr lang="en-US" b="0" i="1" smtClean="0">
                          <a:latin typeface="Cambria Math"/>
                        </a:rPr>
                        <m:t>𝜖</m:t>
                      </m:r>
                      <m:r>
                        <a:rPr lang="en-US" b="0" i="0" smtClean="0">
                          <a:latin typeface="Cambria Math"/>
                        </a:rPr>
                        <m:t>𝛻</m:t>
                      </m:r>
                      <m:r>
                        <a:rPr lang="en-US" b="0" i="1" smtClean="0">
                          <a:latin typeface="Cambria Math"/>
                        </a:rPr>
                        <m:t>𝑔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latin typeface="Cambria Math"/>
                        </a:rPr>
                        <m:t>𝜃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15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Gradient Descent</a:t>
            </a:r>
          </a:p>
          <a:p>
            <a:pPr lvl="1"/>
            <a:r>
              <a:rPr lang="en-US" dirty="0" smtClean="0"/>
              <a:t>Batch-gradient descent</a:t>
            </a:r>
          </a:p>
          <a:p>
            <a:pPr lvl="1"/>
            <a:r>
              <a:rPr lang="en-US" dirty="0" smtClean="0"/>
              <a:t>Stochastic gradient descent</a:t>
            </a:r>
          </a:p>
          <a:p>
            <a:pPr lvl="1"/>
            <a:r>
              <a:rPr lang="en-US" dirty="0" smtClean="0"/>
              <a:t>Mini-batch stochastic gradient descent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Stochastic gradient </a:t>
            </a:r>
            <a:r>
              <a:rPr lang="en-US" dirty="0" smtClean="0">
                <a:solidFill>
                  <a:srgbClr val="FF0000"/>
                </a:solidFill>
              </a:rPr>
              <a:t>descent with momentum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307" y="3355674"/>
            <a:ext cx="592455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40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Gradient Descent</a:t>
            </a:r>
          </a:p>
          <a:p>
            <a:pPr lvl="1"/>
            <a:r>
              <a:rPr lang="en-US" dirty="0" smtClean="0"/>
              <a:t>Batch-gradient descent</a:t>
            </a:r>
          </a:p>
          <a:p>
            <a:pPr lvl="1"/>
            <a:r>
              <a:rPr lang="en-US" dirty="0" smtClean="0"/>
              <a:t>Stochastic gradient descent</a:t>
            </a:r>
          </a:p>
          <a:p>
            <a:pPr lvl="1"/>
            <a:r>
              <a:rPr lang="en-US" dirty="0" smtClean="0"/>
              <a:t>Mini-batch stochastic gradient descent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Stochastic gradient </a:t>
            </a:r>
            <a:r>
              <a:rPr lang="en-US" dirty="0" smtClean="0"/>
              <a:t>descent with momentum</a:t>
            </a:r>
          </a:p>
          <a:p>
            <a:pPr lvl="1"/>
            <a:endParaRPr lang="en-US" dirty="0" smtClean="0"/>
          </a:p>
          <a:p>
            <a:pPr lvl="1"/>
            <a:r>
              <a:rPr lang="en-US" dirty="0">
                <a:solidFill>
                  <a:srgbClr val="FF0000"/>
                </a:solidFill>
              </a:rPr>
              <a:t>Stochastic gradient descent with </a:t>
            </a:r>
            <a:r>
              <a:rPr lang="en-US" dirty="0" err="1" smtClean="0">
                <a:solidFill>
                  <a:srgbClr val="FF0000"/>
                </a:solidFill>
              </a:rPr>
              <a:t>nesterov</a:t>
            </a:r>
            <a:r>
              <a:rPr lang="en-US" dirty="0" smtClean="0">
                <a:solidFill>
                  <a:srgbClr val="FF0000"/>
                </a:solidFill>
              </a:rPr>
              <a:t> momentum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387" y="3507896"/>
            <a:ext cx="6214613" cy="1483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960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Gradient Descent</a:t>
            </a:r>
          </a:p>
          <a:p>
            <a:pPr lvl="1"/>
            <a:r>
              <a:rPr lang="en-US" dirty="0" smtClean="0"/>
              <a:t>Batch-gradient descent</a:t>
            </a:r>
          </a:p>
          <a:p>
            <a:pPr lvl="1"/>
            <a:r>
              <a:rPr lang="en-US" dirty="0" smtClean="0"/>
              <a:t>Stochastic gradient descent</a:t>
            </a:r>
          </a:p>
          <a:p>
            <a:pPr lvl="1"/>
            <a:r>
              <a:rPr lang="en-US" dirty="0" smtClean="0"/>
              <a:t>Mini-batch stochastic gradient descent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Stochastic gradient </a:t>
            </a:r>
            <a:r>
              <a:rPr lang="en-US" dirty="0" smtClean="0"/>
              <a:t>descent with momentum</a:t>
            </a:r>
          </a:p>
          <a:p>
            <a:pPr lvl="1"/>
            <a:endParaRPr lang="en-US" dirty="0" smtClean="0"/>
          </a:p>
          <a:p>
            <a:pPr lvl="1"/>
            <a:r>
              <a:rPr lang="en-US" dirty="0">
                <a:solidFill>
                  <a:srgbClr val="FF0000"/>
                </a:solidFill>
              </a:rPr>
              <a:t>Stochastic gradient descent with </a:t>
            </a:r>
            <a:r>
              <a:rPr lang="en-US" dirty="0" err="1" smtClean="0">
                <a:solidFill>
                  <a:srgbClr val="FF0000"/>
                </a:solidFill>
              </a:rPr>
              <a:t>nesterov</a:t>
            </a:r>
            <a:r>
              <a:rPr lang="en-US" dirty="0" smtClean="0">
                <a:solidFill>
                  <a:srgbClr val="FF0000"/>
                </a:solidFill>
              </a:rPr>
              <a:t> momentum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387" y="3507896"/>
            <a:ext cx="6214613" cy="1483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295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Optimizers with Adaptive Learning 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06" y="1379507"/>
            <a:ext cx="10301647" cy="5297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431985" y="4718649"/>
            <a:ext cx="9963509" cy="11645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7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Optimizers with Adaptive Learning 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21" y="1501436"/>
            <a:ext cx="9572893" cy="5142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431985" y="4546122"/>
            <a:ext cx="9023230" cy="11645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1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29" y="1387146"/>
            <a:ext cx="6493534" cy="5012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Optimizers with Adaptive Learning 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2808" y="4399473"/>
            <a:ext cx="5546784" cy="14406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813" y="3673146"/>
            <a:ext cx="88868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76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 Parameter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Number of epochs</a:t>
            </a:r>
          </a:p>
          <a:p>
            <a:r>
              <a:rPr lang="en-US" dirty="0" smtClean="0"/>
              <a:t>Learning Rate</a:t>
            </a:r>
          </a:p>
          <a:p>
            <a:r>
              <a:rPr lang="en-US" dirty="0" smtClean="0"/>
              <a:t>Weight Decay</a:t>
            </a:r>
          </a:p>
          <a:p>
            <a:r>
              <a:rPr lang="en-US" dirty="0" smtClean="0"/>
              <a:t>Batch Size, etc.</a:t>
            </a:r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1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MLP as a Function </a:t>
            </a:r>
            <a:r>
              <a:rPr lang="en-US" dirty="0" err="1" smtClean="0"/>
              <a:t>Approximator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Which </a:t>
                </a:r>
                <a:r>
                  <a:rPr lang="en-US" dirty="0"/>
                  <a:t>functions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𝑓</m:t>
                    </m:r>
                    <m:r>
                      <a:rPr lang="en-US" b="0" i="1" smtClean="0">
                        <a:latin typeface="Cambria Math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 can a multilayer </a:t>
                </a:r>
                <a:r>
                  <a:rPr lang="en-US" dirty="0" err="1"/>
                  <a:t>feedforward</a:t>
                </a:r>
                <a:r>
                  <a:rPr lang="en-US" dirty="0"/>
                  <a:t> networks arbitrarily approximate</a:t>
                </a:r>
                <a:r>
                  <a:rPr lang="en-US" dirty="0" smtClean="0"/>
                  <a:t>?</a:t>
                </a:r>
              </a:p>
              <a:p>
                <a:pPr lvl="1"/>
                <a:r>
                  <a:rPr lang="en-US" dirty="0" smtClean="0"/>
                  <a:t>Assuming freedom </a:t>
                </a:r>
                <a:r>
                  <a:rPr lang="en-US" dirty="0"/>
                  <a:t>to choose any model and </a:t>
                </a:r>
                <a:r>
                  <a:rPr lang="en-US" dirty="0" smtClean="0"/>
                  <a:t>its parameter</a:t>
                </a:r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Can approximate </a:t>
                </a:r>
                <a:r>
                  <a:rPr lang="en-US" dirty="0"/>
                  <a:t>any continuous </a:t>
                </a:r>
                <a:r>
                  <a:rPr lang="en-US" dirty="0" smtClean="0"/>
                  <a:t>function as </a:t>
                </a:r>
                <a:r>
                  <a:rPr lang="en-US" dirty="0"/>
                  <a:t>long </a:t>
                </a:r>
                <a:r>
                  <a:rPr lang="en-US" dirty="0" smtClean="0"/>
                  <a:t>as,</a:t>
                </a:r>
              </a:p>
              <a:p>
                <a:pPr lvl="1"/>
                <a:r>
                  <a:rPr lang="en-US" dirty="0" smtClean="0"/>
                  <a:t>The </a:t>
                </a:r>
                <a:r>
                  <a:rPr lang="en-US" dirty="0"/>
                  <a:t>activation functions σ are </a:t>
                </a:r>
                <a:r>
                  <a:rPr lang="en-US" dirty="0">
                    <a:solidFill>
                      <a:srgbClr val="FF0000"/>
                    </a:solidFill>
                  </a:rPr>
                  <a:t>not</a:t>
                </a:r>
                <a:r>
                  <a:rPr lang="en-US" dirty="0"/>
                  <a:t> algebraic </a:t>
                </a:r>
                <a:r>
                  <a:rPr lang="en-US" dirty="0" smtClean="0"/>
                  <a:t>polynomials almost everywhere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3850" y="6162675"/>
            <a:ext cx="10931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400" dirty="0" err="1"/>
              <a:t>Leshno</a:t>
            </a:r>
            <a:r>
              <a:rPr lang="en-US" sz="1400" dirty="0"/>
              <a:t>, Moshe, Vladimir </a:t>
            </a:r>
            <a:r>
              <a:rPr lang="en-US" sz="1400" dirty="0" err="1"/>
              <a:t>Ya</a:t>
            </a:r>
            <a:r>
              <a:rPr lang="en-US" sz="1400" dirty="0"/>
              <a:t> Lin, Allan </a:t>
            </a:r>
            <a:r>
              <a:rPr lang="en-US" sz="1400" dirty="0" err="1"/>
              <a:t>Pinkus</a:t>
            </a:r>
            <a:r>
              <a:rPr lang="en-US" sz="1400" dirty="0"/>
              <a:t>, and Shimon </a:t>
            </a:r>
            <a:r>
              <a:rPr lang="en-US" sz="1400" dirty="0" err="1"/>
              <a:t>Schocken</a:t>
            </a:r>
            <a:r>
              <a:rPr lang="en-US" sz="1400" dirty="0"/>
              <a:t>. "Multilayer </a:t>
            </a:r>
            <a:r>
              <a:rPr lang="en-US" sz="1400" dirty="0" err="1"/>
              <a:t>feedforward</a:t>
            </a:r>
            <a:r>
              <a:rPr lang="en-US" sz="1400" dirty="0"/>
              <a:t> networks with a </a:t>
            </a:r>
            <a:r>
              <a:rPr lang="en-US" sz="1400" dirty="0" err="1"/>
              <a:t>nonpolynomial</a:t>
            </a:r>
            <a:r>
              <a:rPr lang="en-US" sz="1400" dirty="0"/>
              <a:t> activation </a:t>
            </a:r>
            <a:endParaRPr lang="en-US" sz="1400" dirty="0" smtClean="0"/>
          </a:p>
          <a:p>
            <a:pPr algn="just"/>
            <a:r>
              <a:rPr lang="en-US" sz="1400" dirty="0" smtClean="0"/>
              <a:t>function </a:t>
            </a:r>
            <a:r>
              <a:rPr lang="en-US" sz="1400" dirty="0"/>
              <a:t>can approximate any function." </a:t>
            </a:r>
            <a:r>
              <a:rPr lang="en-US" sz="1400" i="1" dirty="0"/>
              <a:t>Neural networks</a:t>
            </a:r>
            <a:r>
              <a:rPr lang="en-US" sz="1400" dirty="0"/>
              <a:t> 6, no. 6 (1993): 861-867.</a:t>
            </a:r>
          </a:p>
        </p:txBody>
      </p:sp>
    </p:spTree>
    <p:extLst>
      <p:ext uri="{BB962C8B-B14F-4D97-AF65-F5344CB8AC3E}">
        <p14:creationId xmlns:p14="http://schemas.microsoft.com/office/powerpoint/2010/main" val="277063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0E99DF-F1C3-D4A9-84AC-43D21EDE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D2l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Deep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94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2774</Words>
  <Application>Microsoft Office PowerPoint</Application>
  <PresentationFormat>Custom</PresentationFormat>
  <Paragraphs>665</Paragraphs>
  <Slides>61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Office Theme</vt:lpstr>
      <vt:lpstr>Deep Learning</vt:lpstr>
      <vt:lpstr>Supervised Learning (Recap)</vt:lpstr>
      <vt:lpstr>Recap</vt:lpstr>
      <vt:lpstr>PowerPoint Presentation</vt:lpstr>
      <vt:lpstr>Predict Rich Or Not</vt:lpstr>
      <vt:lpstr>Predict Rich Or Not</vt:lpstr>
      <vt:lpstr>Predict Rich Or Not</vt:lpstr>
      <vt:lpstr>Neural Network</vt:lpstr>
      <vt:lpstr>Neural Network</vt:lpstr>
      <vt:lpstr>Neural Network</vt:lpstr>
      <vt:lpstr>Fully-connected Neural Network</vt:lpstr>
      <vt:lpstr>Fully-connected Neural Network</vt:lpstr>
      <vt:lpstr>Fully-connected Neural Network</vt:lpstr>
      <vt:lpstr>Fully-connected Neural Network</vt:lpstr>
      <vt:lpstr>Fully-connected Neural Network</vt:lpstr>
      <vt:lpstr>Activation Functions</vt:lpstr>
      <vt:lpstr>Why use non-linear activations?</vt:lpstr>
      <vt:lpstr>Fully-connected Neural Network</vt:lpstr>
      <vt:lpstr>Fully-connected Neural Network</vt:lpstr>
      <vt:lpstr>Fully-connected Neural Network</vt:lpstr>
      <vt:lpstr>Fully-connected Neural Network</vt:lpstr>
      <vt:lpstr>Multi-class Classification</vt:lpstr>
      <vt:lpstr>Multi-class Classification</vt:lpstr>
      <vt:lpstr>Fully-connected Neural Network</vt:lpstr>
      <vt:lpstr>Fully-connected Neural Network</vt:lpstr>
      <vt:lpstr>Fully-connected Neural Network</vt:lpstr>
      <vt:lpstr>Fully-connected Neural Network</vt:lpstr>
      <vt:lpstr>Fully-connected Neural Network</vt:lpstr>
      <vt:lpstr>Fully-connected Neural Network</vt:lpstr>
      <vt:lpstr>Fully-connected Neural Network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Optimization</vt:lpstr>
      <vt:lpstr>Optimization ≠ Learning</vt:lpstr>
      <vt:lpstr>Optimization Challenges in Deep Learning</vt:lpstr>
      <vt:lpstr>Convexity</vt:lpstr>
      <vt:lpstr>Convexity</vt:lpstr>
      <vt:lpstr>Optimizers</vt:lpstr>
      <vt:lpstr>Mini-Batch Stochastic Gradient Descent</vt:lpstr>
      <vt:lpstr>Mini-Batch Stochastic Gradient Descent</vt:lpstr>
      <vt:lpstr>Mini-Batch Stochastic Gradient Descent</vt:lpstr>
      <vt:lpstr>Mini-Batch Stochastic Gradient Descent</vt:lpstr>
      <vt:lpstr>Mini-Batch Stochastic Gradient Descent</vt:lpstr>
      <vt:lpstr>Optimizers</vt:lpstr>
      <vt:lpstr>Optimizers</vt:lpstr>
      <vt:lpstr>Optimizers</vt:lpstr>
      <vt:lpstr>Optimizers</vt:lpstr>
      <vt:lpstr>Optimizers with Adaptive Learning Rate</vt:lpstr>
      <vt:lpstr>Optimizers with Adaptive Learning Rate</vt:lpstr>
      <vt:lpstr>Optimizers with Adaptive Learning Rate</vt:lpstr>
      <vt:lpstr>Hyper Parameter</vt:lpstr>
      <vt:lpstr>MLP as a Function Approximator</vt:lpstr>
      <vt:lpstr>Reference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Chowdhury Mohammad Rakin Haider</dc:creator>
  <cp:lastModifiedBy>ismail - [2010]</cp:lastModifiedBy>
  <cp:revision>27</cp:revision>
  <dcterms:created xsi:type="dcterms:W3CDTF">2025-06-23T17:00:14Z</dcterms:created>
  <dcterms:modified xsi:type="dcterms:W3CDTF">2026-01-03T22:02:10Z</dcterms:modified>
</cp:coreProperties>
</file>