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1258" y="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2" name="Shape 10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989696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50502" y="5304698"/>
            <a:ext cx="8239127" cy="238868"/>
          </a:xfrm>
          <a:prstGeom prst="rect">
            <a:avLst/>
          </a:prstGeom>
          <a:ln w="3175"/>
        </p:spPr>
        <p:txBody>
          <a:bodyPr lIns="17144" tIns="17144" rIns="17144" bIns="17144"/>
          <a:lstStyle>
            <a:lvl1pPr marL="0" indent="0" defTabSz="338454">
              <a:spcBef>
                <a:spcPts val="0"/>
              </a:spcBef>
              <a:buSzTx/>
              <a:buFontTx/>
              <a:buNone/>
              <a:defRPr sz="1476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Author and Date</a:t>
            </a:r>
          </a:p>
        </p:txBody>
      </p:sp>
      <p:sp>
        <p:nvSpPr>
          <p:cNvPr id="93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452436" y="1822871"/>
            <a:ext cx="8239127" cy="1743076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l" defTabSz="1219169">
              <a:lnSpc>
                <a:spcPct val="80000"/>
              </a:lnSpc>
              <a:defRPr sz="5800" b="1" spc="-116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9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0503" y="3565946"/>
            <a:ext cx="8239126" cy="714376"/>
          </a:xfrm>
          <a:prstGeom prst="rect">
            <a:avLst/>
          </a:prstGeom>
        </p:spPr>
        <p:txBody>
          <a:bodyPr lIns="19050" tIns="19050" rIns="19050" bIns="19050"/>
          <a:lstStyle>
            <a:lvl1pPr marL="0" indent="0" defTabSz="412750">
              <a:spcBef>
                <a:spcPts val="0"/>
              </a:spcBef>
              <a:buSzTx/>
              <a:buFontTx/>
              <a:buNone/>
              <a:defRPr sz="2600" b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457200" defTabSz="412750">
              <a:spcBef>
                <a:spcPts val="0"/>
              </a:spcBef>
              <a:buSzTx/>
              <a:buFontTx/>
              <a:buNone/>
              <a:defRPr sz="2600" b="1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914400" defTabSz="412750">
              <a:spcBef>
                <a:spcPts val="0"/>
              </a:spcBef>
              <a:buSzTx/>
              <a:buFontTx/>
              <a:buNone/>
              <a:defRPr sz="2600" b="1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371600" defTabSz="412750">
              <a:spcBef>
                <a:spcPts val="0"/>
              </a:spcBef>
              <a:buSzTx/>
              <a:buFontTx/>
              <a:buNone/>
              <a:defRPr sz="2600" b="1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828800" defTabSz="412750">
              <a:spcBef>
                <a:spcPts val="0"/>
              </a:spcBef>
              <a:buSzTx/>
              <a:buFontTx/>
              <a:buNone/>
              <a:defRPr sz="2600" b="1"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80705" y="5728499"/>
            <a:ext cx="177903" cy="174601"/>
          </a:xfrm>
          <a:prstGeom prst="rect">
            <a:avLst/>
          </a:prstGeom>
        </p:spPr>
        <p:txBody>
          <a:bodyPr lIns="19050" tIns="19050" rIns="19050" bIns="19050" anchor="b"/>
          <a:lstStyle>
            <a:lvl1pPr algn="ctr" defTabSz="292100">
              <a:defRPr sz="9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CSE 329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t>CSE 329</a:t>
            </a:r>
          </a:p>
        </p:txBody>
      </p:sp>
      <p:sp>
        <p:nvSpPr>
          <p:cNvPr id="105" name="Linear Regr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106" name="Presentation Subtitle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Supervised Learning (Recap)</a:t>
            </a:r>
          </a:p>
        </p:txBody>
      </p:sp>
      <p:pic>
        <p:nvPicPr>
          <p:cNvPr id="10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19666" y="1690688"/>
            <a:ext cx="3722416" cy="4686954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TextBox 7"/>
          <p:cNvSpPr txBox="1"/>
          <p:nvPr/>
        </p:nvSpPr>
        <p:spPr>
          <a:xfrm>
            <a:off x="2735241" y="6146809"/>
            <a:ext cx="1181440" cy="392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Features</a:t>
            </a:r>
          </a:p>
        </p:txBody>
      </p:sp>
      <p:sp>
        <p:nvSpPr>
          <p:cNvPr id="111" name="TextBox 8"/>
          <p:cNvSpPr txBox="1"/>
          <p:nvPr/>
        </p:nvSpPr>
        <p:spPr>
          <a:xfrm>
            <a:off x="5018708" y="6146809"/>
            <a:ext cx="995347" cy="392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Target</a:t>
            </a:r>
          </a:p>
        </p:txBody>
      </p:sp>
      <p:sp>
        <p:nvSpPr>
          <p:cNvPr id="112" name="TextBox 9"/>
          <p:cNvSpPr txBox="1"/>
          <p:nvPr/>
        </p:nvSpPr>
        <p:spPr>
          <a:xfrm>
            <a:off x="5337247" y="4440429"/>
            <a:ext cx="1627433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>
                <a:solidFill>
                  <a:srgbClr val="FF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Hypothesis</a:t>
            </a:r>
          </a:p>
        </p:txBody>
      </p:sp>
      <p:sp>
        <p:nvSpPr>
          <p:cNvPr id="113" name="Straight Arrow Connector 11"/>
          <p:cNvSpPr/>
          <p:nvPr/>
        </p:nvSpPr>
        <p:spPr>
          <a:xfrm flipH="1">
            <a:off x="4463324" y="4671259"/>
            <a:ext cx="828205" cy="635990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1" animBg="1" advAuto="0"/>
      <p:bldP spid="111" grpId="2" animBg="1" advAuto="0"/>
      <p:bldP spid="112" grpId="4" animBg="1" advAuto="0"/>
      <p:bldP spid="113" grpId="3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Content Placeholder 2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57200" y="1600200"/>
                <a:ext cx="4038600" cy="4525963"/>
              </a:xfrm>
              <a:prstGeom prst="rect">
                <a:avLst/>
              </a:prstGeom>
            </p:spPr>
            <p:txBody>
              <a:bodyPr/>
              <a:lstStyle/>
              <a:p>
                <a:pPr marL="305269" indent="-305269">
                  <a:defRPr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>
                    <a:latin typeface="+mj-lt"/>
                    <a:ea typeface="+mj-ea"/>
                    <a:cs typeface="+mj-cs"/>
                    <a:sym typeface="Calibri"/>
                  </a:rPr>
                  <a:t> input or feature</a:t>
                </a:r>
              </a:p>
              <a:p>
                <a:pPr marL="305269" indent="-305269">
                  <a:defRPr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>
                    <a:latin typeface="+mj-lt"/>
                    <a:ea typeface="+mj-ea"/>
                    <a:cs typeface="+mj-cs"/>
                    <a:sym typeface="Calibri"/>
                  </a:rPr>
                  <a:t> output or target</a:t>
                </a:r>
              </a:p>
              <a:p>
                <a:pPr marL="305269" indent="-305269">
                  <a:defRPr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sz="2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sz="28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>
                    <a:latin typeface="+mj-lt"/>
                    <a:ea typeface="+mj-ea"/>
                    <a:cs typeface="+mj-cs"/>
                    <a:sym typeface="Calibri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>
                    <a:latin typeface="+mj-lt"/>
                    <a:ea typeface="+mj-ea"/>
                    <a:cs typeface="+mj-cs"/>
                    <a:sym typeface="Calibri"/>
                  </a:rPr>
                  <a:t>training example</a:t>
                </a:r>
              </a:p>
              <a:p>
                <a:pPr marL="305269" indent="-305269">
                  <a:defRPr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{(</m:t>
                        </m:r>
                        <m:sSup>
                          <m:sSupPr>
                            <m:ctrlPr>
                              <a:rPr sz="28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sz="28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):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=1,2,…,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>
                    <a:latin typeface="+mj-lt"/>
                    <a:ea typeface="+mj-ea"/>
                    <a:cs typeface="+mj-cs"/>
                    <a:sym typeface="Calibri"/>
                  </a:rPr>
                  <a:t> the training set</a:t>
                </a:r>
              </a:p>
              <a:p>
                <a:endParaRPr>
                  <a:latin typeface="+mj-lt"/>
                  <a:ea typeface="+mj-ea"/>
                  <a:cs typeface="+mj-cs"/>
                  <a:sym typeface="Calibri"/>
                </a:endParaRPr>
              </a:p>
              <a:p>
                <a:r>
                  <a:t>Goal??</a:t>
                </a:r>
              </a:p>
            </p:txBody>
          </p:sp>
        </mc:Choice>
        <mc:Fallback xmlns="">
          <p:sp>
            <p:nvSpPr>
              <p:cNvPr id="116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600200"/>
                <a:ext cx="4038600" cy="4525963"/>
              </a:xfrm>
              <a:prstGeom prst="rect">
                <a:avLst/>
              </a:prstGeom>
              <a:blipFill rotWithShape="1">
                <a:blip r:embed="rId2"/>
                <a:stretch>
                  <a:fillRect l="-3771" t="-809" r="-3318" b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Group 11"/>
          <p:cNvGrpSpPr/>
          <p:nvPr/>
        </p:nvGrpSpPr>
        <p:grpSpPr>
          <a:xfrm>
            <a:off x="5004282" y="1690687"/>
            <a:ext cx="4242654" cy="4848592"/>
            <a:chOff x="0" y="0"/>
            <a:chExt cx="4242653" cy="4848590"/>
          </a:xfrm>
        </p:grpSpPr>
        <p:pic>
          <p:nvPicPr>
            <p:cNvPr id="117" name="Picture 4" descr="Picture 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3722416" cy="46869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8" name="TextBox 5"/>
            <p:cNvSpPr txBox="1"/>
            <p:nvPr/>
          </p:nvSpPr>
          <p:spPr>
            <a:xfrm>
              <a:off x="215572" y="4456122"/>
              <a:ext cx="1211424" cy="3924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2400">
                  <a:solidFill>
                    <a:srgbClr val="FF0000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Features</a:t>
              </a:r>
            </a:p>
          </p:txBody>
        </p:sp>
        <p:sp>
          <p:nvSpPr>
            <p:cNvPr id="119" name="TextBox 6"/>
            <p:cNvSpPr txBox="1"/>
            <p:nvPr/>
          </p:nvSpPr>
          <p:spPr>
            <a:xfrm>
              <a:off x="2499040" y="4456122"/>
              <a:ext cx="1290158" cy="3924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2400">
                  <a:solidFill>
                    <a:srgbClr val="FF0000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Target</a:t>
              </a:r>
            </a:p>
          </p:txBody>
        </p:sp>
        <p:sp>
          <p:nvSpPr>
            <p:cNvPr id="120" name="TextBox 7"/>
            <p:cNvSpPr txBox="1"/>
            <p:nvPr/>
          </p:nvSpPr>
          <p:spPr>
            <a:xfrm>
              <a:off x="2585236" y="2749740"/>
              <a:ext cx="1657418" cy="3924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2400">
                  <a:solidFill>
                    <a:srgbClr val="FF0000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Hypothesis</a:t>
              </a:r>
            </a:p>
          </p:txBody>
        </p:sp>
        <p:sp>
          <p:nvSpPr>
            <p:cNvPr id="121" name="Straight Arrow Connector 8"/>
            <p:cNvSpPr/>
            <p:nvPr/>
          </p:nvSpPr>
          <p:spPr>
            <a:xfrm flipH="1">
              <a:off x="1802777" y="3033711"/>
              <a:ext cx="828206" cy="495689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Supervised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Content Placeholder 2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57200" y="1600200"/>
                <a:ext cx="4038600" cy="4525963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defRPr b="1"/>
                </a:pPr>
                <a:r>
                  <a:t>X</a:t>
                </a:r>
                <a:r>
                  <a:rPr b="0"/>
                  <a:t> is the input space</a:t>
                </a:r>
              </a:p>
              <a:p>
                <a:pPr>
                  <a:defRPr b="1"/>
                </a:pPr>
                <a:r>
                  <a:t>y</a:t>
                </a:r>
                <a:r>
                  <a:rPr b="0"/>
                  <a:t> is the target space</a:t>
                </a:r>
              </a:p>
              <a:p>
                <a:r>
                  <a:t>Learn a </a:t>
                </a:r>
                <a:r>
                  <a:rPr>
                    <a:solidFill>
                      <a:srgbClr val="FF0000"/>
                    </a:solidFill>
                  </a:rPr>
                  <a:t>function</a:t>
                </a:r>
                <a:r>
                  <a:t> or </a:t>
                </a:r>
                <a:r>
                  <a:rPr>
                    <a:solidFill>
                      <a:srgbClr val="FF0000"/>
                    </a:solidFill>
                  </a:rPr>
                  <a:t>hypothesis</a:t>
                </a:r>
                <a:r>
                  <a:t> such that</a:t>
                </a:r>
              </a:p>
              <a:p>
                <a:pPr marL="0" indent="0" algn="ctr">
                  <a:buSzTx/>
                  <a:buNone/>
                  <a:defRPr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sz="2600"/>
              </a:p>
              <a:p>
                <a:pPr marL="0" indent="0">
                  <a:buSzTx/>
                  <a:buNone/>
                  <a:defRPr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:r>
                  <a:t>i.e.</a:t>
                </a:r>
              </a:p>
              <a:p>
                <a:pPr marL="0" indent="0" algn="ctr">
                  <a:buSzTx/>
                  <a:buNone/>
                  <a:defRPr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sz="2641"/>
              </a:p>
            </p:txBody>
          </p:sp>
        </mc:Choice>
        <mc:Fallback xmlns="">
          <p:sp>
            <p:nvSpPr>
              <p:cNvPr id="125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600200"/>
                <a:ext cx="4038600" cy="4525963"/>
              </a:xfrm>
              <a:prstGeom prst="rect">
                <a:avLst/>
              </a:prstGeom>
              <a:blipFill rotWithShape="1">
                <a:blip r:embed="rId2"/>
                <a:stretch>
                  <a:fillRect l="-4223" t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1" name="Group 10"/>
          <p:cNvGrpSpPr/>
          <p:nvPr/>
        </p:nvGrpSpPr>
        <p:grpSpPr>
          <a:xfrm>
            <a:off x="5004282" y="1690687"/>
            <a:ext cx="4242654" cy="4848592"/>
            <a:chOff x="0" y="0"/>
            <a:chExt cx="4242653" cy="4848590"/>
          </a:xfrm>
        </p:grpSpPr>
        <p:pic>
          <p:nvPicPr>
            <p:cNvPr id="126" name="Picture 12" descr="Picture 1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1"/>
              <a:ext cx="3722416" cy="46869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7" name="TextBox 13"/>
            <p:cNvSpPr txBox="1"/>
            <p:nvPr/>
          </p:nvSpPr>
          <p:spPr>
            <a:xfrm>
              <a:off x="215572" y="4456122"/>
              <a:ext cx="1211424" cy="3924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2400">
                  <a:solidFill>
                    <a:srgbClr val="FF0000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Features</a:t>
              </a:r>
            </a:p>
          </p:txBody>
        </p:sp>
        <p:sp>
          <p:nvSpPr>
            <p:cNvPr id="128" name="TextBox 14"/>
            <p:cNvSpPr txBox="1"/>
            <p:nvPr/>
          </p:nvSpPr>
          <p:spPr>
            <a:xfrm>
              <a:off x="2499040" y="4456122"/>
              <a:ext cx="1290158" cy="3924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2400">
                  <a:solidFill>
                    <a:srgbClr val="FF0000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Target</a:t>
              </a:r>
            </a:p>
          </p:txBody>
        </p:sp>
        <p:sp>
          <p:nvSpPr>
            <p:cNvPr id="129" name="TextBox 15"/>
            <p:cNvSpPr txBox="1"/>
            <p:nvPr/>
          </p:nvSpPr>
          <p:spPr>
            <a:xfrm>
              <a:off x="2585236" y="2749740"/>
              <a:ext cx="1657418" cy="3924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>
                <a:defRPr sz="2400">
                  <a:solidFill>
                    <a:srgbClr val="FF0000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r>
                <a:t>Hypothesis</a:t>
              </a:r>
            </a:p>
          </p:txBody>
        </p:sp>
        <p:sp>
          <p:nvSpPr>
            <p:cNvPr id="130" name="Straight Arrow Connector 16"/>
            <p:cNvSpPr/>
            <p:nvPr/>
          </p:nvSpPr>
          <p:spPr>
            <a:xfrm flipH="1">
              <a:off x="1802777" y="3033711"/>
              <a:ext cx="828206" cy="495689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Housing Price Prediction</a:t>
            </a:r>
          </a:p>
        </p:txBody>
      </p:sp>
      <p:pic>
        <p:nvPicPr>
          <p:cNvPr id="134" name="Content Placeholder 7" descr="Content Placeholder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8648" y="2508606"/>
            <a:ext cx="3886202" cy="25656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Content Placeholder 5" descr="Content Placeholder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29151" y="2384915"/>
            <a:ext cx="3886202" cy="2813037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8"/>
              <p:cNvSpPr txBox="1"/>
              <p:nvPr/>
            </p:nvSpPr>
            <p:spPr>
              <a:xfrm>
                <a:off x="897607" y="5197951"/>
                <a:ext cx="7348782" cy="87684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45718" tIns="45718" rIns="45718" bIns="45718">
                <a:spAutoFit/>
              </a:bodyPr>
              <a:lstStyle/>
              <a:p>
                <a:pPr algn="ctr">
                  <a:defRPr sz="2400">
                    <a:latin typeface="+mj-lt"/>
                    <a:ea typeface="+mj-ea"/>
                    <a:cs typeface="+mj-cs"/>
                    <a:sym typeface="Calibri"/>
                  </a:defRPr>
                </a:pPr>
                <a:r>
                  <a:t>Learn a function </a:t>
                </a:r>
                <a:r>
                  <a:rPr>
                    <a:latin typeface="Courier New"/>
                    <a:ea typeface="Courier New"/>
                    <a:cs typeface="Courier New"/>
                    <a:sym typeface="Courier New"/>
                  </a:rPr>
                  <a:t>h</a:t>
                </a:r>
                <a:r>
                  <a:t> such that </a:t>
                </a:r>
              </a:p>
              <a:p>
                <a:pPr algn="ctr">
                  <a:defRPr sz="2400">
                    <a:solidFill>
                      <a:srgbClr val="FF0000"/>
                    </a:solidFill>
                    <a:latin typeface="Courier New"/>
                    <a:ea typeface="Courier New"/>
                    <a:cs typeface="Courier New"/>
                    <a:sym typeface="Courier New"/>
                  </a:defRPr>
                </a:pPr>
                <a:r>
                  <a:t>h(living area in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𝑓𝑒𝑒</m:t>
                    </m:r>
                    <m:sSup>
                      <m:sSupPr>
                        <m:ctrlPr>
                          <a:rPr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t>) ~ Price in 1000$s</a:t>
                </a:r>
                <a:endParaRPr sz="2264"/>
              </a:p>
            </p:txBody>
          </p:sp>
        </mc:Choice>
        <mc:Fallback xmlns="">
          <p:sp>
            <p:nvSpPr>
              <p:cNvPr id="136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07" y="5197951"/>
                <a:ext cx="7348782" cy="876841"/>
              </a:xfrm>
              <a:prstGeom prst="rect">
                <a:avLst/>
              </a:prstGeom>
              <a:blipFill rotWithShape="1">
                <a:blip r:embed="rId4"/>
                <a:stretch>
                  <a:fillRect l="-2405" t="-6944" r="-2322" b="-1041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TextBox 9"/>
          <p:cNvSpPr txBox="1"/>
          <p:nvPr/>
        </p:nvSpPr>
        <p:spPr>
          <a:xfrm>
            <a:off x="7072007" y="1285784"/>
            <a:ext cx="1809263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400">
                <a:solidFill>
                  <a:srgbClr val="FF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Regression !!!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2" animBg="1" advAuto="0"/>
      <p:bldP spid="135" grpId="1" animBg="1" advAuto="0"/>
      <p:bldP spid="136" grpId="3" animBg="1" advAuto="0"/>
      <p:bldP spid="137" grpId="4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Regression vs Classification</a:t>
            </a:r>
          </a:p>
        </p:txBody>
      </p:sp>
      <p:sp>
        <p:nvSpPr>
          <p:cNvPr id="140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r>
              <a:t>Regression </a:t>
            </a:r>
          </a:p>
          <a:p>
            <a:pPr marL="742950" lvl="1" indent="-285750">
              <a:spcBef>
                <a:spcPts val="500"/>
              </a:spcBef>
              <a:defRPr sz="2400"/>
            </a:pPr>
            <a:r>
              <a:t>Target variable is continuous</a:t>
            </a:r>
          </a:p>
          <a:p>
            <a:pPr marL="742950" lvl="1" indent="-285750">
              <a:spcBef>
                <a:spcPts val="500"/>
              </a:spcBef>
              <a:defRPr sz="2400"/>
            </a:pPr>
            <a:endParaRPr/>
          </a:p>
          <a:p>
            <a:pPr marL="742950" lvl="1" indent="-285750">
              <a:spcBef>
                <a:spcPts val="500"/>
              </a:spcBef>
              <a:defRPr sz="2400"/>
            </a:pPr>
            <a:r>
              <a:t>Example,</a:t>
            </a:r>
          </a:p>
          <a:p>
            <a:pPr marL="1143000" lvl="2" indent="-228600">
              <a:spcBef>
                <a:spcPts val="400"/>
              </a:spcBef>
              <a:defRPr sz="2000"/>
            </a:pPr>
            <a:r>
              <a:t>Housing price prediction</a:t>
            </a:r>
          </a:p>
        </p:txBody>
      </p:sp>
      <p:sp>
        <p:nvSpPr>
          <p:cNvPr id="141" name="Content Placeholder 3"/>
          <p:cNvSpPr txBox="1"/>
          <p:nvPr/>
        </p:nvSpPr>
        <p:spPr>
          <a:xfrm>
            <a:off x="4693920" y="1600201"/>
            <a:ext cx="3947160" cy="452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marL="342900" indent="-342900">
              <a:spcBef>
                <a:spcPts val="600"/>
              </a:spcBef>
              <a:buSzPct val="100000"/>
              <a:buFont typeface="Arial"/>
              <a:buChar char="•"/>
              <a:defRPr sz="2800">
                <a:latin typeface="+mj-lt"/>
                <a:ea typeface="+mj-ea"/>
                <a:cs typeface="+mj-cs"/>
                <a:sym typeface="Calibri"/>
              </a:defRPr>
            </a:pPr>
            <a:r>
              <a:t>Classification</a:t>
            </a:r>
          </a:p>
          <a:p>
            <a:pPr marL="742950" lvl="1" indent="-285750">
              <a:spcBef>
                <a:spcPts val="500"/>
              </a:spcBef>
              <a:buSzPct val="100000"/>
              <a:buFont typeface="Arial"/>
              <a:buChar char="–"/>
              <a:defRPr sz="2400">
                <a:latin typeface="+mj-lt"/>
                <a:ea typeface="+mj-ea"/>
                <a:cs typeface="+mj-cs"/>
                <a:sym typeface="Calibri"/>
              </a:defRPr>
            </a:pPr>
            <a:r>
              <a:t>Target variable can take only small number of discrete values</a:t>
            </a:r>
          </a:p>
          <a:p>
            <a:pPr marL="742950" lvl="1" indent="-285750">
              <a:spcBef>
                <a:spcPts val="500"/>
              </a:spcBef>
              <a:buSzPct val="100000"/>
              <a:buFont typeface="Arial"/>
              <a:buChar char="–"/>
              <a:defRPr sz="2400">
                <a:latin typeface="+mj-lt"/>
                <a:ea typeface="+mj-ea"/>
                <a:cs typeface="+mj-cs"/>
                <a:sym typeface="Calibri"/>
              </a:defRPr>
            </a:pPr>
            <a:endParaRPr/>
          </a:p>
          <a:p>
            <a:pPr marL="742950" lvl="1" indent="-285750">
              <a:spcBef>
                <a:spcPts val="500"/>
              </a:spcBef>
              <a:buSzPct val="100000"/>
              <a:buFont typeface="Arial"/>
              <a:buChar char="–"/>
              <a:defRPr sz="2400">
                <a:latin typeface="+mj-lt"/>
                <a:ea typeface="+mj-ea"/>
                <a:cs typeface="+mj-cs"/>
                <a:sym typeface="Calibri"/>
              </a:defRPr>
            </a:pPr>
            <a:r>
              <a:t>Example,</a:t>
            </a:r>
          </a:p>
          <a:p>
            <a:pPr marL="1143000" lvl="2" indent="-228600">
              <a:spcBef>
                <a:spcPts val="400"/>
              </a:spcBef>
              <a:buSzPct val="100000"/>
              <a:buFont typeface="Arial"/>
              <a:buChar char="•"/>
              <a:defRPr sz="2000">
                <a:latin typeface="+mj-lt"/>
                <a:ea typeface="+mj-ea"/>
                <a:cs typeface="+mj-cs"/>
                <a:sym typeface="Calibri"/>
              </a:defRPr>
            </a:pPr>
            <a:r>
              <a:t>Email classification (Spam vs Ham)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1" build="p" bldLvl="5" animBg="1" advAuto="0"/>
      <p:bldP spid="141" grpId="2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5864" y="3969251"/>
            <a:ext cx="3005140" cy="947199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Content Placeholder 2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57200" y="1600200"/>
                <a:ext cx="4764383" cy="4525963"/>
              </a:xfrm>
              <a:prstGeom prst="rect">
                <a:avLst/>
              </a:prstGeom>
            </p:spPr>
            <p:txBody>
              <a:bodyPr/>
              <a:lstStyle/>
              <a:p>
                <a:pPr marL="298322" indent="-298322" defTabSz="795527">
                  <a:lnSpc>
                    <a:spcPct val="90000"/>
                  </a:lnSpc>
                  <a:spcBef>
                    <a:spcPts val="500"/>
                  </a:spcBef>
                  <a:defRPr sz="2100"/>
                </a:pPr>
                <a:r>
                  <a:t>We assume a linear relation between </a:t>
                </a:r>
                <a14:m>
                  <m:oMath xmlns:m="http://schemas.openxmlformats.org/officeDocument/2006/math"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t>.</a:t>
                </a:r>
              </a:p>
              <a:p>
                <a:pPr marL="298322" indent="-298322" defTabSz="795527">
                  <a:lnSpc>
                    <a:spcPct val="90000"/>
                  </a:lnSpc>
                  <a:spcBef>
                    <a:spcPts val="500"/>
                  </a:spcBef>
                  <a:defRPr sz="2100"/>
                </a:pPr>
                <a:r>
                  <a:t>Given </a:t>
                </a:r>
                <a14:m>
                  <m:oMath xmlns:m="http://schemas.openxmlformats.org/officeDocument/2006/math"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t> we approximate </a:t>
                </a:r>
                <a14:m>
                  <m:oMath xmlns:m="http://schemas.openxmlformats.org/officeDocument/2006/math"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t> with a linear function.</a:t>
                </a:r>
              </a:p>
              <a:p>
                <a:pPr marL="298322" indent="-298322" defTabSz="795527">
                  <a:lnSpc>
                    <a:spcPct val="90000"/>
                  </a:lnSpc>
                  <a:spcBef>
                    <a:spcPts val="500"/>
                  </a:spcBef>
                  <a:defRPr sz="2100"/>
                </a:pPr>
                <a:endParaRPr/>
              </a:p>
              <a:p>
                <a:pPr marL="298322" indent="-298322" defTabSz="795527">
                  <a:lnSpc>
                    <a:spcPct val="90000"/>
                  </a:lnSpc>
                  <a:spcBef>
                    <a:spcPts val="500"/>
                  </a:spcBef>
                  <a:defRPr sz="2100"/>
                </a:pPr>
                <a:endParaRPr/>
              </a:p>
              <a:p>
                <a:pPr marL="298322" indent="-298322" defTabSz="795527">
                  <a:lnSpc>
                    <a:spcPct val="90000"/>
                  </a:lnSpc>
                  <a:spcBef>
                    <a:spcPts val="500"/>
                  </a:spcBef>
                  <a:defRPr sz="2100"/>
                </a:pPr>
                <a:endParaRPr/>
              </a:p>
              <a:p>
                <a:pPr marL="298322" indent="-298322" defTabSz="795527">
                  <a:lnSpc>
                    <a:spcPct val="90000"/>
                  </a:lnSpc>
                  <a:spcBef>
                    <a:spcPts val="500"/>
                  </a:spcBef>
                  <a:defRPr sz="2100"/>
                </a:pPr>
                <a:endParaRPr/>
              </a:p>
              <a:p>
                <a:pPr marL="298322" indent="-298322" defTabSz="795527">
                  <a:lnSpc>
                    <a:spcPct val="90000"/>
                  </a:lnSpc>
                  <a:spcBef>
                    <a:spcPts val="500"/>
                  </a:spcBef>
                  <a:defRPr sz="2100"/>
                </a:pPr>
                <a:endParaRPr/>
              </a:p>
              <a:p>
                <a:pPr marL="265584" indent="-265584" defTabSz="795527">
                  <a:lnSpc>
                    <a:spcPct val="90000"/>
                  </a:lnSpc>
                  <a:spcBef>
                    <a:spcPts val="500"/>
                  </a:spcBef>
                  <a:defRPr sz="2100"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 xmlns:m="http://schemas.openxmlformats.org/officeDocument/2006/math">
                    <m:r>
                      <a:rPr sz="2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>
                    <a:latin typeface="+mj-lt"/>
                    <a:ea typeface="+mj-ea"/>
                    <a:cs typeface="+mj-cs"/>
                    <a:sym typeface="Calibri"/>
                  </a:rPr>
                  <a:t> is called parameters/weights</a:t>
                </a:r>
              </a:p>
              <a:p>
                <a:pPr marL="696087" lvl="1" indent="-298322" defTabSz="795527">
                  <a:lnSpc>
                    <a:spcPct val="90000"/>
                  </a:lnSpc>
                  <a:spcBef>
                    <a:spcPts val="500"/>
                  </a:spcBef>
                  <a:buChar char="•"/>
                  <a:defRPr sz="2100"/>
                </a:pPr>
                <a:r>
                  <a:t>A d+1 dimensional vector of weights</a:t>
                </a:r>
              </a:p>
            </p:txBody>
          </p:sp>
        </mc:Choice>
        <mc:Fallback xmlns="">
          <p:sp>
            <p:nvSpPr>
              <p:cNvPr id="144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600200"/>
                <a:ext cx="4764383" cy="4525963"/>
              </a:xfrm>
              <a:prstGeom prst="rect">
                <a:avLst/>
              </a:prstGeom>
              <a:blipFill rotWithShape="1">
                <a:blip r:embed="rId3"/>
                <a:stretch>
                  <a:fillRect l="-2174" t="-1482" r="-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146" name="Content Placeholder 3"/>
          <p:cNvSpPr txBox="1"/>
          <p:nvPr/>
        </p:nvSpPr>
        <p:spPr>
          <a:xfrm>
            <a:off x="5129436" y="1600201"/>
            <a:ext cx="3511645" cy="452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>
            <a:lvl1pPr marL="342900" indent="-342900">
              <a:lnSpc>
                <a:spcPct val="90000"/>
              </a:lnSpc>
              <a:spcBef>
                <a:spcPts val="600"/>
              </a:spcBef>
              <a:buSzPct val="100000"/>
              <a:buFont typeface="Arial"/>
              <a:buChar char="•"/>
              <a:defRPr sz="25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Housing price prediction with two features </a:t>
            </a:r>
          </a:p>
        </p:txBody>
      </p:sp>
      <p:pic>
        <p:nvPicPr>
          <p:cNvPr id="147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29436" y="2978331"/>
            <a:ext cx="3511645" cy="20433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Picture 7" descr="Picture 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56705" y="3300617"/>
            <a:ext cx="3815297" cy="657319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2"/>
              <p:cNvSpPr txBox="1"/>
              <p:nvPr/>
            </p:nvSpPr>
            <p:spPr>
              <a:xfrm>
                <a:off x="4247735" y="3957935"/>
                <a:ext cx="754205" cy="28527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sz="24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9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735" y="3957935"/>
                <a:ext cx="754205" cy="285275"/>
              </a:xfrm>
              <a:prstGeom prst="rect">
                <a:avLst/>
              </a:prstGeom>
              <a:blipFill rotWithShape="1">
                <a:blip r:embed="rId6"/>
                <a:stretch>
                  <a:fillRect l="-10484" r="-28226" b="-5106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Straight Arrow Connector 14"/>
          <p:cNvSpPr/>
          <p:nvPr/>
        </p:nvSpPr>
        <p:spPr>
          <a:xfrm flipH="1" flipV="1">
            <a:off x="2428408" y="3825229"/>
            <a:ext cx="1633038" cy="363539"/>
          </a:xfrm>
          <a:prstGeom prst="line">
            <a:avLst/>
          </a:prstGeom>
          <a:ln w="38100">
            <a:solidFill>
              <a:srgbClr val="FF0000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6" animBg="1" advAuto="0"/>
      <p:bldP spid="144" grpId="2" build="p" bldLvl="5" animBg="1" advAuto="0"/>
      <p:bldP spid="147" grpId="1" animBg="1" advAuto="0"/>
      <p:bldP spid="148" grpId="3" animBg="1" advAuto="0"/>
      <p:bldP spid="149" grpId="4" animBg="1" advAuto="0"/>
      <p:bldP spid="150" grpId="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Content Placeholder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Goal: </a:t>
                </a:r>
              </a:p>
              <a:p>
                <a:pPr marL="800100" lvl="1" indent="-342900">
                  <a:buChar char="•"/>
                </a:pPr>
                <a:r>
                  <a:t>Given a training set, learn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300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 marL="780738" lvl="1" indent="-323538">
                  <a:buChar char="•"/>
                  <a:defRPr sz="3000"/>
                </a:pPr>
                <a: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3200"/>
                  <a:t> is as close as possible to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>
                  <a:defRPr sz="30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endParaRPr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r>
                  <a:t>If we had only one sample, minimize  </a:t>
                </a:r>
              </a:p>
            </p:txBody>
          </p:sp>
        </mc:Choice>
        <mc:Fallback xmlns="">
          <p:sp>
            <p:nvSpPr>
              <p:cNvPr id="153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 rotWithShape="1">
                <a:blip r:embed="rId2"/>
                <a:stretch>
                  <a:fillRect l="-222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4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95600" y="4495800"/>
            <a:ext cx="3648075" cy="10572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4" descr="Pictur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14998" y="5620984"/>
            <a:ext cx="3005139" cy="94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Straight Arrow Connector 7"/>
          <p:cNvSpPr/>
          <p:nvPr/>
        </p:nvSpPr>
        <p:spPr>
          <a:xfrm flipH="1" flipV="1">
            <a:off x="5181598" y="5334000"/>
            <a:ext cx="533401" cy="760587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1" build="p" bldLvl="5" animBg="1" advAuto="0"/>
      <p:bldP spid="154" grpId="2" animBg="1" advAuto="0"/>
      <p:bldP spid="155" grpId="3" animBg="1" advAuto="0"/>
      <p:bldP spid="156" grpId="4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Content Placeholder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Goal: </a:t>
                </a:r>
              </a:p>
              <a:p>
                <a:pPr marL="800100" lvl="1" indent="-342900">
                  <a:buChar char="•"/>
                </a:pPr>
                <a:r>
                  <a:t>Given a training set, learn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sz="300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 marL="780738" lvl="1" indent="-323538">
                  <a:buChar char="•"/>
                  <a:defRPr sz="3000"/>
                </a:pPr>
                <a:r>
                  <a:t>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3200"/>
                  <a:t> is as close as possible to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>
                  <a:defRPr sz="30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endParaRPr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r>
                  <a:t>For a dataset with n samples, minimize</a:t>
                </a:r>
              </a:p>
            </p:txBody>
          </p:sp>
        </mc:Choice>
        <mc:Fallback xmlns="">
          <p:sp>
            <p:nvSpPr>
              <p:cNvPr id="159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 rotWithShape="1">
                <a:blip r:embed="rId2"/>
                <a:stretch>
                  <a:fillRect l="-222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0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14998" y="5620984"/>
            <a:ext cx="3005139" cy="94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588972" y="4475962"/>
            <a:ext cx="4377823" cy="1094458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Straight Arrow Connector 7"/>
          <p:cNvSpPr/>
          <p:nvPr/>
        </p:nvSpPr>
        <p:spPr>
          <a:xfrm flipH="1" flipV="1">
            <a:off x="5181598" y="5346700"/>
            <a:ext cx="533401" cy="760587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3" name="TextBox 4"/>
          <p:cNvSpPr txBox="1"/>
          <p:nvPr/>
        </p:nvSpPr>
        <p:spPr>
          <a:xfrm>
            <a:off x="1216112" y="5898350"/>
            <a:ext cx="3592372" cy="392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400">
                <a:solidFill>
                  <a:srgbClr val="FF000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Cost Function/Loss Function</a:t>
            </a:r>
          </a:p>
        </p:txBody>
      </p:sp>
      <p:sp>
        <p:nvSpPr>
          <p:cNvPr id="164" name="Line"/>
          <p:cNvSpPr/>
          <p:nvPr/>
        </p:nvSpPr>
        <p:spPr>
          <a:xfrm flipV="1">
            <a:off x="3026709" y="5110462"/>
            <a:ext cx="2" cy="666041"/>
          </a:xfrm>
          <a:prstGeom prst="line">
            <a:avLst/>
          </a:prstGeom>
          <a:ln w="25400">
            <a:solidFill>
              <a:srgbClr val="DE3E25"/>
            </a:solidFill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5" name="Least Mean Squares (LMS)"/>
          <p:cNvSpPr txBox="1"/>
          <p:nvPr/>
        </p:nvSpPr>
        <p:spPr>
          <a:xfrm>
            <a:off x="6553200" y="3544914"/>
            <a:ext cx="2080053" cy="369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E33E25"/>
                </a:solidFill>
              </a:defRPr>
            </a:lvl1pPr>
          </a:lstStyle>
          <a:p>
            <a:r>
              <a:rPr dirty="0"/>
              <a:t>Least </a:t>
            </a:r>
            <a:r>
              <a:rPr dirty="0" smtClean="0"/>
              <a:t>Squares </a:t>
            </a:r>
            <a:r>
              <a:rPr dirty="0"/>
              <a:t>(</a:t>
            </a:r>
            <a:r>
              <a:rPr dirty="0" smtClean="0"/>
              <a:t>LS</a:t>
            </a:r>
            <a:r>
              <a:rPr dirty="0"/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1" build="p" bldLvl="5" animBg="1" advAuto="0"/>
      <p:bldP spid="160" grpId="4" animBg="1" advAuto="0"/>
      <p:bldP spid="161" grpId="2" animBg="1" advAuto="0"/>
      <p:bldP spid="162" grpId="3" animBg="1" advAuto="0"/>
      <p:bldP spid="163" grpId="5" animBg="1" advAuto="0"/>
      <p:bldP spid="164" grpId="6" animBg="1" advAuto="0"/>
      <p:bldP spid="165" grpId="7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Content Placeholder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Goal: Choose </a:t>
                </a:r>
                <a14:m>
                  <m:oMath xmlns:m="http://schemas.openxmlformats.org/officeDocument/2006/math"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 to minimize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60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>
                  <a:defRPr sz="2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endParaRPr sz="260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 marL="0" indent="0" algn="ctr">
                  <a:buSzTx/>
                  <a:buNone/>
                  <a:defRPr sz="2800"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sz="28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600"/>
              </a:p>
              <a:p>
                <a:pPr>
                  <a:defRPr sz="26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endParaRPr sz="2600"/>
              </a:p>
              <a:p>
                <a:r>
                  <a:t>How?</a:t>
                </a:r>
              </a:p>
            </p:txBody>
          </p:sp>
        </mc:Choice>
        <mc:Fallback xmlns="">
          <p:sp>
            <p:nvSpPr>
              <p:cNvPr id="168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 rotWithShape="1">
                <a:blip r:embed="rId2"/>
                <a:stretch>
                  <a:fillRect l="-222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1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Content Placeholder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Goal: Choose </a:t>
                </a:r>
                <a14:m>
                  <m:oMath xmlns:m="http://schemas.openxmlformats.org/officeDocument/2006/math">
                    <m: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t> to minimize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3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J</m:t>
                    </m:r>
                    <m:d>
                      <m:dPr>
                        <m:ctrlPr>
                          <a:rPr sz="32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sz="3000"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 marL="0" indent="0" algn="ctr">
                  <a:buSzTx/>
                  <a:buNone/>
                  <a:defRPr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sz="3000"/>
              </a:p>
              <a:p>
                <a:pPr marL="0" indent="0">
                  <a:buSzTx/>
                  <a:buNone/>
                  <a:defRPr sz="30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endParaRPr sz="3000"/>
              </a:p>
              <a:p>
                <a:r>
                  <a:t>Set partial derivatives to 0 to obtain minima</a:t>
                </a:r>
              </a:p>
            </p:txBody>
          </p:sp>
        </mc:Choice>
        <mc:Fallback xmlns="">
          <p:sp>
            <p:nvSpPr>
              <p:cNvPr id="171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 rotWithShape="1">
                <a:blip r:embed="rId2"/>
                <a:stretch>
                  <a:fillRect l="-2222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85657" y="4115203"/>
            <a:ext cx="3972686" cy="7663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66107" y="4858847"/>
            <a:ext cx="4211786" cy="7663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466108" y="5726631"/>
            <a:ext cx="4211784" cy="766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283610" y="1117750"/>
            <a:ext cx="2731336" cy="6828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1" build="p" bldLvl="5" animBg="1" advAuto="0"/>
      <p:bldP spid="172" grpId="3" animBg="1" advAuto="0"/>
      <p:bldP spid="173" grpId="4" animBg="1" advAuto="0"/>
      <p:bldP spid="174" grpId="5" animBg="1" advAuto="0"/>
      <p:bldP spid="175" grpId="2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17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Simplifying the partial derivative equations,</a:t>
            </a:r>
          </a:p>
        </p:txBody>
      </p:sp>
      <p:pic>
        <p:nvPicPr>
          <p:cNvPr id="17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92300" y="2203450"/>
            <a:ext cx="5359400" cy="184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1" build="p" animBg="1" advAuto="0"/>
      <p:bldP spid="179" grpId="2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18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Simplifying the partial derivative equations,</a:t>
            </a:r>
          </a:p>
        </p:txBody>
      </p:sp>
      <p:pic>
        <p:nvPicPr>
          <p:cNvPr id="18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8412" y="2193668"/>
            <a:ext cx="4947176" cy="854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2200" y="3727450"/>
            <a:ext cx="6959600" cy="184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1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18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Simplifying the partial derivative equations,</a:t>
            </a:r>
          </a:p>
        </p:txBody>
      </p:sp>
      <p:pic>
        <p:nvPicPr>
          <p:cNvPr id="18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8412" y="2193668"/>
            <a:ext cx="4947176" cy="854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rcRect l="6079" t="48628"/>
          <a:stretch>
            <a:fillRect/>
          </a:stretch>
        </p:blipFill>
        <p:spPr>
          <a:xfrm>
            <a:off x="1303734" y="2955925"/>
            <a:ext cx="6536484" cy="946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44600" y="4324350"/>
            <a:ext cx="6959600" cy="1841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1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19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Simplifying the partial derivative equations,</a:t>
            </a:r>
          </a:p>
        </p:txBody>
      </p:sp>
      <p:pic>
        <p:nvPicPr>
          <p:cNvPr id="19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8412" y="2193668"/>
            <a:ext cx="4947176" cy="8543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rcRect l="6079" t="48628"/>
          <a:stretch>
            <a:fillRect/>
          </a:stretch>
        </p:blipFill>
        <p:spPr>
          <a:xfrm>
            <a:off x="1303734" y="2955925"/>
            <a:ext cx="6536484" cy="946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rcRect l="5694" t="47874"/>
          <a:stretch>
            <a:fillRect/>
          </a:stretch>
        </p:blipFill>
        <p:spPr>
          <a:xfrm>
            <a:off x="1290438" y="3824030"/>
            <a:ext cx="6563289" cy="959889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System of Linear Equations"/>
          <p:cNvSpPr txBox="1"/>
          <p:nvPr/>
        </p:nvSpPr>
        <p:spPr>
          <a:xfrm>
            <a:off x="2996531" y="4899408"/>
            <a:ext cx="3150936" cy="385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200">
                <a:solidFill>
                  <a:srgbClr val="E84326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System of Linear Equations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1" build="p" animBg="1" advAuto="0"/>
      <p:bldP spid="195" grpId="2" animBg="1" advAuto="0"/>
      <p:bldP spid="196" grpId="3" animBg="1" advAuto="0"/>
      <p:bldP spid="197" grpId="4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 sz="2200"/>
            </a:pPr>
            <a:r>
              <a:t>Simplifying the partial derivative equations,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endParaRPr/>
          </a:p>
          <a:p>
            <a:pPr>
              <a:defRPr sz="2200"/>
            </a:pPr>
            <a:endParaRPr/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Vectorized Form</a:t>
            </a:r>
          </a:p>
        </p:txBody>
      </p:sp>
      <p:grpSp>
        <p:nvGrpSpPr>
          <p:cNvPr id="203" name="Group"/>
          <p:cNvGrpSpPr/>
          <p:nvPr/>
        </p:nvGrpSpPr>
        <p:grpSpPr>
          <a:xfrm>
            <a:off x="2288573" y="1963526"/>
            <a:ext cx="4566855" cy="1802345"/>
            <a:chOff x="0" y="0"/>
            <a:chExt cx="4566853" cy="1802344"/>
          </a:xfrm>
        </p:grpSpPr>
        <p:pic>
          <p:nvPicPr>
            <p:cNvPr id="200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62202" y="0"/>
              <a:ext cx="3442334" cy="5944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1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6079" t="48628"/>
            <a:stretch>
              <a:fillRect/>
            </a:stretch>
          </p:blipFill>
          <p:spPr>
            <a:xfrm>
              <a:off x="9251" y="530391"/>
              <a:ext cx="4548202" cy="6582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2" name="pasted-movie.png" descr="pasted-movie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5693" t="47874"/>
            <a:stretch>
              <a:fillRect/>
            </a:stretch>
          </p:blipFill>
          <p:spPr>
            <a:xfrm>
              <a:off x="-1" y="1134435"/>
              <a:ext cx="4566854" cy="66791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4" name="Rectangle"/>
          <p:cNvSpPr/>
          <p:nvPr/>
        </p:nvSpPr>
        <p:spPr>
          <a:xfrm>
            <a:off x="2118255" y="3088706"/>
            <a:ext cx="4766828" cy="566439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05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8233" y="4184755"/>
            <a:ext cx="7267534" cy="1351172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Rectangle"/>
          <p:cNvSpPr/>
          <p:nvPr/>
        </p:nvSpPr>
        <p:spPr>
          <a:xfrm>
            <a:off x="1129876" y="4224523"/>
            <a:ext cx="3872724" cy="436289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08" name="Rectangle"/>
          <p:cNvSpPr/>
          <p:nvPr/>
        </p:nvSpPr>
        <p:spPr>
          <a:xfrm>
            <a:off x="5310801" y="4242096"/>
            <a:ext cx="727820" cy="1236680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09" name="Rectangle"/>
          <p:cNvSpPr/>
          <p:nvPr/>
        </p:nvSpPr>
        <p:spPr>
          <a:xfrm>
            <a:off x="6851684" y="4229396"/>
            <a:ext cx="831002" cy="436289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10" name="Rectangle"/>
          <p:cNvSpPr/>
          <p:nvPr/>
        </p:nvSpPr>
        <p:spPr>
          <a:xfrm>
            <a:off x="2770875" y="1987782"/>
            <a:ext cx="3737486" cy="513972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11" name="Rectangle"/>
          <p:cNvSpPr/>
          <p:nvPr/>
        </p:nvSpPr>
        <p:spPr>
          <a:xfrm>
            <a:off x="2118255" y="2518811"/>
            <a:ext cx="4766828" cy="541040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12" name="Rectangle"/>
          <p:cNvSpPr/>
          <p:nvPr/>
        </p:nvSpPr>
        <p:spPr>
          <a:xfrm>
            <a:off x="1129876" y="4642291"/>
            <a:ext cx="3872724" cy="436290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13" name="Rectangle"/>
          <p:cNvSpPr/>
          <p:nvPr/>
        </p:nvSpPr>
        <p:spPr>
          <a:xfrm>
            <a:off x="1129876" y="5007142"/>
            <a:ext cx="3872724" cy="436290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14" name="Rectangle"/>
          <p:cNvSpPr/>
          <p:nvPr/>
        </p:nvSpPr>
        <p:spPr>
          <a:xfrm>
            <a:off x="6608696" y="4642291"/>
            <a:ext cx="1316979" cy="436290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15" name="Rectangle"/>
          <p:cNvSpPr/>
          <p:nvPr/>
        </p:nvSpPr>
        <p:spPr>
          <a:xfrm>
            <a:off x="6608696" y="5007142"/>
            <a:ext cx="1316979" cy="436290"/>
          </a:xfrm>
          <a:prstGeom prst="rect">
            <a:avLst/>
          </a:prstGeom>
          <a:ln w="25400">
            <a:solidFill>
              <a:srgbClr val="E63924"/>
            </a:solidFill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grpId="1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2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16" animBg="1" advAuto="0"/>
      <p:bldP spid="204" grpId="17" animBg="1" advAuto="0"/>
      <p:bldP spid="207" grpId="1" animBg="1" advAuto="0"/>
      <p:bldP spid="207" grpId="6" animBg="1" advAuto="0"/>
      <p:bldP spid="208" grpId="2" animBg="1" advAuto="0"/>
      <p:bldP spid="208" grpId="20" animBg="1" advAuto="0"/>
      <p:bldP spid="209" grpId="3" animBg="1" advAuto="0"/>
      <p:bldP spid="209" grpId="7" animBg="1" advAuto="0"/>
      <p:bldP spid="210" grpId="4" animBg="1" advAuto="0"/>
      <p:bldP spid="210" grpId="5" animBg="1" advAuto="0"/>
      <p:bldP spid="211" grpId="10" animBg="1" advAuto="0"/>
      <p:bldP spid="211" grpId="11" animBg="1" advAuto="0"/>
      <p:bldP spid="212" grpId="8" animBg="1" advAuto="0"/>
      <p:bldP spid="212" grpId="13" animBg="1" advAuto="0"/>
      <p:bldP spid="213" grpId="14" animBg="1" advAuto="0"/>
      <p:bldP spid="213" grpId="18" animBg="1" advAuto="0"/>
      <p:bldP spid="214" grpId="9" animBg="1" advAuto="0"/>
      <p:bldP spid="214" grpId="12" animBg="1" advAuto="0"/>
      <p:bldP spid="215" grpId="15" animBg="1" advAuto="0"/>
      <p:bldP spid="215" grpId="19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21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 sz="2600"/>
            </a:pPr>
            <a:r>
              <a:t>Simplifying the partial derivative equations,</a:t>
            </a:r>
          </a:p>
          <a:p>
            <a:pPr>
              <a:defRPr sz="2600"/>
            </a:pPr>
            <a:endParaRPr/>
          </a:p>
          <a:p>
            <a:pPr>
              <a:defRPr sz="2600"/>
            </a:pPr>
            <a:endParaRPr/>
          </a:p>
          <a:p>
            <a:pPr>
              <a:defRPr sz="2600"/>
            </a:pPr>
            <a:endParaRPr/>
          </a:p>
          <a:p>
            <a:pPr>
              <a:defRPr sz="2600"/>
            </a:pPr>
            <a:r>
              <a:t>Vectorized Form</a:t>
            </a:r>
          </a:p>
        </p:txBody>
      </p:sp>
      <p:grpSp>
        <p:nvGrpSpPr>
          <p:cNvPr id="222" name="Group"/>
          <p:cNvGrpSpPr/>
          <p:nvPr/>
        </p:nvGrpSpPr>
        <p:grpSpPr>
          <a:xfrm>
            <a:off x="2363566" y="1996719"/>
            <a:ext cx="4416868" cy="1743151"/>
            <a:chOff x="0" y="0"/>
            <a:chExt cx="4416866" cy="1743149"/>
          </a:xfrm>
        </p:grpSpPr>
        <p:pic>
          <p:nvPicPr>
            <p:cNvPr id="219" name="pasted-movie.png" descr="pasted-movi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543738" y="0"/>
              <a:ext cx="3329280" cy="5749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0" name="pasted-movie.png" descr="pasted-movi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6079" t="48628"/>
            <a:stretch>
              <a:fillRect/>
            </a:stretch>
          </p:blipFill>
          <p:spPr>
            <a:xfrm>
              <a:off x="8947" y="512972"/>
              <a:ext cx="4398829" cy="6366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1" name="pasted-movie.png" descr="pasted-movie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5693" t="47873"/>
            <a:stretch>
              <a:fillRect/>
            </a:stretch>
          </p:blipFill>
          <p:spPr>
            <a:xfrm>
              <a:off x="0" y="1097177"/>
              <a:ext cx="4416867" cy="6459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23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25353" y="4077604"/>
            <a:ext cx="6148329" cy="114309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862194" y="5253542"/>
            <a:ext cx="2049124" cy="394433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is a   matrix…"/>
              <p:cNvSpPr txBox="1"/>
              <p:nvPr/>
            </p:nvSpPr>
            <p:spPr>
              <a:xfrm>
                <a:off x="1027655" y="5809225"/>
                <a:ext cx="3195932" cy="64094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45718" tIns="45718" rIns="45718" bIns="45718">
                <a:spAutoFit/>
              </a:bodyPr>
              <a:lstStyle/>
              <a:p>
                <a:pPr algn="ctr">
                  <a:defRPr sz="1900">
                    <a:solidFill>
                      <a:srgbClr val="EA3924"/>
                    </a:solidFill>
                    <a:latin typeface="Cambria Math"/>
                    <a:ea typeface="Cambria Math"/>
                    <a:cs typeface="Cambria Math"/>
                    <a:sym typeface="Cambria Math"/>
                  </a:defRPr>
                </a:pPr>
                <a14:m>
                  <m:oMath xmlns:m="http://schemas.openxmlformats.org/officeDocument/2006/math">
                    <m:r>
                      <a:rPr sz="1900" i="1">
                        <a:solidFill>
                          <a:srgbClr val="EA3924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1800">
                    <a:solidFill>
                      <a:srgbClr val="EA3A24"/>
                    </a:solidFill>
                    <a:latin typeface="+mj-lt"/>
                    <a:ea typeface="+mj-ea"/>
                    <a:cs typeface="+mj-cs"/>
                    <a:sym typeface="Calibri"/>
                  </a:rPr>
                  <a:t> is a </a:t>
                </a:r>
                <a14:m>
                  <m:oMath xmlns:m="http://schemas.openxmlformats.org/officeDocument/2006/math">
                    <m:r>
                      <a:rPr sz="1900" i="1">
                        <a:solidFill>
                          <a:srgbClr val="EA392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1900" i="1">
                        <a:solidFill>
                          <a:srgbClr val="EA3924"/>
                        </a:solidFill>
                        <a:latin typeface="Cambria Math" panose="02040503050406030204" pitchFamily="18" charset="0"/>
                      </a:rPr>
                      <m:t>×(</m:t>
                    </m:r>
                    <m:r>
                      <a:rPr sz="1900" i="1">
                        <a:solidFill>
                          <a:srgbClr val="EA3924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1900" i="1">
                        <a:solidFill>
                          <a:srgbClr val="EA3924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sz="1800">
                    <a:solidFill>
                      <a:srgbClr val="EA3A24"/>
                    </a:solidFill>
                    <a:latin typeface="+mj-lt"/>
                    <a:ea typeface="+mj-ea"/>
                    <a:cs typeface="+mj-cs"/>
                    <a:sym typeface="Calibri"/>
                  </a:rPr>
                  <a:t> matrix</a:t>
                </a:r>
                <a:endParaRPr>
                  <a:solidFill>
                    <a:srgbClr val="EA3A24"/>
                  </a:solidFill>
                  <a:latin typeface="+mj-lt"/>
                  <a:ea typeface="+mj-ea"/>
                  <a:cs typeface="+mj-cs"/>
                  <a:sym typeface="Calibri"/>
                </a:endParaRPr>
              </a:p>
              <a:p>
                <a:pPr algn="ctr">
                  <a:defRPr>
                    <a:solidFill>
                      <a:srgbClr val="EA3A24"/>
                    </a:solidFill>
                    <a:latin typeface="+mj-lt"/>
                    <a:ea typeface="+mj-ea"/>
                    <a:cs typeface="+mj-cs"/>
                    <a:sym typeface="Calibri"/>
                  </a:defRPr>
                </a:pPr>
                <a:r>
                  <a:t>Each row is a multivariate sample</a:t>
                </a:r>
              </a:p>
            </p:txBody>
          </p:sp>
        </mc:Choice>
        <mc:Fallback xmlns="">
          <p:sp>
            <p:nvSpPr>
              <p:cNvPr id="225" name="is a   matrix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655" y="5809225"/>
                <a:ext cx="3195932" cy="640945"/>
              </a:xfrm>
              <a:prstGeom prst="rect">
                <a:avLst/>
              </a:prstGeom>
              <a:blipFill rotWithShape="1">
                <a:blip r:embed="rId7"/>
                <a:stretch>
                  <a:fillRect l="-3244" t="-2857" r="-3435" b="-1714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y is a   vector…"/>
              <p:cNvSpPr txBox="1"/>
              <p:nvPr/>
            </p:nvSpPr>
            <p:spPr>
              <a:xfrm>
                <a:off x="5491449" y="5809225"/>
                <a:ext cx="2926367" cy="64094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45718" tIns="45718" rIns="45718" bIns="45718">
                <a:spAutoFit/>
              </a:bodyPr>
              <a:lstStyle/>
              <a:p>
                <a:pPr algn="ctr">
                  <a:defRPr>
                    <a:solidFill>
                      <a:srgbClr val="EA3A24"/>
                    </a:solidFill>
                    <a:latin typeface="+mj-lt"/>
                    <a:ea typeface="+mj-ea"/>
                    <a:cs typeface="+mj-cs"/>
                    <a:sym typeface="Calibri"/>
                  </a:defRPr>
                </a:pPr>
                <a:r>
                  <a:t>y is a </a:t>
                </a:r>
                <a14:m>
                  <m:oMath xmlns:m="http://schemas.openxmlformats.org/officeDocument/2006/math">
                    <m:r>
                      <a:rPr sz="1900" i="1">
                        <a:solidFill>
                          <a:srgbClr val="EA3924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1900" i="1">
                        <a:solidFill>
                          <a:srgbClr val="EA3924"/>
                        </a:solidFill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t> vector</a:t>
                </a:r>
              </a:p>
              <a:p>
                <a:pPr algn="ctr">
                  <a:defRPr>
                    <a:solidFill>
                      <a:srgbClr val="EA3A24"/>
                    </a:solidFill>
                    <a:latin typeface="+mj-lt"/>
                    <a:ea typeface="+mj-ea"/>
                    <a:cs typeface="+mj-cs"/>
                    <a:sym typeface="Calibri"/>
                  </a:defRPr>
                </a:pPr>
                <a:r>
                  <a:t>Each row is a label of a sample</a:t>
                </a:r>
              </a:p>
            </p:txBody>
          </p:sp>
        </mc:Choice>
        <mc:Fallback xmlns="">
          <p:sp>
            <p:nvSpPr>
              <p:cNvPr id="226" name="y is a   vector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449" y="5809225"/>
                <a:ext cx="2926367" cy="640945"/>
              </a:xfrm>
              <a:prstGeom prst="rect">
                <a:avLst/>
              </a:prstGeom>
              <a:blipFill rotWithShape="1">
                <a:blip r:embed="rId8"/>
                <a:stretch>
                  <a:fillRect l="-3542" t="-2857" r="-3542" b="-1714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1" animBg="1" advAuto="0"/>
      <p:bldP spid="226" grpId="2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Content Placeholder 2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defRPr sz="2600"/>
                </a:pPr>
                <a:r>
                  <a:t>Solve the system of linear equations to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28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sz="2641"/>
              </a:p>
            </p:txBody>
          </p:sp>
        </mc:Choice>
        <mc:Fallback xmlns="">
          <p:sp>
            <p:nvSpPr>
              <p:cNvPr id="229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525963"/>
              </a:xfrm>
              <a:prstGeom prst="rect">
                <a:avLst/>
              </a:prstGeom>
              <a:blipFill rotWithShape="1">
                <a:blip r:embed="rId2"/>
                <a:stretch>
                  <a:fillRect l="-1704" t="-5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47438" y="2280786"/>
            <a:ext cx="2049123" cy="39443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06310" y="3170068"/>
            <a:ext cx="3731380" cy="649626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Normal Equation"/>
          <p:cNvSpPr txBox="1"/>
          <p:nvPr/>
        </p:nvSpPr>
        <p:spPr>
          <a:xfrm>
            <a:off x="6802117" y="3262457"/>
            <a:ext cx="1673755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E93724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Normal Equation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Linear Regression</a:t>
            </a:r>
          </a:p>
        </p:txBody>
      </p:sp>
      <p:sp>
        <p:nvSpPr>
          <p:cNvPr id="23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</a:lstStyle>
          <a:p>
            <a:r>
              <a:rPr dirty="0"/>
              <a:t>Once trained predict housing prices with,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Equation"/>
              <p:cNvSpPr txBox="1"/>
              <p:nvPr/>
            </p:nvSpPr>
            <p:spPr>
              <a:xfrm>
                <a:off x="4041471" y="2226673"/>
                <a:ext cx="1687000" cy="40011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ar-AE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6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26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6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sz="2600" dirty="0"/>
              </a:p>
            </p:txBody>
          </p:sp>
        </mc:Choice>
        <mc:Fallback xmlns="">
          <p:sp>
            <p:nvSpPr>
              <p:cNvPr id="23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471" y="2226673"/>
                <a:ext cx="1687000" cy="4001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What if n &gt;&gt; 1 ??…"/>
              <p:cNvSpPr txBox="1">
                <a:spLocks noGrp="1"/>
              </p:cNvSpPr>
              <p:nvPr>
                <p:ph type="body" idx="1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dirty="0"/>
                  <a:t>What if n &gt;&gt; 1 ??</a:t>
                </a:r>
              </a:p>
              <a:p>
                <a:r>
                  <a:rPr dirty="0"/>
                  <a:t>What if d &gt;&gt; 1 ??</a:t>
                </a:r>
              </a:p>
              <a:p>
                <a:r>
                  <a:rPr dirty="0"/>
                  <a:t>What if the </a:t>
                </a:r>
                <a14:m>
                  <m:oMath xmlns:m="http://schemas.openxmlformats.org/officeDocument/2006/math"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sz="345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sz="3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3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is non-invertible?</a:t>
                </a:r>
              </a:p>
              <a:p>
                <a:r>
                  <a:rPr dirty="0"/>
                  <a:t>What if the relation between </a:t>
                </a:r>
                <a:r>
                  <a:rPr b="1" dirty="0"/>
                  <a:t>X</a:t>
                </a:r>
                <a:r>
                  <a:rPr dirty="0"/>
                  <a:t> and </a:t>
                </a:r>
                <a:r>
                  <a:rPr b="1" dirty="0"/>
                  <a:t>y</a:t>
                </a:r>
                <a:r>
                  <a:rPr dirty="0"/>
                  <a:t> are not linear?</a:t>
                </a:r>
              </a:p>
            </p:txBody>
          </p:sp>
        </mc:Choice>
        <mc:Fallback xmlns="">
          <p:sp>
            <p:nvSpPr>
              <p:cNvPr id="239" name="What if n &gt;&gt; 1 ??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222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2"/>
          </a:xfrm>
          <a:prstGeom prst="rect">
            <a:avLst/>
          </a:prstGeom>
        </p:spPr>
        <p:txBody>
          <a:bodyPr/>
          <a:lstStyle/>
          <a:p>
            <a:r>
              <a:t>Reference</a:t>
            </a:r>
          </a:p>
        </p:txBody>
      </p:sp>
      <p:sp>
        <p:nvSpPr>
          <p:cNvPr id="24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Dive into Deep Learning (d2l)</a:t>
            </a:r>
          </a:p>
          <a:p>
            <a:pPr marL="800100" lvl="1" indent="-342900">
              <a:buChar char="•"/>
            </a:pPr>
            <a:r>
              <a:t>Sections 3.1 (up to 3.1.2), 3.4</a:t>
            </a:r>
          </a:p>
          <a:p>
            <a:pPr marL="800100" lvl="1" indent="-342900">
              <a:buChar char="•"/>
            </a:pPr>
            <a:endParaRPr/>
          </a:p>
          <a:p>
            <a:endParaRPr/>
          </a:p>
          <a:p>
            <a:r>
              <a:t>Deep Learning [Optional Reading]</a:t>
            </a:r>
          </a:p>
          <a:p>
            <a:pPr marL="800100" lvl="1" indent="-342900">
              <a:buChar char="•"/>
            </a:pPr>
            <a:r>
              <a:t>Section 5.1.4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534</Words>
  <Application>Microsoft Office PowerPoint</Application>
  <PresentationFormat>On-screen Show (4:3)</PresentationFormat>
  <Paragraphs>121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Linear Regression</vt:lpstr>
      <vt:lpstr>Supervised Learning (Recap)</vt:lpstr>
      <vt:lpstr>Supervised Learning</vt:lpstr>
      <vt:lpstr>Supervised Learning</vt:lpstr>
      <vt:lpstr>Housing Price Prediction</vt:lpstr>
      <vt:lpstr>Regression vs Classification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Linear Regression</vt:lpstr>
      <vt:lpstr>PowerPoint Presentation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cp:lastModifiedBy>ismail - [2010]</cp:lastModifiedBy>
  <cp:revision>3</cp:revision>
  <dcterms:modified xsi:type="dcterms:W3CDTF">2025-12-03T04:05:52Z</dcterms:modified>
</cp:coreProperties>
</file>