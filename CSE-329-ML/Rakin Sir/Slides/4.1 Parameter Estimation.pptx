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-1934" y="-77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37A0E2-E930-BAC4-0F67-C4A14D9C1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7A68AF7-9707-10B0-2CFE-2968BE536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DEA5C31-A4CB-92EF-FC6A-DDEF60E17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663-D8DD-47DB-85BB-8043BED3F03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45015FE-001F-C527-8853-C646284AD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FC2A4B1-E981-C5FF-6902-A3EE59D5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3DDA-8BBF-454A-A3CC-855887B3B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66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1034DD-C4D4-75E4-D6E8-F869D844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A79A28-FC0B-9F6C-1F16-AA7808877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93A39D7-F79F-6C49-163C-229801381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663-D8DD-47DB-85BB-8043BED3F03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FE24BAE-B8DB-2182-0BDC-6E7794DE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2201C35-F9D5-9467-4BB9-6D65D86B3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3DDA-8BBF-454A-A3CC-855887B3B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5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3D38D2-3E24-1F98-02F3-91B7F3E6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F468B43-571E-1E20-5877-874199E24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1988787-8916-1140-F635-640205F21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663-D8DD-47DB-85BB-8043BED3F03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9FA6823-8A3C-17C4-1662-A0A6C3F0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579E54-FEA2-A3B6-D8C1-BB4A8551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3DDA-8BBF-454A-A3CC-855887B3B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2570D9-51E6-0C65-269D-4DE7C191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50E012-855F-BC95-6CEF-9E62C41E5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72F6391-603B-E6CD-20B2-B4805C508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DFC02CA-7935-1961-BAC8-545F74B84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663-D8DD-47DB-85BB-8043BED3F03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EFA4A23-94BD-C746-DDBA-52362809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C42E95B-6B5A-A5D4-D101-85F2E652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3DDA-8BBF-454A-A3CC-855887B3B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8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79AFB8-166C-F84D-0FD1-463549E0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E37EBD-E0E0-6894-28C0-03A093227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4C3CEDF-2A6C-47DF-9631-3CCED3050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ADC5C58-7C39-F83B-5F7F-F731FD31C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E9440F4-CD6F-7D72-1788-0E59E76E3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CC5D04D-ACFE-85AA-0B2E-980B6F52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663-D8DD-47DB-85BB-8043BED3F03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26F0BC1-A2FF-187F-7E43-F10C5E6B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CF2D3B1-6E4A-552F-BA8A-A400B3CD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3DDA-8BBF-454A-A3CC-855887B3B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6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9CA19-9659-E026-2F3B-1066EFA4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46BD317-AEC5-D0C2-3240-C18069E5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663-D8DD-47DB-85BB-8043BED3F03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41CD96D-608D-2A01-4D65-DEFF5828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EAB9C8A-8260-C8CE-2106-F4C9027D5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3DDA-8BBF-454A-A3CC-855887B3B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23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477E87D-A678-C6B6-6834-F6609B1C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663-D8DD-47DB-85BB-8043BED3F03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855C923-6AF2-7960-89AE-79F05060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3682C4B-76B0-175F-C7C7-2BFA3BEE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3DDA-8BBF-454A-A3CC-855887B3B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70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83381F-A7D9-F9F7-0F96-5E5338828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3A7BB3-2769-2225-5E13-991B853A3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7594A94-0BF4-921C-AB2E-B9C07AAA0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3EA641D-9839-F28E-497E-677015BC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663-D8DD-47DB-85BB-8043BED3F03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E1BBBE8-66EC-AA7C-2114-653DFA1DC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98F4E66-F8E2-585B-480F-2C9591BA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3DDA-8BBF-454A-A3CC-855887B3B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1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85219B-C0E2-A132-993A-4A98504E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AC3A8BF-4CCE-F189-5462-5E6EC2311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98EC8E6-935E-836E-7652-F1EC9537D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8CF52F0-0C19-6283-5119-DDF95F3B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663-D8DD-47DB-85BB-8043BED3F03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1B9ADED-79B8-2D8F-642D-E64A4972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52BE341-804A-6559-D61D-4BD99CFD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3DDA-8BBF-454A-A3CC-855887B3B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8E18AD-77E0-1009-9AAA-3E4BF898A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214DD1D-4A2B-EB75-C93A-B0C4642A3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EAF1C84-1EEC-59DE-74EB-0C6C8347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663-D8DD-47DB-85BB-8043BED3F03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F3D798-7CF0-7891-8712-160CCA4C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D50BB3C-B83C-BE0D-D86E-0F0AC905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3DDA-8BBF-454A-A3CC-855887B3B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0202E9D-F664-A35F-1001-3CD87EE2F8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A89C4AE-8C33-28E1-39BB-932FE8E25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5206D97-F5AF-75B9-B604-696FA3712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663-D8DD-47DB-85BB-8043BED3F03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EC1BB01-E2FB-F2DC-C4C2-A310C88C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38767A-BBE3-C897-15EF-63EB53CB1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3DDA-8BBF-454A-A3CC-855887B3B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7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0047FD9-49D2-600A-521F-806ABE2D4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A8BD35D-6CC7-5650-51CA-B2B0DFE7B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EF5FEE-DCD1-08BB-9B91-D0C5A90BC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37663-D8DD-47DB-85BB-8043BED3F03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42A8873-F786-9ECD-6E76-80D1FFECD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442FFF7-0BEB-C5FB-2C64-9E8FF9331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D3DDA-8BBF-454A-A3CC-855887B3B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2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C2DAAF-60D3-8CB4-31F2-1A5510C5B5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Probability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C2A83B8-2288-5136-9D36-D5AA68D88B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Approaches and Parameter Estimation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974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040DD5-F761-AE9F-8D0C-04D75872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vs Bayesian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89A392-1B87-AFAA-7A79-482A2FF1E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Frequentists</a:t>
            </a:r>
          </a:p>
          <a:p>
            <a:pPr lvl="1"/>
            <a:r>
              <a:rPr lang="en-US" dirty="0"/>
              <a:t>Treat parameters as fixed but unknown</a:t>
            </a:r>
          </a:p>
          <a:p>
            <a:pPr lvl="1"/>
            <a:r>
              <a:rPr lang="en-US" dirty="0"/>
              <a:t>Rely solely on observed data to make inferences</a:t>
            </a:r>
          </a:p>
          <a:p>
            <a:pPr lvl="1"/>
            <a:endParaRPr lang="en-US" dirty="0"/>
          </a:p>
          <a:p>
            <a:r>
              <a:rPr lang="en-US" dirty="0"/>
              <a:t>Bayesian</a:t>
            </a:r>
          </a:p>
          <a:p>
            <a:pPr lvl="1"/>
            <a:r>
              <a:rPr lang="en-US" dirty="0"/>
              <a:t>Treat parameters as random variables with a defined prior</a:t>
            </a:r>
          </a:p>
          <a:p>
            <a:pPr lvl="1"/>
            <a:r>
              <a:rPr lang="en-US" dirty="0"/>
              <a:t>Updated beliefs with data to form a posterior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248217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504F8E8-C13F-6397-6765-09B91D3B1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4AFB44-406B-B4B8-468A-1C6F03FE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vs Bayesian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555033A-3E18-B159-B891-C275AC092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Frequentists</a:t>
            </a:r>
          </a:p>
          <a:p>
            <a:pPr lvl="1"/>
            <a:r>
              <a:rPr lang="en-US" dirty="0"/>
              <a:t>Training data is a random draw from the population</a:t>
            </a:r>
          </a:p>
          <a:p>
            <a:pPr lvl="1"/>
            <a:r>
              <a:rPr lang="en-US" dirty="0"/>
              <a:t>Uncertainty in estimates is quantified through the sampling distribution</a:t>
            </a:r>
          </a:p>
          <a:p>
            <a:pPr lvl="1"/>
            <a:r>
              <a:rPr lang="en-US" dirty="0"/>
              <a:t>Probability is </a:t>
            </a:r>
            <a:r>
              <a:rPr lang="en-US" dirty="0">
                <a:solidFill>
                  <a:srgbClr val="FF0000"/>
                </a:solidFill>
              </a:rPr>
              <a:t>long-run frequency</a:t>
            </a:r>
          </a:p>
          <a:p>
            <a:pPr lvl="1"/>
            <a:endParaRPr lang="en-US" dirty="0"/>
          </a:p>
          <a:p>
            <a:r>
              <a:rPr lang="en-US" dirty="0"/>
              <a:t>Bayesian</a:t>
            </a:r>
          </a:p>
          <a:p>
            <a:pPr lvl="1"/>
            <a:r>
              <a:rPr lang="en-US" dirty="0"/>
              <a:t>Uncertainty in estimates is quantified through the posterior distribution</a:t>
            </a:r>
          </a:p>
          <a:p>
            <a:pPr lvl="1"/>
            <a:r>
              <a:rPr lang="en-US" dirty="0"/>
              <a:t>Probability is </a:t>
            </a:r>
            <a:r>
              <a:rPr lang="en-US" dirty="0">
                <a:solidFill>
                  <a:srgbClr val="FF0000"/>
                </a:solidFill>
              </a:rPr>
              <a:t>degree of belief</a:t>
            </a:r>
          </a:p>
        </p:txBody>
      </p:sp>
    </p:spTree>
    <p:extLst>
      <p:ext uri="{BB962C8B-B14F-4D97-AF65-F5344CB8AC3E}">
        <p14:creationId xmlns:p14="http://schemas.microsoft.com/office/powerpoint/2010/main" val="82629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E42225-FE03-C3A1-1CA4-A6D5BBB7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49F7DC1A-2222-7C26-ADC2-32C6A03309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two events A and B, </a:t>
                </a: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 smtClean="0"/>
              </a:p>
              <a:p>
                <a:pPr marL="0" indent="0" algn="ctr">
                  <a:buNone/>
                </a:pPr>
                <a:r>
                  <a:rPr lang="en-US" dirty="0" smtClean="0"/>
                  <a:t>and,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1">
                              <a:latin typeface="Cambria Math"/>
                            </a:rPr>
                            <m:t>P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i="1">
                              <a:latin typeface="Cambria Math"/>
                            </a:rPr>
                            <m:t>P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i="1">
                              <a:latin typeface="Cambria Math"/>
                            </a:rPr>
                            <m:t>P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9F7DC1A-2222-7C26-ADC2-32C6A03309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94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9803F8-58F1-657E-19B1-9392096A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59A5C3-816E-52F5-1926-37B5EEAD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1ECD8AC-7945-552B-CAA3-1017149B40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Given (training)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and a parameter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𝜃</m:t>
                    </m:r>
                    <m:r>
                      <a:rPr lang="en-US">
                        <a:latin typeface="Cambria Math"/>
                      </a:rPr>
                      <m:t> (</m:t>
                    </m:r>
                    <m:r>
                      <a:rPr lang="en-US">
                        <a:latin typeface="Cambria Math"/>
                      </a:rPr>
                      <m:t>𝑟𝑎𝑛𝑑𝑜𝑚</m:t>
                    </m:r>
                    <m:r>
                      <a:rPr lang="en-US">
                        <a:latin typeface="Cambria Math"/>
                      </a:rPr>
                      <m:t> </m:t>
                    </m:r>
                    <m:r>
                      <a:rPr lang="en-US">
                        <a:latin typeface="Cambria Math"/>
                      </a:rPr>
                      <m:t>𝑣𝑎𝑟𝑖𝑎𝑏𝑙𝑒</m:t>
                    </m:r>
                    <m:r>
                      <a:rPr lang="en-US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dirty="0"/>
                  <a:t>Likelihood,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Prior,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Evidence,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Posterior</a:t>
                </a:r>
                <a:r>
                  <a:rPr lang="en-US" dirty="0" smtClean="0"/>
                  <a:t>,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𝐷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Posterior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b="0" dirty="0"/>
                  <a:t> Likelihood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0" dirty="0"/>
                  <a:t> Prior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1ECD8AC-7945-552B-CAA3-1017149B4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397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9803F8-58F1-657E-19B1-9392096A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59A5C3-816E-52F5-1926-37B5EEAD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1ECD8AC-7945-552B-CAA3-1017149B40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Predictive distribution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, </m:t>
                          </m:r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𝐷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Integral over all values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𝜃</m:t>
                    </m:r>
                  </m:oMath>
                </a14:m>
                <a:r>
                  <a:rPr lang="en-US" dirty="0" smtClean="0"/>
                  <a:t> using the posterior probability estimated earlier.</a:t>
                </a:r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1ECD8AC-7945-552B-CAA3-1017149B4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74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0EB4A0-FA3D-0B12-50A0-82F5A3248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 Flipping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A2712BB9-1743-CFDB-6C79-203425989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Estimate the bias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of a coin, i.e., the probability of heads,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N flips of a coin has yielded k heads.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12BB9-1743-CFDB-6C79-203425989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384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B3FC0E-884C-0171-2CE9-903E720E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973C24-42DF-DADF-03C4-18F2E5CA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 Flipping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9A1562F-DCBC-CC32-3B57-1AEB42512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Frequentist Approach</a:t>
                </a:r>
              </a:p>
              <a:p>
                <a:pPr lvl="1"/>
                <a:r>
                  <a:rPr lang="en-US" dirty="0"/>
                  <a:t>Coin flips are independent and identically distributed Bernoulli trials with unknown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 fixed but unknown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The likelihood of observing </a:t>
                </a:r>
                <a:r>
                  <a:rPr lang="en-US" dirty="0" smtClean="0"/>
                  <a:t>k heads </a:t>
                </a:r>
                <a:r>
                  <a:rPr lang="en-US" dirty="0"/>
                  <a:t>out of </a:t>
                </a:r>
                <a:r>
                  <a:rPr lang="en-US" dirty="0" smtClean="0"/>
                  <a:t>n flips </a:t>
                </a:r>
                <a:r>
                  <a:rPr lang="en-US" dirty="0"/>
                  <a:t>is: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A1562F-DCBC-CC32-3B57-1AEB42512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9374" y="4483404"/>
            <a:ext cx="6419850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733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B3FC0E-884C-0171-2CE9-903E720E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973C24-42DF-DADF-03C4-18F2E5CA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 Flipping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9A1562F-DCBC-CC32-3B57-1AEB42512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Frequentist</a:t>
                </a:r>
                <a:r>
                  <a:rPr lang="en-US" dirty="0"/>
                  <a:t> </a:t>
                </a:r>
                <a:r>
                  <a:rPr lang="en-US" dirty="0" smtClean="0"/>
                  <a:t>Approach</a:t>
                </a:r>
              </a:p>
              <a:p>
                <a:pPr lvl="1"/>
                <a:r>
                  <a:rPr lang="en-US" dirty="0" smtClean="0"/>
                  <a:t>We 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𝜃</m:t>
                    </m:r>
                  </m:oMath>
                </a14:m>
                <a:r>
                  <a:rPr lang="en-US" dirty="0" smtClean="0"/>
                  <a:t> to maximize the likelihood</a:t>
                </a:r>
              </a:p>
              <a:p>
                <a:pPr lvl="1"/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𝑀𝐿𝐸</m:t>
                        </m:r>
                      </m:sub>
                    </m:sSub>
                  </m:oMath>
                </a14:m>
                <a:r>
                  <a:rPr lang="en-US" dirty="0" smtClean="0"/>
                  <a:t> is the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𝜃</m:t>
                    </m:r>
                  </m:oMath>
                </a14:m>
                <a:r>
                  <a:rPr lang="en-US" dirty="0" smtClean="0"/>
                  <a:t> that maximizes the likelihood then,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 smtClean="0"/>
              </a:p>
              <a:p>
                <a:pPr lvl="1"/>
                <a:r>
                  <a:rPr lang="en-US" dirty="0" smtClean="0"/>
                  <a:t>Since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𝑘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 smtClean="0"/>
                  <a:t> doesn’t depend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𝜃</m:t>
                    </m:r>
                  </m:oMath>
                </a14:m>
                <a:r>
                  <a:rPr lang="en-US" dirty="0" smtClean="0"/>
                  <a:t> we can maximize the log likelihood as follows,</a:t>
                </a:r>
              </a:p>
              <a:p>
                <a:pPr marL="457200" lvl="1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9A1562F-DCBC-CC32-3B57-1AEB42512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912" y="3182263"/>
            <a:ext cx="368617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250" y="9264"/>
            <a:ext cx="4729750" cy="771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261" y="4903092"/>
            <a:ext cx="6467475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443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B3FC0E-884C-0171-2CE9-903E720E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973C24-42DF-DADF-03C4-18F2E5CA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 Flipping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9A1562F-DCBC-CC32-3B57-1AEB42512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err="1" smtClean="0"/>
                  <a:t>Frequentist</a:t>
                </a:r>
                <a:r>
                  <a:rPr lang="en-US" dirty="0"/>
                  <a:t> </a:t>
                </a:r>
                <a:r>
                  <a:rPr lang="en-US" dirty="0" smtClean="0"/>
                  <a:t>Approach</a:t>
                </a:r>
                <a:endParaRPr lang="en-US" dirty="0"/>
              </a:p>
              <a:p>
                <a:pPr lvl="1"/>
                <a:r>
                  <a:rPr lang="en-US" dirty="0" smtClean="0"/>
                  <a:t>Setting derivative w.r.t.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𝜃</m:t>
                    </m:r>
                  </m:oMath>
                </a14:m>
                <a:r>
                  <a:rPr lang="en-US" dirty="0" smtClean="0"/>
                  <a:t> to zero, we obtain,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 smtClean="0"/>
              </a:p>
              <a:p>
                <a:pPr lvl="1"/>
                <a:endParaRPr lang="en-US" dirty="0"/>
              </a:p>
              <a:p>
                <a:pPr lvl="1"/>
                <a:r>
                  <a:rPr lang="en-US" dirty="0" smtClean="0"/>
                  <a:t>MLE simply yields the empirical proportion of heads observed.</a:t>
                </a:r>
              </a:p>
              <a:p>
                <a:pPr lvl="1"/>
                <a:r>
                  <a:rPr lang="en-US" dirty="0" smtClean="0"/>
                  <a:t>No priors about the bias of the coin is incorporated</a:t>
                </a:r>
              </a:p>
              <a:p>
                <a:pPr lvl="1"/>
                <a:r>
                  <a:rPr lang="en-US" dirty="0" smtClean="0"/>
                  <a:t>Often confidence intervals are reported or hypothesis tests are performed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A1562F-DCBC-CC32-3B57-1AEB42512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79" b="24032"/>
          <a:stretch/>
        </p:blipFill>
        <p:spPr bwMode="auto">
          <a:xfrm>
            <a:off x="5119688" y="2705620"/>
            <a:ext cx="1952625" cy="801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808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B3FC0E-884C-0171-2CE9-903E720E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973C24-42DF-DADF-03C4-18F2E5CA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 Flipping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9A1562F-DCBC-CC32-3B57-1AEB42512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Bayesian Approach</a:t>
                </a:r>
              </a:p>
              <a:p>
                <a:pPr lvl="1"/>
                <a:r>
                  <a:rPr lang="en-US" dirty="0" smtClean="0"/>
                  <a:t>The coin flips are </a:t>
                </a:r>
                <a:r>
                  <a:rPr lang="en-US" dirty="0" err="1" smtClean="0"/>
                  <a:t>i.i.d</a:t>
                </a:r>
                <a:r>
                  <a:rPr lang="en-US" dirty="0" smtClean="0"/>
                  <a:t>. Bernoulli trials with unknown bias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𝜃</m:t>
                    </m:r>
                  </m:oMath>
                </a14:m>
                <a:r>
                  <a:rPr lang="el-GR" dirty="0" smtClean="0"/>
                  <a:t>.</a:t>
                </a:r>
              </a:p>
              <a:p>
                <a:pPr lvl="1"/>
                <a:r>
                  <a:rPr lang="en-US" dirty="0" smtClean="0"/>
                  <a:t>Before </a:t>
                </a:r>
                <a:r>
                  <a:rPr lang="en-US" dirty="0"/>
                  <a:t>observing data, we model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𝜃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as </a:t>
                </a:r>
                <a:r>
                  <a:rPr lang="en-US" dirty="0"/>
                  <a:t>a </a:t>
                </a:r>
                <a:r>
                  <a:rPr lang="en-US" b="1" dirty="0"/>
                  <a:t>random variable</a:t>
                </a:r>
                <a:r>
                  <a:rPr lang="en-US" dirty="0"/>
                  <a:t> with a prior distribution reflecting our belief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𝜃</m:t>
                    </m:r>
                  </m:oMath>
                </a14:m>
                <a:r>
                  <a:rPr lang="el-GR" dirty="0" smtClean="0"/>
                  <a:t>.</a:t>
                </a:r>
                <a:endParaRPr lang="en-US" dirty="0" smtClean="0"/>
              </a:p>
              <a:p>
                <a:pPr lvl="1"/>
                <a:endParaRPr lang="en-US" dirty="0"/>
              </a:p>
              <a:p>
                <a:pPr lvl="1"/>
                <a:r>
                  <a:rPr lang="en-US" dirty="0" smtClean="0"/>
                  <a:t>What will be our prior distribution?</a:t>
                </a:r>
              </a:p>
              <a:p>
                <a:pPr lvl="2"/>
                <a:r>
                  <a:rPr lang="en-US" dirty="0"/>
                  <a:t>For ease of analysis, we shall pick a conjugate prior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r>
                  <a:rPr lang="en-US" dirty="0" smtClean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A1562F-DCBC-CC32-3B57-1AEB42512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62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Conjugate Prior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prior </a:t>
            </a:r>
            <a:r>
              <a:rPr lang="en-US" dirty="0" smtClean="0"/>
              <a:t>distribution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combined with a specific </a:t>
            </a:r>
            <a:r>
              <a:rPr lang="en-US" b="1" dirty="0"/>
              <a:t>likelihood function</a:t>
            </a:r>
            <a:r>
              <a:rPr lang="en-US" dirty="0"/>
              <a:t>, yields a </a:t>
            </a:r>
            <a:r>
              <a:rPr lang="en-US" b="1" dirty="0"/>
              <a:t>posterior distribution of the same family</a:t>
            </a:r>
            <a:r>
              <a:rPr lang="en-US" dirty="0"/>
              <a:t> as the prior.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1928374"/>
                  </p:ext>
                </p:extLst>
              </p:nvPr>
            </p:nvGraphicFramePr>
            <p:xfrm>
              <a:off x="1151350" y="3265390"/>
              <a:ext cx="10234809" cy="2651760"/>
            </p:xfrm>
            <a:graphic>
              <a:graphicData uri="http://schemas.openxmlformats.org/drawingml/2006/table">
                <a:tbl>
                  <a:tblPr/>
                  <a:tblGrid>
                    <a:gridCol w="2628900"/>
                    <a:gridCol w="1781306"/>
                    <a:gridCol w="2843408"/>
                    <a:gridCol w="2981195"/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Likelihood (Data Model)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/>
                            <a:t>Parameter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/>
                            <a:t>Conjugate Prior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Posterior Distribution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Bernoulli / Binomial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Beta(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𝛽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Beta(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Poisson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Gamma(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𝛽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Gamma(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𝑠𝑢𝑚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Normal (known variance)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Normal(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Normal (updated mean and variance)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Exponential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Gamma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Gamma (updated parameters)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1928374"/>
                  </p:ext>
                </p:extLst>
              </p:nvPr>
            </p:nvGraphicFramePr>
            <p:xfrm>
              <a:off x="1151350" y="3265390"/>
              <a:ext cx="10234809" cy="2651760"/>
            </p:xfrm>
            <a:graphic>
              <a:graphicData uri="http://schemas.openxmlformats.org/drawingml/2006/table">
                <a:tbl>
                  <a:tblPr/>
                  <a:tblGrid>
                    <a:gridCol w="2628900"/>
                    <a:gridCol w="1781306"/>
                    <a:gridCol w="2843408"/>
                    <a:gridCol w="2981195"/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Likelihood (Data Model)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/>
                            <a:t>Parameter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/>
                            <a:t>Conjugate Prior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Posterior Distribution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Bernoulli / Binomial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47945" t="-183333" r="-327397" b="-4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5032" t="-183333" r="-104711" b="-4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43558" t="-183333" b="-478333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Poisson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47945" t="-283333" r="-327397" b="-3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5032" t="-283333" r="-104711" b="-3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43558" t="-283333" b="-378333"/>
                          </a:stretch>
                        </a:blip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Normal (known variance)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47945" t="-219048" r="-327397" b="-1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5032" t="-219048" r="-104711" b="-1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Normal (updated mean and variance)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Exponential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47945" t="-319048" r="-327397" b="-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Gamma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Gamma (updated parameters)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655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B3FC0E-884C-0171-2CE9-903E720E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973C24-42DF-DADF-03C4-18F2E5CA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 Flipping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9A1562F-DCBC-CC32-3B57-1AEB42512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Bayesian Approach</a:t>
                </a:r>
              </a:p>
              <a:p>
                <a:pPr lvl="1"/>
                <a:r>
                  <a:rPr lang="en-US" dirty="0" smtClean="0"/>
                  <a:t>The coin flips are </a:t>
                </a:r>
                <a:r>
                  <a:rPr lang="en-US" dirty="0" err="1" smtClean="0"/>
                  <a:t>i.i.d</a:t>
                </a:r>
                <a:r>
                  <a:rPr lang="en-US" dirty="0" smtClean="0"/>
                  <a:t>. Bernoulli trials with unknown bias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𝜃</m:t>
                    </m:r>
                  </m:oMath>
                </a14:m>
                <a:r>
                  <a:rPr lang="el-GR" dirty="0" smtClean="0"/>
                  <a:t>.</a:t>
                </a:r>
              </a:p>
              <a:p>
                <a:pPr lvl="1"/>
                <a:r>
                  <a:rPr lang="en-US" dirty="0" smtClean="0"/>
                  <a:t>Before </a:t>
                </a:r>
                <a:r>
                  <a:rPr lang="en-US" dirty="0"/>
                  <a:t>observing data, we model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𝜃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as </a:t>
                </a:r>
                <a:r>
                  <a:rPr lang="en-US" dirty="0"/>
                  <a:t>a </a:t>
                </a:r>
                <a:r>
                  <a:rPr lang="en-US" b="1" dirty="0"/>
                  <a:t>random variable</a:t>
                </a:r>
                <a:r>
                  <a:rPr lang="en-US" dirty="0"/>
                  <a:t> with a prior distribution reflecting our belief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𝜃</m:t>
                    </m:r>
                  </m:oMath>
                </a14:m>
                <a:r>
                  <a:rPr lang="el-GR" dirty="0" smtClean="0"/>
                  <a:t>.</a:t>
                </a:r>
                <a:endParaRPr lang="en-US" dirty="0" smtClean="0"/>
              </a:p>
              <a:p>
                <a:pPr lvl="1"/>
                <a:endParaRPr lang="en-US" dirty="0"/>
              </a:p>
              <a:p>
                <a:pPr lvl="1"/>
                <a:r>
                  <a:rPr lang="en-US" dirty="0" smtClean="0"/>
                  <a:t>Prior</a:t>
                </a:r>
              </a:p>
              <a:p>
                <a:pPr lvl="2"/>
                <a:r>
                  <a:rPr lang="en-US" sz="2400" dirty="0"/>
                  <a:t>A </a:t>
                </a:r>
                <a:r>
                  <a:rPr lang="en-US" sz="2400" dirty="0" smtClean="0"/>
                  <a:t>conjugate </a:t>
                </a:r>
                <a:r>
                  <a:rPr lang="en-US" sz="2400" dirty="0"/>
                  <a:t>prior for Bernoulli is the </a:t>
                </a:r>
                <a:r>
                  <a:rPr lang="en-US" sz="2400" b="1" dirty="0"/>
                  <a:t>Beta </a:t>
                </a:r>
                <a:r>
                  <a:rPr lang="en-US" sz="2400" b="1" dirty="0" smtClean="0"/>
                  <a:t>distribution</a:t>
                </a:r>
              </a:p>
              <a:p>
                <a:pPr marL="914400" lvl="2" indent="0">
                  <a:buNone/>
                </a:pPr>
                <a:endParaRPr lang="en-US" sz="2400" b="1" dirty="0"/>
              </a:p>
              <a:p>
                <a:pPr marL="914400" lvl="2" indent="0">
                  <a:buNone/>
                </a:pPr>
                <a:endParaRPr lang="en-US" sz="2400" b="1" dirty="0"/>
              </a:p>
              <a:p>
                <a:pPr lvl="1"/>
                <a:r>
                  <a:rPr lang="en-US" sz="2800" dirty="0" smtClean="0"/>
                  <a:t>Likelihood</a:t>
                </a:r>
              </a:p>
              <a:p>
                <a:pPr lvl="2"/>
                <a:r>
                  <a:rPr lang="en-US" dirty="0"/>
                  <a:t>Same as </a:t>
                </a:r>
                <a:r>
                  <a:rPr lang="en-US" dirty="0" err="1"/>
                  <a:t>frequentist</a:t>
                </a:r>
                <a:r>
                  <a:rPr lang="en-US" dirty="0"/>
                  <a:t> </a:t>
                </a:r>
              </a:p>
              <a:p>
                <a:pPr marL="914400" lvl="2" indent="0">
                  <a:buNone/>
                </a:pPr>
                <a:endParaRPr lang="en-US" sz="24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A1562F-DCBC-CC32-3B57-1AEB42512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241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442" y="4565933"/>
            <a:ext cx="257175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250" y="9264"/>
            <a:ext cx="4729750" cy="771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582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B3FC0E-884C-0171-2CE9-903E720E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973C24-42DF-DADF-03C4-18F2E5CA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 Flipping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:a14="http://schemas.microsoft.com/office/drawing/2010/main" xmlns:mc="http://schemas.openxmlformats.org/markup-compatibility/2006" xmlns="" id="{69A1562F-DCBC-CC32-3B57-1AEB42512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Bayesian Approach</a:t>
            </a:r>
          </a:p>
          <a:p>
            <a:pPr lvl="1"/>
            <a:r>
              <a:rPr lang="en-US" dirty="0" smtClean="0"/>
              <a:t>According to Bayes’ theorem,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Since Beta prior distribution was used,</a:t>
            </a:r>
          </a:p>
          <a:p>
            <a:pPr marL="914400" lvl="2" indent="0">
              <a:buNone/>
            </a:pPr>
            <a:endParaRPr lang="en-US" sz="2400" dirty="0"/>
          </a:p>
          <a:p>
            <a:pPr lvl="1"/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75" y="2675089"/>
            <a:ext cx="466725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3902771"/>
            <a:ext cx="550545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565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B3FC0E-884C-0171-2CE9-903E720E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973C24-42DF-DADF-03C4-18F2E5CA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 Flipping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9A1562F-DCBC-CC32-3B57-1AEB42512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Bayesian Approach</a:t>
                </a:r>
              </a:p>
              <a:p>
                <a:pPr lvl="1"/>
                <a:r>
                  <a:rPr lang="en-US" dirty="0" smtClean="0"/>
                  <a:t>We have obtained a posterior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𝜃</m:t>
                    </m:r>
                  </m:oMath>
                </a14:m>
                <a:endParaRPr lang="en-US" b="0" dirty="0" smtClean="0"/>
              </a:p>
              <a:p>
                <a:pPr lvl="1"/>
                <a:endParaRPr lang="en-US" dirty="0" smtClean="0"/>
              </a:p>
              <a:p>
                <a:pPr lvl="1"/>
                <a:endParaRPr lang="en-US" dirty="0"/>
              </a:p>
              <a:p>
                <a:pPr lvl="1"/>
                <a:endParaRPr lang="en-US" dirty="0" smtClean="0"/>
              </a:p>
              <a:p>
                <a:pPr lvl="1"/>
                <a:r>
                  <a:rPr lang="en-US" dirty="0" smtClean="0"/>
                  <a:t>To get the best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𝜃</m:t>
                    </m:r>
                  </m:oMath>
                </a14:m>
                <a:r>
                  <a:rPr lang="en-US" dirty="0" smtClean="0"/>
                  <a:t> following the posterior, we use Maximum A Posteriori (MAP) method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9A1562F-DCBC-CC32-3B57-1AEB42512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113" y="2737850"/>
            <a:ext cx="550545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413" y="4571608"/>
            <a:ext cx="4514850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30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B3FC0E-884C-0171-2CE9-903E720E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973C24-42DF-DADF-03C4-18F2E5CA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 Flipping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9A1562F-DCBC-CC32-3B57-1AEB42512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Bayesian Approach</a:t>
                </a:r>
              </a:p>
              <a:p>
                <a:pPr lvl="1"/>
                <a:r>
                  <a:rPr lang="en-US" dirty="0" smtClean="0"/>
                  <a:t>Make predictions about the next coin flip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A1562F-DCBC-CC32-3B57-1AEB42512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612" y="2721998"/>
            <a:ext cx="6962775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749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Posterior</a:t>
            </a:r>
            <a:r>
              <a:rPr lang="en-US" dirty="0" smtClean="0"/>
              <a:t> Estimation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Posterior is intractable for most problems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How to do that?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Approximate </a:t>
            </a:r>
            <a:r>
              <a:rPr lang="en-US" dirty="0" smtClean="0">
                <a:solidFill>
                  <a:srgbClr val="FF0000"/>
                </a:solidFill>
              </a:rPr>
              <a:t>Inference (Later!!)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47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712</Words>
  <Application>Microsoft Office PowerPoint</Application>
  <PresentationFormat>Custom</PresentationFormat>
  <Paragraphs>131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Probability</vt:lpstr>
      <vt:lpstr>Frequentist vs Bayesian</vt:lpstr>
      <vt:lpstr>Frequentist vs Bayesian</vt:lpstr>
      <vt:lpstr>Bayes’ Rule</vt:lpstr>
      <vt:lpstr>Bayesian Approach</vt:lpstr>
      <vt:lpstr>Bayesian Approach</vt:lpstr>
      <vt:lpstr>Coin Flipping</vt:lpstr>
      <vt:lpstr>Coin Flipping</vt:lpstr>
      <vt:lpstr>Coin Flipping</vt:lpstr>
      <vt:lpstr>Coin Flipping</vt:lpstr>
      <vt:lpstr>Coin Flipping</vt:lpstr>
      <vt:lpstr>Conjugate Prior</vt:lpstr>
      <vt:lpstr>Coin Flipping</vt:lpstr>
      <vt:lpstr>Coin Flipping</vt:lpstr>
      <vt:lpstr>Coin Flipping</vt:lpstr>
      <vt:lpstr>Coin Flipping</vt:lpstr>
      <vt:lpstr>Posterior Estimation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Inference</dc:title>
  <dc:creator>Chowdhury Mohammad Rakin Haider</dc:creator>
  <cp:lastModifiedBy>ismail - [2010]</cp:lastModifiedBy>
  <cp:revision>21</cp:revision>
  <dcterms:created xsi:type="dcterms:W3CDTF">2025-07-15T09:09:09Z</dcterms:created>
  <dcterms:modified xsi:type="dcterms:W3CDTF">2025-12-08T04:00:10Z</dcterms:modified>
</cp:coreProperties>
</file>