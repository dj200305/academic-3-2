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7" r:id="rId6"/>
    <p:sldId id="264" r:id="rId7"/>
    <p:sldId id="260" r:id="rId8"/>
    <p:sldId id="261" r:id="rId9"/>
    <p:sldId id="268" r:id="rId10"/>
    <p:sldId id="270" r:id="rId11"/>
    <p:sldId id="262" r:id="rId12"/>
    <p:sldId id="263" r:id="rId13"/>
    <p:sldId id="269" r:id="rId14"/>
    <p:sldId id="273" r:id="rId15"/>
    <p:sldId id="272" r:id="rId16"/>
    <p:sldId id="271" r:id="rId17"/>
  </p:sldIdLst>
  <p:sldSz cx="24384000" cy="13716000"/>
  <p:notesSz cx="6858000" cy="9144000"/>
  <p:embeddedFontLst>
    <p:embeddedFont>
      <p:font typeface="Cambria Math" pitchFamily="18" charset="0"/>
      <p:regular r:id="rId19"/>
    </p:embeddedFont>
    <p:embeddedFont>
      <p:font typeface="Helvetica Neue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hIoDkBAtv+7qwIP5hQgW1x+SG7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4" d="100"/>
          <a:sy n="44" d="100"/>
        </p:scale>
        <p:origin x="-437" y="-58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47377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8B11084-883D-815C-A934-062DCC324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9D02E2D8-10D7-7FD4-11D4-56D453A9A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D9ACBBB8-E186-6C09-CC74-C510D3CF1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CB35514-1484-9CD5-4E29-82DF4157B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30F194A1-19AF-448D-BDBD-8356563CDBC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008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5F4AF9A-A8C3-1D1A-1B9B-A7F7157C6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5980A555-1311-1F3E-23C0-783D7B479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5590B81D-6AC0-3653-705A-C2B1178AD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1C5150C-8969-7ABB-F554-389743AB0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30F194A1-19AF-448D-BDBD-8356563CDB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34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body" idx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title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body" idx="2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Photo">
  <p:cSld name="Title &amp; Photo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6"/>
          <p:cNvSpPr>
            <a:spLocks noGrp="1"/>
          </p:cNvSpPr>
          <p:nvPr>
            <p:ph type="pic" idx="2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26"/>
          <p:cNvSpPr txBox="1">
            <a:spLocks noGrp="1"/>
          </p:cNvSpPr>
          <p:nvPr>
            <p:ph type="title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6"/>
          <p:cNvSpPr txBox="1">
            <a:spLocks noGrp="1"/>
          </p:cNvSpPr>
          <p:nvPr>
            <p:ph type="body" idx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body" idx="3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Photo Alt">
  <p:cSld name="Title &amp; Photo Al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7"/>
          <p:cNvSpPr>
            <a:spLocks noGrp="1"/>
          </p:cNvSpPr>
          <p:nvPr>
            <p:ph type="pic" idx="2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27"/>
          <p:cNvSpPr txBox="1">
            <a:spLocks noGrp="1"/>
          </p:cNvSpPr>
          <p:nvPr>
            <p:ph type="title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body" idx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Live Video Small">
  <p:cSld name="Title, Bullets &amp; Live Video Small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9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9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Live Video Large">
  <p:cSld name="Title, Bullets &amp; Live Video Larg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0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30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0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1"/>
          <p:cNvSpPr txBox="1">
            <a:spLocks noGrp="1"/>
          </p:cNvSpPr>
          <p:nvPr>
            <p:ph type="title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 b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1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2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3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33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2pPr>
            <a:lvl3pPr marL="1371600" lvl="2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3pPr>
            <a:lvl4pPr marL="1828800" lvl="3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3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">
  <p:cSld name="Stateme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4"/>
          <p:cNvSpPr txBox="1">
            <a:spLocks noGrp="1"/>
          </p:cNvSpPr>
          <p:nvPr>
            <p:ph type="body" idx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Fact">
  <p:cSld name="Big Fa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5"/>
          <p:cNvSpPr txBox="1">
            <a:spLocks noGrp="1"/>
          </p:cNvSpPr>
          <p:nvPr>
            <p:ph type="body" idx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body" idx="2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35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6"/>
          <p:cNvSpPr txBox="1">
            <a:spLocks noGrp="1"/>
          </p:cNvSpPr>
          <p:nvPr>
            <p:ph type="body" idx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36"/>
          <p:cNvSpPr txBox="1">
            <a:spLocks noGrp="1"/>
          </p:cNvSpPr>
          <p:nvPr>
            <p:ph type="body" idx="2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7"/>
          <p:cNvSpPr>
            <a:spLocks noGrp="1"/>
          </p:cNvSpPr>
          <p:nvPr>
            <p:ph type="pic" idx="2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7"/>
          <p:cNvSpPr>
            <a:spLocks noGrp="1"/>
          </p:cNvSpPr>
          <p:nvPr>
            <p:ph type="pic" idx="3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37"/>
          <p:cNvSpPr>
            <a:spLocks noGrp="1"/>
          </p:cNvSpPr>
          <p:nvPr>
            <p:ph type="pic" idx="4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3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8"/>
          <p:cNvSpPr>
            <a:spLocks noGrp="1"/>
          </p:cNvSpPr>
          <p:nvPr>
            <p:ph type="pic" idx="2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3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78F6DAC-A54C-4E40-F88B-4888EE17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193DE00-C3EF-9424-788F-B06CC8216C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4A87242-3570-198E-2D49-38AFADDAE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30B8092-C0D6-2CAA-DAC3-7789B0B230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lIns="182880" tIns="91440" rIns="182880" bIns="91440"/>
          <a:lstStyle/>
          <a:p>
            <a:fld id="{894B53DF-9F01-4FFA-BBB1-C80CAE80B9D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0A5AF6F-115A-6146-E675-EB1B5109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lIns="182880" tIns="91440" rIns="182880" bIns="91440"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8BAAEE6-AE0F-6B40-D482-C3E7B4A65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001499" y="13076008"/>
            <a:ext cx="368505" cy="379591"/>
          </a:xfrm>
        </p:spPr>
        <p:txBody>
          <a:bodyPr/>
          <a:lstStyle/>
          <a:p>
            <a:fld id="{B0F023B0-56AE-492D-869D-F2CCE4499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6257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A9CA6E3-E030-B885-3BC1-6B5CE9DCE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E1807C1-3540-1BC7-524E-4A5B99C2F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3496EC3-80AE-3F92-14ED-BFE43D3F0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lIns="182880" tIns="91440" rIns="182880" bIns="91440"/>
          <a:lstStyle/>
          <a:p>
            <a:fld id="{894B53DF-9F01-4FFA-BBB1-C80CAE80B9D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A569C5F-610E-37FB-C387-6F7F03DD3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lIns="182880" tIns="91440" rIns="182880" bIns="91440"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84A2223-39FF-90A5-6CD8-E1DA2C5C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001499" y="13076008"/>
            <a:ext cx="368505" cy="379591"/>
          </a:xfrm>
        </p:spPr>
        <p:txBody>
          <a:bodyPr/>
          <a:lstStyle/>
          <a:p>
            <a:fld id="{B0F023B0-56AE-492D-869D-F2CCE4499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059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1206500" y="2836038"/>
            <a:ext cx="21971000" cy="9668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marR="0" lvl="0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603503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lang="en-US" sz="3600" b="1"/>
              <a:t>CSE 329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</a:pPr>
            <a:r>
              <a:rPr lang="en-US" sz="11600" b="1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Logistic Regression</a:t>
            </a:r>
            <a:endParaRPr dirty="0"/>
          </a:p>
        </p:txBody>
      </p:sp>
      <p:sp>
        <p:nvSpPr>
          <p:cNvPr id="86" name="Google Shape;86;p1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endParaRPr sz="55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0CB6A8C-CC82-B1D5-4AA4-5D77CF241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EFCD28D-F5DB-F130-9990-394B29CA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935979CF-4D72-C8B9-9DEB-19A6D3C0013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we approximate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with a linear function.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is called parameters/weights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5979CF-4D72-C8B9-9DEB-19A6D3C001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118" t="-2381" r="-3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C4BB8DE-CAF7-9605-609B-CC184914DA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What about classification?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EE52CA1C-7A8C-ACA3-B1D4-E2325B7456FC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3986664" y="5481140"/>
            <a:ext cx="5742672" cy="194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339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DDA21CE-9291-DCF2-DFCF-4A57C27E9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1134871-3489-DEE1-A8F1-2602DFB86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84263B57-59BA-395E-B986-E597609B03F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Y is a discrete target space</a:t>
                </a:r>
              </a:p>
              <a:p>
                <a:endParaRPr lang="en-US" dirty="0"/>
              </a:p>
              <a:p>
                <a:r>
                  <a:rPr lang="en-US" dirty="0" smtClean="0"/>
                  <a:t>Commonly binary </a:t>
                </a:r>
                <a:r>
                  <a:rPr lang="en-US" dirty="0"/>
                  <a:t>classification tasks 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∈{0, 1}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Often called positive class vs negative class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4263B57-59BA-395E-B986-E597609B03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3"/>
                <a:stretch>
                  <a:fillRect l="-4059" r="-3000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>
            <a:extLst>
              <a:ext uri="{FF2B5EF4-FFF2-40B4-BE49-F238E27FC236}">
                <a16:creationId xmlns="" xmlns:a16="http://schemas.microsoft.com/office/drawing/2014/main" id="{5BAE6BAA-C5E6-4FAC-2207-077FC8E6E16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400" y="4116387"/>
            <a:ext cx="10363200" cy="7772400"/>
          </a:xfrm>
        </p:spPr>
      </p:pic>
    </p:spTree>
    <p:extLst>
      <p:ext uri="{BB962C8B-B14F-4D97-AF65-F5344CB8AC3E}">
        <p14:creationId xmlns:p14="http://schemas.microsoft.com/office/powerpoint/2010/main" val="1617951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9E76779-1460-80DF-E25C-58C36F33A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Logistic Regression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Instead of predicting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0, 1</m:t>
                        </m:r>
                      </m:e>
                    </m:d>
                  </m:oMath>
                </a14:m>
                <a:r>
                  <a:rPr lang="en-US" dirty="0" smtClean="0"/>
                  <a:t>, we can predict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ℙ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=1)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4059" r="-1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diagram of a blue and orange triangle&#10;&#10;AI-generated content may be incorrect.">
            <a:extLst>
              <a:ext uri="{FF2B5EF4-FFF2-40B4-BE49-F238E27FC236}">
                <a16:creationId xmlns="" xmlns:a16="http://schemas.microsoft.com/office/drawing/2014/main" id="{8995310E-A008-E4B3-2817-A6AB84EF52E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400" y="4116387"/>
            <a:ext cx="10363200" cy="7772400"/>
          </a:xfr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907F5CE6-7032-B7C1-963A-3B46007BBDD0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2428257" y="6268796"/>
            <a:ext cx="8859486" cy="34675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26886" y="10656498"/>
            <a:ext cx="31213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Why this function?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363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with Linear Classifier</a:t>
            </a:r>
            <a:endParaRPr lang="en-US" dirty="0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17494250" y="3273425"/>
            <a:ext cx="2068513" cy="81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Range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10179757" y="4375705"/>
            <a:ext cx="2808461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To Predict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7989550" y="4340225"/>
            <a:ext cx="206692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Middle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20788313" y="4340225"/>
            <a:ext cx="14224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Max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2430463" y="5395913"/>
            <a:ext cx="5395913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Binary Classification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11314113" y="5395913"/>
            <a:ext cx="53975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y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Freeform 14"/>
          <p:cNvSpPr>
            <a:spLocks noEditPoints="1"/>
          </p:cNvSpPr>
          <p:nvPr/>
        </p:nvSpPr>
        <p:spPr bwMode="auto">
          <a:xfrm>
            <a:off x="15713075" y="5527675"/>
            <a:ext cx="244475" cy="390525"/>
          </a:xfrm>
          <a:custGeom>
            <a:avLst/>
            <a:gdLst>
              <a:gd name="T0" fmla="*/ 160 w 321"/>
              <a:gd name="T1" fmla="*/ 31 h 511"/>
              <a:gd name="T2" fmla="*/ 118 w 321"/>
              <a:gd name="T3" fmla="*/ 46 h 511"/>
              <a:gd name="T4" fmla="*/ 90 w 321"/>
              <a:gd name="T5" fmla="*/ 89 h 511"/>
              <a:gd name="T6" fmla="*/ 76 w 321"/>
              <a:gd name="T7" fmla="*/ 158 h 511"/>
              <a:gd name="T8" fmla="*/ 71 w 321"/>
              <a:gd name="T9" fmla="*/ 249 h 511"/>
              <a:gd name="T10" fmla="*/ 93 w 321"/>
              <a:gd name="T11" fmla="*/ 424 h 511"/>
              <a:gd name="T12" fmla="*/ 162 w 321"/>
              <a:gd name="T13" fmla="*/ 480 h 511"/>
              <a:gd name="T14" fmla="*/ 228 w 321"/>
              <a:gd name="T15" fmla="*/ 428 h 511"/>
              <a:gd name="T16" fmla="*/ 249 w 321"/>
              <a:gd name="T17" fmla="*/ 265 h 511"/>
              <a:gd name="T18" fmla="*/ 238 w 321"/>
              <a:gd name="T19" fmla="*/ 129 h 511"/>
              <a:gd name="T20" fmla="*/ 208 w 321"/>
              <a:gd name="T21" fmla="*/ 54 h 511"/>
              <a:gd name="T22" fmla="*/ 160 w 321"/>
              <a:gd name="T23" fmla="*/ 31 h 511"/>
              <a:gd name="T24" fmla="*/ 162 w 321"/>
              <a:gd name="T25" fmla="*/ 0 h 511"/>
              <a:gd name="T26" fmla="*/ 281 w 321"/>
              <a:gd name="T27" fmla="*/ 62 h 511"/>
              <a:gd name="T28" fmla="*/ 321 w 321"/>
              <a:gd name="T29" fmla="*/ 249 h 511"/>
              <a:gd name="T30" fmla="*/ 279 w 321"/>
              <a:gd name="T31" fmla="*/ 445 h 511"/>
              <a:gd name="T32" fmla="*/ 156 w 321"/>
              <a:gd name="T33" fmla="*/ 511 h 511"/>
              <a:gd name="T34" fmla="*/ 38 w 321"/>
              <a:gd name="T35" fmla="*/ 449 h 511"/>
              <a:gd name="T36" fmla="*/ 0 w 321"/>
              <a:gd name="T37" fmla="*/ 260 h 511"/>
              <a:gd name="T38" fmla="*/ 12 w 321"/>
              <a:gd name="T39" fmla="*/ 144 h 511"/>
              <a:gd name="T40" fmla="*/ 45 w 321"/>
              <a:gd name="T41" fmla="*/ 63 h 511"/>
              <a:gd name="T42" fmla="*/ 97 w 321"/>
              <a:gd name="T43" fmla="*/ 15 h 511"/>
              <a:gd name="T44" fmla="*/ 162 w 321"/>
              <a:gd name="T45" fmla="*/ 0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21" h="511">
                <a:moveTo>
                  <a:pt x="160" y="31"/>
                </a:moveTo>
                <a:cubicBezTo>
                  <a:pt x="143" y="31"/>
                  <a:pt x="129" y="36"/>
                  <a:pt x="118" y="46"/>
                </a:cubicBezTo>
                <a:cubicBezTo>
                  <a:pt x="107" y="56"/>
                  <a:pt x="97" y="70"/>
                  <a:pt x="90" y="89"/>
                </a:cubicBezTo>
                <a:cubicBezTo>
                  <a:pt x="84" y="108"/>
                  <a:pt x="79" y="131"/>
                  <a:pt x="76" y="158"/>
                </a:cubicBezTo>
                <a:cubicBezTo>
                  <a:pt x="73" y="185"/>
                  <a:pt x="71" y="215"/>
                  <a:pt x="71" y="249"/>
                </a:cubicBezTo>
                <a:cubicBezTo>
                  <a:pt x="71" y="329"/>
                  <a:pt x="79" y="387"/>
                  <a:pt x="93" y="424"/>
                </a:cubicBezTo>
                <a:cubicBezTo>
                  <a:pt x="108" y="462"/>
                  <a:pt x="131" y="480"/>
                  <a:pt x="162" y="480"/>
                </a:cubicBezTo>
                <a:cubicBezTo>
                  <a:pt x="192" y="480"/>
                  <a:pt x="214" y="463"/>
                  <a:pt x="228" y="428"/>
                </a:cubicBezTo>
                <a:cubicBezTo>
                  <a:pt x="242" y="393"/>
                  <a:pt x="249" y="338"/>
                  <a:pt x="249" y="265"/>
                </a:cubicBezTo>
                <a:cubicBezTo>
                  <a:pt x="249" y="209"/>
                  <a:pt x="246" y="163"/>
                  <a:pt x="238" y="129"/>
                </a:cubicBezTo>
                <a:cubicBezTo>
                  <a:pt x="231" y="94"/>
                  <a:pt x="221" y="69"/>
                  <a:pt x="208" y="54"/>
                </a:cubicBezTo>
                <a:cubicBezTo>
                  <a:pt x="195" y="38"/>
                  <a:pt x="179" y="31"/>
                  <a:pt x="160" y="31"/>
                </a:cubicBezTo>
                <a:close/>
                <a:moveTo>
                  <a:pt x="162" y="0"/>
                </a:moveTo>
                <a:cubicBezTo>
                  <a:pt x="216" y="0"/>
                  <a:pt x="255" y="20"/>
                  <a:pt x="281" y="62"/>
                </a:cubicBezTo>
                <a:cubicBezTo>
                  <a:pt x="308" y="103"/>
                  <a:pt x="321" y="165"/>
                  <a:pt x="321" y="249"/>
                </a:cubicBezTo>
                <a:cubicBezTo>
                  <a:pt x="321" y="335"/>
                  <a:pt x="307" y="401"/>
                  <a:pt x="279" y="445"/>
                </a:cubicBezTo>
                <a:cubicBezTo>
                  <a:pt x="251" y="489"/>
                  <a:pt x="210" y="511"/>
                  <a:pt x="156" y="511"/>
                </a:cubicBezTo>
                <a:cubicBezTo>
                  <a:pt x="103" y="511"/>
                  <a:pt x="64" y="491"/>
                  <a:pt x="38" y="449"/>
                </a:cubicBezTo>
                <a:cubicBezTo>
                  <a:pt x="13" y="408"/>
                  <a:pt x="0" y="345"/>
                  <a:pt x="0" y="260"/>
                </a:cubicBezTo>
                <a:cubicBezTo>
                  <a:pt x="0" y="215"/>
                  <a:pt x="4" y="176"/>
                  <a:pt x="12" y="144"/>
                </a:cubicBezTo>
                <a:cubicBezTo>
                  <a:pt x="20" y="111"/>
                  <a:pt x="31" y="84"/>
                  <a:pt x="45" y="63"/>
                </a:cubicBezTo>
                <a:cubicBezTo>
                  <a:pt x="59" y="41"/>
                  <a:pt x="76" y="25"/>
                  <a:pt x="97" y="15"/>
                </a:cubicBezTo>
                <a:cubicBezTo>
                  <a:pt x="117" y="5"/>
                  <a:pt x="138" y="0"/>
                  <a:pt x="162" y="0"/>
                </a:cubicBez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18791238" y="5395913"/>
            <a:ext cx="4445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5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-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Freeform 16"/>
          <p:cNvSpPr>
            <a:spLocks/>
          </p:cNvSpPr>
          <p:nvPr/>
        </p:nvSpPr>
        <p:spPr bwMode="auto">
          <a:xfrm>
            <a:off x="21175663" y="5527675"/>
            <a:ext cx="222250" cy="385763"/>
          </a:xfrm>
          <a:custGeom>
            <a:avLst/>
            <a:gdLst>
              <a:gd name="T0" fmla="*/ 171 w 291"/>
              <a:gd name="T1" fmla="*/ 0 h 506"/>
              <a:gd name="T2" fmla="*/ 191 w 291"/>
              <a:gd name="T3" fmla="*/ 0 h 506"/>
              <a:gd name="T4" fmla="*/ 189 w 291"/>
              <a:gd name="T5" fmla="*/ 97 h 506"/>
              <a:gd name="T6" fmla="*/ 189 w 291"/>
              <a:gd name="T7" fmla="*/ 410 h 506"/>
              <a:gd name="T8" fmla="*/ 191 w 291"/>
              <a:gd name="T9" fmla="*/ 442 h 506"/>
              <a:gd name="T10" fmla="*/ 200 w 291"/>
              <a:gd name="T11" fmla="*/ 460 h 506"/>
              <a:gd name="T12" fmla="*/ 217 w 291"/>
              <a:gd name="T13" fmla="*/ 470 h 506"/>
              <a:gd name="T14" fmla="*/ 246 w 291"/>
              <a:gd name="T15" fmla="*/ 476 h 506"/>
              <a:gd name="T16" fmla="*/ 291 w 291"/>
              <a:gd name="T17" fmla="*/ 479 h 506"/>
              <a:gd name="T18" fmla="*/ 291 w 291"/>
              <a:gd name="T19" fmla="*/ 506 h 506"/>
              <a:gd name="T20" fmla="*/ 21 w 291"/>
              <a:gd name="T21" fmla="*/ 506 h 506"/>
              <a:gd name="T22" fmla="*/ 21 w 291"/>
              <a:gd name="T23" fmla="*/ 479 h 506"/>
              <a:gd name="T24" fmla="*/ 79 w 291"/>
              <a:gd name="T25" fmla="*/ 474 h 506"/>
              <a:gd name="T26" fmla="*/ 105 w 291"/>
              <a:gd name="T27" fmla="*/ 465 h 506"/>
              <a:gd name="T28" fmla="*/ 119 w 291"/>
              <a:gd name="T29" fmla="*/ 447 h 506"/>
              <a:gd name="T30" fmla="*/ 123 w 291"/>
              <a:gd name="T31" fmla="*/ 410 h 506"/>
              <a:gd name="T32" fmla="*/ 123 w 291"/>
              <a:gd name="T33" fmla="*/ 113 h 506"/>
              <a:gd name="T34" fmla="*/ 118 w 291"/>
              <a:gd name="T35" fmla="*/ 92 h 506"/>
              <a:gd name="T36" fmla="*/ 103 w 291"/>
              <a:gd name="T37" fmla="*/ 85 h 506"/>
              <a:gd name="T38" fmla="*/ 69 w 291"/>
              <a:gd name="T39" fmla="*/ 97 h 506"/>
              <a:gd name="T40" fmla="*/ 16 w 291"/>
              <a:gd name="T41" fmla="*/ 130 h 506"/>
              <a:gd name="T42" fmla="*/ 0 w 291"/>
              <a:gd name="T43" fmla="*/ 102 h 506"/>
              <a:gd name="T44" fmla="*/ 171 w 291"/>
              <a:gd name="T45" fmla="*/ 0 h 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91" h="506">
                <a:moveTo>
                  <a:pt x="171" y="0"/>
                </a:moveTo>
                <a:lnTo>
                  <a:pt x="191" y="0"/>
                </a:lnTo>
                <a:cubicBezTo>
                  <a:pt x="190" y="23"/>
                  <a:pt x="189" y="56"/>
                  <a:pt x="189" y="97"/>
                </a:cubicBezTo>
                <a:lnTo>
                  <a:pt x="189" y="410"/>
                </a:lnTo>
                <a:cubicBezTo>
                  <a:pt x="189" y="424"/>
                  <a:pt x="190" y="435"/>
                  <a:pt x="191" y="442"/>
                </a:cubicBezTo>
                <a:cubicBezTo>
                  <a:pt x="193" y="449"/>
                  <a:pt x="196" y="455"/>
                  <a:pt x="200" y="460"/>
                </a:cubicBezTo>
                <a:cubicBezTo>
                  <a:pt x="204" y="464"/>
                  <a:pt x="210" y="468"/>
                  <a:pt x="217" y="470"/>
                </a:cubicBezTo>
                <a:cubicBezTo>
                  <a:pt x="225" y="473"/>
                  <a:pt x="234" y="475"/>
                  <a:pt x="246" y="476"/>
                </a:cubicBezTo>
                <a:cubicBezTo>
                  <a:pt x="257" y="477"/>
                  <a:pt x="272" y="478"/>
                  <a:pt x="291" y="479"/>
                </a:cubicBezTo>
                <a:lnTo>
                  <a:pt x="291" y="506"/>
                </a:lnTo>
                <a:lnTo>
                  <a:pt x="21" y="506"/>
                </a:lnTo>
                <a:lnTo>
                  <a:pt x="21" y="479"/>
                </a:lnTo>
                <a:cubicBezTo>
                  <a:pt x="48" y="478"/>
                  <a:pt x="67" y="476"/>
                  <a:pt x="79" y="474"/>
                </a:cubicBezTo>
                <a:cubicBezTo>
                  <a:pt x="90" y="472"/>
                  <a:pt x="99" y="469"/>
                  <a:pt x="105" y="465"/>
                </a:cubicBezTo>
                <a:cubicBezTo>
                  <a:pt x="111" y="460"/>
                  <a:pt x="116" y="455"/>
                  <a:pt x="119" y="447"/>
                </a:cubicBezTo>
                <a:cubicBezTo>
                  <a:pt x="121" y="439"/>
                  <a:pt x="123" y="427"/>
                  <a:pt x="123" y="410"/>
                </a:cubicBezTo>
                <a:lnTo>
                  <a:pt x="123" y="113"/>
                </a:lnTo>
                <a:cubicBezTo>
                  <a:pt x="123" y="103"/>
                  <a:pt x="121" y="96"/>
                  <a:pt x="118" y="92"/>
                </a:cubicBezTo>
                <a:cubicBezTo>
                  <a:pt x="114" y="87"/>
                  <a:pt x="109" y="85"/>
                  <a:pt x="103" y="85"/>
                </a:cubicBezTo>
                <a:cubicBezTo>
                  <a:pt x="95" y="85"/>
                  <a:pt x="84" y="89"/>
                  <a:pt x="69" y="97"/>
                </a:cubicBezTo>
                <a:cubicBezTo>
                  <a:pt x="55" y="105"/>
                  <a:pt x="37" y="116"/>
                  <a:pt x="16" y="130"/>
                </a:cubicBezTo>
                <a:lnTo>
                  <a:pt x="0" y="102"/>
                </a:lnTo>
                <a:lnTo>
                  <a:pt x="171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2701925" y="6846888"/>
            <a:ext cx="2030413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Predict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4638675" y="6846888"/>
            <a:ext cx="2919413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Probability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9"/>
              <p:cNvSpPr>
                <a:spLocks noChangeArrowheads="1"/>
              </p:cNvSpPr>
              <p:nvPr/>
            </p:nvSpPr>
            <p:spPr bwMode="auto">
              <a:xfrm>
                <a:off x="8653463" y="6866135"/>
                <a:ext cx="5891421" cy="6155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/>
                          <a:cs typeface="Arial" pitchFamily="34" charset="0"/>
                        </a:rPr>
                        <m:t>𝑝</m:t>
                      </m:r>
                      <m:r>
                        <a:rPr kumimoji="0" lang="en-US" sz="4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/>
                          <a:cs typeface="Arial" pitchFamily="34" charset="0"/>
                        </a:rPr>
                        <m:t> = </m:t>
                      </m:r>
                      <m:r>
                        <a:rPr kumimoji="0" lang="en-US" sz="4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/>
                          <a:cs typeface="Arial" pitchFamily="34" charset="0"/>
                        </a:rPr>
                        <m:t>𝑃</m:t>
                      </m:r>
                      <m:d>
                        <m:dPr>
                          <m:ctrlPr>
                            <a:rPr kumimoji="0" lang="en-US" sz="40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</m:ctrlPr>
                        </m:dPr>
                        <m:e>
                          <m:r>
                            <a:rPr kumimoji="0" lang="en-US" sz="40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𝑦</m:t>
                          </m:r>
                          <m:r>
                            <a:rPr kumimoji="0" lang="en-US" sz="40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=1</m:t>
                          </m:r>
                        </m:e>
                      </m:d>
                      <m:r>
                        <a:rPr kumimoji="0" lang="en-US" sz="4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/>
                          <a:cs typeface="Arial" pitchFamily="34" charset="0"/>
                        </a:rPr>
                        <m:t>, </m:t>
                      </m:r>
                      <m:r>
                        <a:rPr kumimoji="0" lang="en-US" sz="4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/>
                          <a:cs typeface="Arial" pitchFamily="34" charset="0"/>
                        </a:rPr>
                        <m:t>𝑞</m:t>
                      </m:r>
                      <m:r>
                        <a:rPr kumimoji="0" lang="en-US" sz="4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/>
                          <a:cs typeface="Arial" pitchFamily="34" charset="0"/>
                        </a:rPr>
                        <m:t> =1−</m:t>
                      </m:r>
                      <m:r>
                        <a:rPr kumimoji="0" lang="en-US" sz="4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/>
                          <a:cs typeface="Arial" pitchFamily="34" charset="0"/>
                        </a:rPr>
                        <m:t>𝑝</m:t>
                      </m:r>
                      <m:r>
                        <a:rPr kumimoji="0" lang="en-US" sz="4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/>
                          <a:cs typeface="Arial" pitchFamily="34" charset="0"/>
                        </a:rPr>
                        <m:t> </m:t>
                      </m:r>
                    </m:oMath>
                  </m:oMathPara>
                </a14:m>
                <a:endPara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7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53463" y="6866135"/>
                <a:ext cx="5891421" cy="61555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reeform 22"/>
          <p:cNvSpPr>
            <a:spLocks noEditPoints="1"/>
          </p:cNvSpPr>
          <p:nvPr/>
        </p:nvSpPr>
        <p:spPr bwMode="auto">
          <a:xfrm>
            <a:off x="15713075" y="6978650"/>
            <a:ext cx="244475" cy="390525"/>
          </a:xfrm>
          <a:custGeom>
            <a:avLst/>
            <a:gdLst>
              <a:gd name="T0" fmla="*/ 160 w 321"/>
              <a:gd name="T1" fmla="*/ 31 h 512"/>
              <a:gd name="T2" fmla="*/ 118 w 321"/>
              <a:gd name="T3" fmla="*/ 46 h 512"/>
              <a:gd name="T4" fmla="*/ 90 w 321"/>
              <a:gd name="T5" fmla="*/ 90 h 512"/>
              <a:gd name="T6" fmla="*/ 76 w 321"/>
              <a:gd name="T7" fmla="*/ 158 h 512"/>
              <a:gd name="T8" fmla="*/ 71 w 321"/>
              <a:gd name="T9" fmla="*/ 250 h 512"/>
              <a:gd name="T10" fmla="*/ 93 w 321"/>
              <a:gd name="T11" fmla="*/ 425 h 512"/>
              <a:gd name="T12" fmla="*/ 162 w 321"/>
              <a:gd name="T13" fmla="*/ 481 h 512"/>
              <a:gd name="T14" fmla="*/ 228 w 321"/>
              <a:gd name="T15" fmla="*/ 428 h 512"/>
              <a:gd name="T16" fmla="*/ 249 w 321"/>
              <a:gd name="T17" fmla="*/ 265 h 512"/>
              <a:gd name="T18" fmla="*/ 238 w 321"/>
              <a:gd name="T19" fmla="*/ 129 h 512"/>
              <a:gd name="T20" fmla="*/ 208 w 321"/>
              <a:gd name="T21" fmla="*/ 54 h 512"/>
              <a:gd name="T22" fmla="*/ 160 w 321"/>
              <a:gd name="T23" fmla="*/ 31 h 512"/>
              <a:gd name="T24" fmla="*/ 162 w 321"/>
              <a:gd name="T25" fmla="*/ 0 h 512"/>
              <a:gd name="T26" fmla="*/ 281 w 321"/>
              <a:gd name="T27" fmla="*/ 62 h 512"/>
              <a:gd name="T28" fmla="*/ 321 w 321"/>
              <a:gd name="T29" fmla="*/ 249 h 512"/>
              <a:gd name="T30" fmla="*/ 279 w 321"/>
              <a:gd name="T31" fmla="*/ 445 h 512"/>
              <a:gd name="T32" fmla="*/ 156 w 321"/>
              <a:gd name="T33" fmla="*/ 512 h 512"/>
              <a:gd name="T34" fmla="*/ 38 w 321"/>
              <a:gd name="T35" fmla="*/ 450 h 512"/>
              <a:gd name="T36" fmla="*/ 0 w 321"/>
              <a:gd name="T37" fmla="*/ 261 h 512"/>
              <a:gd name="T38" fmla="*/ 12 w 321"/>
              <a:gd name="T39" fmla="*/ 144 h 512"/>
              <a:gd name="T40" fmla="*/ 45 w 321"/>
              <a:gd name="T41" fmla="*/ 63 h 512"/>
              <a:gd name="T42" fmla="*/ 97 w 321"/>
              <a:gd name="T43" fmla="*/ 16 h 512"/>
              <a:gd name="T44" fmla="*/ 162 w 321"/>
              <a:gd name="T45" fmla="*/ 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21" h="512">
                <a:moveTo>
                  <a:pt x="160" y="31"/>
                </a:moveTo>
                <a:cubicBezTo>
                  <a:pt x="143" y="31"/>
                  <a:pt x="129" y="36"/>
                  <a:pt x="118" y="46"/>
                </a:cubicBezTo>
                <a:cubicBezTo>
                  <a:pt x="107" y="56"/>
                  <a:pt x="97" y="71"/>
                  <a:pt x="90" y="90"/>
                </a:cubicBezTo>
                <a:cubicBezTo>
                  <a:pt x="84" y="108"/>
                  <a:pt x="79" y="131"/>
                  <a:pt x="76" y="158"/>
                </a:cubicBezTo>
                <a:cubicBezTo>
                  <a:pt x="73" y="185"/>
                  <a:pt x="71" y="216"/>
                  <a:pt x="71" y="250"/>
                </a:cubicBezTo>
                <a:cubicBezTo>
                  <a:pt x="71" y="329"/>
                  <a:pt x="79" y="388"/>
                  <a:pt x="93" y="425"/>
                </a:cubicBezTo>
                <a:cubicBezTo>
                  <a:pt x="108" y="462"/>
                  <a:pt x="131" y="481"/>
                  <a:pt x="162" y="481"/>
                </a:cubicBezTo>
                <a:cubicBezTo>
                  <a:pt x="192" y="481"/>
                  <a:pt x="214" y="463"/>
                  <a:pt x="228" y="428"/>
                </a:cubicBezTo>
                <a:cubicBezTo>
                  <a:pt x="242" y="393"/>
                  <a:pt x="249" y="339"/>
                  <a:pt x="249" y="265"/>
                </a:cubicBezTo>
                <a:cubicBezTo>
                  <a:pt x="249" y="209"/>
                  <a:pt x="246" y="164"/>
                  <a:pt x="238" y="129"/>
                </a:cubicBezTo>
                <a:cubicBezTo>
                  <a:pt x="231" y="94"/>
                  <a:pt x="221" y="69"/>
                  <a:pt x="208" y="54"/>
                </a:cubicBezTo>
                <a:cubicBezTo>
                  <a:pt x="195" y="39"/>
                  <a:pt x="179" y="31"/>
                  <a:pt x="160" y="31"/>
                </a:cubicBezTo>
                <a:close/>
                <a:moveTo>
                  <a:pt x="162" y="0"/>
                </a:moveTo>
                <a:cubicBezTo>
                  <a:pt x="216" y="0"/>
                  <a:pt x="255" y="21"/>
                  <a:pt x="281" y="62"/>
                </a:cubicBezTo>
                <a:cubicBezTo>
                  <a:pt x="308" y="103"/>
                  <a:pt x="321" y="166"/>
                  <a:pt x="321" y="249"/>
                </a:cubicBezTo>
                <a:cubicBezTo>
                  <a:pt x="321" y="336"/>
                  <a:pt x="307" y="401"/>
                  <a:pt x="279" y="445"/>
                </a:cubicBezTo>
                <a:cubicBezTo>
                  <a:pt x="251" y="490"/>
                  <a:pt x="210" y="512"/>
                  <a:pt x="156" y="512"/>
                </a:cubicBezTo>
                <a:cubicBezTo>
                  <a:pt x="103" y="512"/>
                  <a:pt x="64" y="491"/>
                  <a:pt x="38" y="450"/>
                </a:cubicBezTo>
                <a:cubicBezTo>
                  <a:pt x="13" y="408"/>
                  <a:pt x="0" y="345"/>
                  <a:pt x="0" y="261"/>
                </a:cubicBezTo>
                <a:cubicBezTo>
                  <a:pt x="0" y="216"/>
                  <a:pt x="4" y="177"/>
                  <a:pt x="12" y="144"/>
                </a:cubicBezTo>
                <a:cubicBezTo>
                  <a:pt x="20" y="111"/>
                  <a:pt x="31" y="84"/>
                  <a:pt x="45" y="63"/>
                </a:cubicBezTo>
                <a:cubicBezTo>
                  <a:pt x="59" y="42"/>
                  <a:pt x="76" y="26"/>
                  <a:pt x="97" y="16"/>
                </a:cubicBezTo>
                <a:cubicBezTo>
                  <a:pt x="117" y="5"/>
                  <a:pt x="138" y="0"/>
                  <a:pt x="162" y="0"/>
                </a:cubicBez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23"/>
          <p:cNvSpPr>
            <a:spLocks noEditPoints="1"/>
          </p:cNvSpPr>
          <p:nvPr/>
        </p:nvSpPr>
        <p:spPr bwMode="auto">
          <a:xfrm>
            <a:off x="18468975" y="6978650"/>
            <a:ext cx="244475" cy="390525"/>
          </a:xfrm>
          <a:custGeom>
            <a:avLst/>
            <a:gdLst>
              <a:gd name="T0" fmla="*/ 160 w 321"/>
              <a:gd name="T1" fmla="*/ 31 h 512"/>
              <a:gd name="T2" fmla="*/ 118 w 321"/>
              <a:gd name="T3" fmla="*/ 46 h 512"/>
              <a:gd name="T4" fmla="*/ 90 w 321"/>
              <a:gd name="T5" fmla="*/ 90 h 512"/>
              <a:gd name="T6" fmla="*/ 76 w 321"/>
              <a:gd name="T7" fmla="*/ 158 h 512"/>
              <a:gd name="T8" fmla="*/ 71 w 321"/>
              <a:gd name="T9" fmla="*/ 250 h 512"/>
              <a:gd name="T10" fmla="*/ 93 w 321"/>
              <a:gd name="T11" fmla="*/ 425 h 512"/>
              <a:gd name="T12" fmla="*/ 162 w 321"/>
              <a:gd name="T13" fmla="*/ 481 h 512"/>
              <a:gd name="T14" fmla="*/ 228 w 321"/>
              <a:gd name="T15" fmla="*/ 428 h 512"/>
              <a:gd name="T16" fmla="*/ 249 w 321"/>
              <a:gd name="T17" fmla="*/ 265 h 512"/>
              <a:gd name="T18" fmla="*/ 238 w 321"/>
              <a:gd name="T19" fmla="*/ 129 h 512"/>
              <a:gd name="T20" fmla="*/ 208 w 321"/>
              <a:gd name="T21" fmla="*/ 54 h 512"/>
              <a:gd name="T22" fmla="*/ 160 w 321"/>
              <a:gd name="T23" fmla="*/ 31 h 512"/>
              <a:gd name="T24" fmla="*/ 162 w 321"/>
              <a:gd name="T25" fmla="*/ 0 h 512"/>
              <a:gd name="T26" fmla="*/ 281 w 321"/>
              <a:gd name="T27" fmla="*/ 62 h 512"/>
              <a:gd name="T28" fmla="*/ 321 w 321"/>
              <a:gd name="T29" fmla="*/ 249 h 512"/>
              <a:gd name="T30" fmla="*/ 279 w 321"/>
              <a:gd name="T31" fmla="*/ 445 h 512"/>
              <a:gd name="T32" fmla="*/ 156 w 321"/>
              <a:gd name="T33" fmla="*/ 512 h 512"/>
              <a:gd name="T34" fmla="*/ 38 w 321"/>
              <a:gd name="T35" fmla="*/ 450 h 512"/>
              <a:gd name="T36" fmla="*/ 0 w 321"/>
              <a:gd name="T37" fmla="*/ 261 h 512"/>
              <a:gd name="T38" fmla="*/ 12 w 321"/>
              <a:gd name="T39" fmla="*/ 144 h 512"/>
              <a:gd name="T40" fmla="*/ 45 w 321"/>
              <a:gd name="T41" fmla="*/ 63 h 512"/>
              <a:gd name="T42" fmla="*/ 96 w 321"/>
              <a:gd name="T43" fmla="*/ 16 h 512"/>
              <a:gd name="T44" fmla="*/ 162 w 321"/>
              <a:gd name="T45" fmla="*/ 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21" h="512">
                <a:moveTo>
                  <a:pt x="160" y="31"/>
                </a:moveTo>
                <a:cubicBezTo>
                  <a:pt x="143" y="31"/>
                  <a:pt x="129" y="36"/>
                  <a:pt x="118" y="46"/>
                </a:cubicBezTo>
                <a:cubicBezTo>
                  <a:pt x="107" y="56"/>
                  <a:pt x="97" y="71"/>
                  <a:pt x="90" y="90"/>
                </a:cubicBezTo>
                <a:cubicBezTo>
                  <a:pt x="83" y="108"/>
                  <a:pt x="79" y="131"/>
                  <a:pt x="76" y="158"/>
                </a:cubicBezTo>
                <a:cubicBezTo>
                  <a:pt x="73" y="185"/>
                  <a:pt x="71" y="216"/>
                  <a:pt x="71" y="250"/>
                </a:cubicBezTo>
                <a:cubicBezTo>
                  <a:pt x="71" y="329"/>
                  <a:pt x="79" y="388"/>
                  <a:pt x="93" y="425"/>
                </a:cubicBezTo>
                <a:cubicBezTo>
                  <a:pt x="108" y="462"/>
                  <a:pt x="131" y="481"/>
                  <a:pt x="162" y="481"/>
                </a:cubicBezTo>
                <a:cubicBezTo>
                  <a:pt x="192" y="481"/>
                  <a:pt x="213" y="463"/>
                  <a:pt x="228" y="428"/>
                </a:cubicBezTo>
                <a:cubicBezTo>
                  <a:pt x="242" y="393"/>
                  <a:pt x="249" y="339"/>
                  <a:pt x="249" y="265"/>
                </a:cubicBezTo>
                <a:cubicBezTo>
                  <a:pt x="249" y="209"/>
                  <a:pt x="246" y="164"/>
                  <a:pt x="238" y="129"/>
                </a:cubicBezTo>
                <a:cubicBezTo>
                  <a:pt x="231" y="94"/>
                  <a:pt x="221" y="69"/>
                  <a:pt x="208" y="54"/>
                </a:cubicBezTo>
                <a:cubicBezTo>
                  <a:pt x="195" y="39"/>
                  <a:pt x="179" y="31"/>
                  <a:pt x="160" y="31"/>
                </a:cubicBezTo>
                <a:close/>
                <a:moveTo>
                  <a:pt x="162" y="0"/>
                </a:moveTo>
                <a:cubicBezTo>
                  <a:pt x="215" y="0"/>
                  <a:pt x="255" y="21"/>
                  <a:pt x="281" y="62"/>
                </a:cubicBezTo>
                <a:cubicBezTo>
                  <a:pt x="308" y="103"/>
                  <a:pt x="321" y="166"/>
                  <a:pt x="321" y="249"/>
                </a:cubicBezTo>
                <a:cubicBezTo>
                  <a:pt x="321" y="336"/>
                  <a:pt x="307" y="401"/>
                  <a:pt x="279" y="445"/>
                </a:cubicBezTo>
                <a:cubicBezTo>
                  <a:pt x="251" y="490"/>
                  <a:pt x="210" y="512"/>
                  <a:pt x="156" y="512"/>
                </a:cubicBezTo>
                <a:cubicBezTo>
                  <a:pt x="103" y="512"/>
                  <a:pt x="64" y="491"/>
                  <a:pt x="38" y="450"/>
                </a:cubicBezTo>
                <a:cubicBezTo>
                  <a:pt x="13" y="408"/>
                  <a:pt x="0" y="345"/>
                  <a:pt x="0" y="261"/>
                </a:cubicBezTo>
                <a:cubicBezTo>
                  <a:pt x="0" y="216"/>
                  <a:pt x="4" y="177"/>
                  <a:pt x="12" y="144"/>
                </a:cubicBezTo>
                <a:cubicBezTo>
                  <a:pt x="20" y="111"/>
                  <a:pt x="31" y="84"/>
                  <a:pt x="45" y="63"/>
                </a:cubicBezTo>
                <a:cubicBezTo>
                  <a:pt x="59" y="42"/>
                  <a:pt x="76" y="26"/>
                  <a:pt x="96" y="16"/>
                </a:cubicBezTo>
                <a:cubicBezTo>
                  <a:pt x="116" y="5"/>
                  <a:pt x="138" y="0"/>
                  <a:pt x="162" y="0"/>
                </a:cubicBez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Rectangle 24"/>
          <p:cNvSpPr>
            <a:spLocks noChangeArrowheads="1"/>
          </p:cNvSpPr>
          <p:nvPr/>
        </p:nvSpPr>
        <p:spPr bwMode="auto">
          <a:xfrm>
            <a:off x="18780125" y="7299325"/>
            <a:ext cx="55563" cy="650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25"/>
          <p:cNvSpPr>
            <a:spLocks/>
          </p:cNvSpPr>
          <p:nvPr/>
        </p:nvSpPr>
        <p:spPr bwMode="auto">
          <a:xfrm>
            <a:off x="18908713" y="6965950"/>
            <a:ext cx="231775" cy="403225"/>
          </a:xfrm>
          <a:custGeom>
            <a:avLst/>
            <a:gdLst>
              <a:gd name="T0" fmla="*/ 259 w 305"/>
              <a:gd name="T1" fmla="*/ 0 h 530"/>
              <a:gd name="T2" fmla="*/ 287 w 305"/>
              <a:gd name="T3" fmla="*/ 0 h 530"/>
              <a:gd name="T4" fmla="*/ 282 w 305"/>
              <a:gd name="T5" fmla="*/ 85 h 530"/>
              <a:gd name="T6" fmla="*/ 71 w 305"/>
              <a:gd name="T7" fmla="*/ 85 h 530"/>
              <a:gd name="T8" fmla="*/ 71 w 305"/>
              <a:gd name="T9" fmla="*/ 246 h 530"/>
              <a:gd name="T10" fmla="*/ 113 w 305"/>
              <a:gd name="T11" fmla="*/ 234 h 530"/>
              <a:gd name="T12" fmla="*/ 157 w 305"/>
              <a:gd name="T13" fmla="*/ 230 h 530"/>
              <a:gd name="T14" fmla="*/ 234 w 305"/>
              <a:gd name="T15" fmla="*/ 247 h 530"/>
              <a:gd name="T16" fmla="*/ 286 w 305"/>
              <a:gd name="T17" fmla="*/ 298 h 530"/>
              <a:gd name="T18" fmla="*/ 305 w 305"/>
              <a:gd name="T19" fmla="*/ 374 h 530"/>
              <a:gd name="T20" fmla="*/ 284 w 305"/>
              <a:gd name="T21" fmla="*/ 458 h 530"/>
              <a:gd name="T22" fmla="*/ 225 w 305"/>
              <a:gd name="T23" fmla="*/ 512 h 530"/>
              <a:gd name="T24" fmla="*/ 133 w 305"/>
              <a:gd name="T25" fmla="*/ 530 h 530"/>
              <a:gd name="T26" fmla="*/ 0 w 305"/>
              <a:gd name="T27" fmla="*/ 504 h 530"/>
              <a:gd name="T28" fmla="*/ 0 w 305"/>
              <a:gd name="T29" fmla="*/ 426 h 530"/>
              <a:gd name="T30" fmla="*/ 45 w 305"/>
              <a:gd name="T31" fmla="*/ 426 h 530"/>
              <a:gd name="T32" fmla="*/ 78 w 305"/>
              <a:gd name="T33" fmla="*/ 481 h 530"/>
              <a:gd name="T34" fmla="*/ 135 w 305"/>
              <a:gd name="T35" fmla="*/ 499 h 530"/>
              <a:gd name="T36" fmla="*/ 209 w 305"/>
              <a:gd name="T37" fmla="*/ 469 h 530"/>
              <a:gd name="T38" fmla="*/ 234 w 305"/>
              <a:gd name="T39" fmla="*/ 382 h 530"/>
              <a:gd name="T40" fmla="*/ 221 w 305"/>
              <a:gd name="T41" fmla="*/ 318 h 530"/>
              <a:gd name="T42" fmla="*/ 185 w 305"/>
              <a:gd name="T43" fmla="*/ 281 h 530"/>
              <a:gd name="T44" fmla="*/ 133 w 305"/>
              <a:gd name="T45" fmla="*/ 269 h 530"/>
              <a:gd name="T46" fmla="*/ 90 w 305"/>
              <a:gd name="T47" fmla="*/ 273 h 530"/>
              <a:gd name="T48" fmla="*/ 52 w 305"/>
              <a:gd name="T49" fmla="*/ 282 h 530"/>
              <a:gd name="T50" fmla="*/ 22 w 305"/>
              <a:gd name="T51" fmla="*/ 265 h 530"/>
              <a:gd name="T52" fmla="*/ 22 w 305"/>
              <a:gd name="T53" fmla="*/ 24 h 530"/>
              <a:gd name="T54" fmla="*/ 224 w 305"/>
              <a:gd name="T55" fmla="*/ 24 h 530"/>
              <a:gd name="T56" fmla="*/ 242 w 305"/>
              <a:gd name="T57" fmla="*/ 22 h 530"/>
              <a:gd name="T58" fmla="*/ 251 w 305"/>
              <a:gd name="T59" fmla="*/ 16 h 530"/>
              <a:gd name="T60" fmla="*/ 259 w 305"/>
              <a:gd name="T61" fmla="*/ 0 h 5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305" h="530">
                <a:moveTo>
                  <a:pt x="259" y="0"/>
                </a:moveTo>
                <a:lnTo>
                  <a:pt x="287" y="0"/>
                </a:lnTo>
                <a:lnTo>
                  <a:pt x="282" y="85"/>
                </a:lnTo>
                <a:lnTo>
                  <a:pt x="71" y="85"/>
                </a:lnTo>
                <a:lnTo>
                  <a:pt x="71" y="246"/>
                </a:lnTo>
                <a:cubicBezTo>
                  <a:pt x="84" y="240"/>
                  <a:pt x="98" y="236"/>
                  <a:pt x="113" y="234"/>
                </a:cubicBezTo>
                <a:cubicBezTo>
                  <a:pt x="127" y="231"/>
                  <a:pt x="142" y="230"/>
                  <a:pt x="157" y="230"/>
                </a:cubicBezTo>
                <a:cubicBezTo>
                  <a:pt x="186" y="230"/>
                  <a:pt x="212" y="235"/>
                  <a:pt x="234" y="247"/>
                </a:cubicBezTo>
                <a:cubicBezTo>
                  <a:pt x="257" y="259"/>
                  <a:pt x="274" y="276"/>
                  <a:pt x="286" y="298"/>
                </a:cubicBezTo>
                <a:cubicBezTo>
                  <a:pt x="299" y="320"/>
                  <a:pt x="305" y="345"/>
                  <a:pt x="305" y="374"/>
                </a:cubicBezTo>
                <a:cubicBezTo>
                  <a:pt x="305" y="407"/>
                  <a:pt x="298" y="435"/>
                  <a:pt x="284" y="458"/>
                </a:cubicBezTo>
                <a:cubicBezTo>
                  <a:pt x="271" y="481"/>
                  <a:pt x="251" y="499"/>
                  <a:pt x="225" y="512"/>
                </a:cubicBezTo>
                <a:cubicBezTo>
                  <a:pt x="199" y="524"/>
                  <a:pt x="168" y="530"/>
                  <a:pt x="133" y="530"/>
                </a:cubicBezTo>
                <a:cubicBezTo>
                  <a:pt x="91" y="530"/>
                  <a:pt x="47" y="521"/>
                  <a:pt x="0" y="504"/>
                </a:cubicBezTo>
                <a:lnTo>
                  <a:pt x="0" y="426"/>
                </a:lnTo>
                <a:lnTo>
                  <a:pt x="45" y="426"/>
                </a:lnTo>
                <a:cubicBezTo>
                  <a:pt x="52" y="451"/>
                  <a:pt x="63" y="469"/>
                  <a:pt x="78" y="481"/>
                </a:cubicBezTo>
                <a:cubicBezTo>
                  <a:pt x="93" y="493"/>
                  <a:pt x="112" y="499"/>
                  <a:pt x="135" y="499"/>
                </a:cubicBezTo>
                <a:cubicBezTo>
                  <a:pt x="168" y="499"/>
                  <a:pt x="192" y="489"/>
                  <a:pt x="209" y="469"/>
                </a:cubicBezTo>
                <a:cubicBezTo>
                  <a:pt x="225" y="450"/>
                  <a:pt x="234" y="421"/>
                  <a:pt x="234" y="382"/>
                </a:cubicBezTo>
                <a:cubicBezTo>
                  <a:pt x="234" y="356"/>
                  <a:pt x="229" y="335"/>
                  <a:pt x="221" y="318"/>
                </a:cubicBezTo>
                <a:cubicBezTo>
                  <a:pt x="212" y="301"/>
                  <a:pt x="200" y="288"/>
                  <a:pt x="185" y="281"/>
                </a:cubicBezTo>
                <a:cubicBezTo>
                  <a:pt x="170" y="273"/>
                  <a:pt x="153" y="269"/>
                  <a:pt x="133" y="269"/>
                </a:cubicBezTo>
                <a:cubicBezTo>
                  <a:pt x="116" y="269"/>
                  <a:pt x="102" y="270"/>
                  <a:pt x="90" y="273"/>
                </a:cubicBezTo>
                <a:cubicBezTo>
                  <a:pt x="78" y="275"/>
                  <a:pt x="65" y="278"/>
                  <a:pt x="52" y="282"/>
                </a:cubicBezTo>
                <a:lnTo>
                  <a:pt x="22" y="265"/>
                </a:lnTo>
                <a:lnTo>
                  <a:pt x="22" y="24"/>
                </a:lnTo>
                <a:lnTo>
                  <a:pt x="224" y="24"/>
                </a:lnTo>
                <a:cubicBezTo>
                  <a:pt x="233" y="24"/>
                  <a:pt x="239" y="23"/>
                  <a:pt x="242" y="22"/>
                </a:cubicBezTo>
                <a:cubicBezTo>
                  <a:pt x="246" y="21"/>
                  <a:pt x="249" y="19"/>
                  <a:pt x="251" y="16"/>
                </a:cubicBezTo>
                <a:cubicBezTo>
                  <a:pt x="253" y="13"/>
                  <a:pt x="256" y="8"/>
                  <a:pt x="259" y="0"/>
                </a:cubicBez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26"/>
          <p:cNvSpPr>
            <a:spLocks/>
          </p:cNvSpPr>
          <p:nvPr/>
        </p:nvSpPr>
        <p:spPr bwMode="auto">
          <a:xfrm>
            <a:off x="21175663" y="6978650"/>
            <a:ext cx="222250" cy="385763"/>
          </a:xfrm>
          <a:custGeom>
            <a:avLst/>
            <a:gdLst>
              <a:gd name="T0" fmla="*/ 171 w 291"/>
              <a:gd name="T1" fmla="*/ 0 h 506"/>
              <a:gd name="T2" fmla="*/ 191 w 291"/>
              <a:gd name="T3" fmla="*/ 0 h 506"/>
              <a:gd name="T4" fmla="*/ 189 w 291"/>
              <a:gd name="T5" fmla="*/ 98 h 506"/>
              <a:gd name="T6" fmla="*/ 189 w 291"/>
              <a:gd name="T7" fmla="*/ 410 h 506"/>
              <a:gd name="T8" fmla="*/ 191 w 291"/>
              <a:gd name="T9" fmla="*/ 442 h 506"/>
              <a:gd name="T10" fmla="*/ 200 w 291"/>
              <a:gd name="T11" fmla="*/ 460 h 506"/>
              <a:gd name="T12" fmla="*/ 217 w 291"/>
              <a:gd name="T13" fmla="*/ 471 h 506"/>
              <a:gd name="T14" fmla="*/ 246 w 291"/>
              <a:gd name="T15" fmla="*/ 476 h 506"/>
              <a:gd name="T16" fmla="*/ 291 w 291"/>
              <a:gd name="T17" fmla="*/ 479 h 506"/>
              <a:gd name="T18" fmla="*/ 291 w 291"/>
              <a:gd name="T19" fmla="*/ 506 h 506"/>
              <a:gd name="T20" fmla="*/ 21 w 291"/>
              <a:gd name="T21" fmla="*/ 506 h 506"/>
              <a:gd name="T22" fmla="*/ 21 w 291"/>
              <a:gd name="T23" fmla="*/ 479 h 506"/>
              <a:gd name="T24" fmla="*/ 79 w 291"/>
              <a:gd name="T25" fmla="*/ 474 h 506"/>
              <a:gd name="T26" fmla="*/ 105 w 291"/>
              <a:gd name="T27" fmla="*/ 465 h 506"/>
              <a:gd name="T28" fmla="*/ 119 w 291"/>
              <a:gd name="T29" fmla="*/ 447 h 506"/>
              <a:gd name="T30" fmla="*/ 123 w 291"/>
              <a:gd name="T31" fmla="*/ 410 h 506"/>
              <a:gd name="T32" fmla="*/ 123 w 291"/>
              <a:gd name="T33" fmla="*/ 113 h 506"/>
              <a:gd name="T34" fmla="*/ 118 w 291"/>
              <a:gd name="T35" fmla="*/ 92 h 506"/>
              <a:gd name="T36" fmla="*/ 103 w 291"/>
              <a:gd name="T37" fmla="*/ 85 h 506"/>
              <a:gd name="T38" fmla="*/ 69 w 291"/>
              <a:gd name="T39" fmla="*/ 97 h 506"/>
              <a:gd name="T40" fmla="*/ 16 w 291"/>
              <a:gd name="T41" fmla="*/ 131 h 506"/>
              <a:gd name="T42" fmla="*/ 0 w 291"/>
              <a:gd name="T43" fmla="*/ 102 h 506"/>
              <a:gd name="T44" fmla="*/ 171 w 291"/>
              <a:gd name="T45" fmla="*/ 0 h 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91" h="506">
                <a:moveTo>
                  <a:pt x="171" y="0"/>
                </a:moveTo>
                <a:lnTo>
                  <a:pt x="191" y="0"/>
                </a:lnTo>
                <a:cubicBezTo>
                  <a:pt x="190" y="24"/>
                  <a:pt x="189" y="56"/>
                  <a:pt x="189" y="98"/>
                </a:cubicBezTo>
                <a:lnTo>
                  <a:pt x="189" y="410"/>
                </a:lnTo>
                <a:cubicBezTo>
                  <a:pt x="189" y="425"/>
                  <a:pt x="190" y="435"/>
                  <a:pt x="191" y="442"/>
                </a:cubicBezTo>
                <a:cubicBezTo>
                  <a:pt x="193" y="450"/>
                  <a:pt x="196" y="455"/>
                  <a:pt x="200" y="460"/>
                </a:cubicBezTo>
                <a:cubicBezTo>
                  <a:pt x="204" y="465"/>
                  <a:pt x="210" y="468"/>
                  <a:pt x="217" y="471"/>
                </a:cubicBezTo>
                <a:cubicBezTo>
                  <a:pt x="225" y="473"/>
                  <a:pt x="234" y="475"/>
                  <a:pt x="246" y="476"/>
                </a:cubicBezTo>
                <a:cubicBezTo>
                  <a:pt x="257" y="478"/>
                  <a:pt x="272" y="479"/>
                  <a:pt x="291" y="479"/>
                </a:cubicBezTo>
                <a:lnTo>
                  <a:pt x="291" y="506"/>
                </a:lnTo>
                <a:lnTo>
                  <a:pt x="21" y="506"/>
                </a:lnTo>
                <a:lnTo>
                  <a:pt x="21" y="479"/>
                </a:lnTo>
                <a:cubicBezTo>
                  <a:pt x="48" y="478"/>
                  <a:pt x="67" y="476"/>
                  <a:pt x="79" y="474"/>
                </a:cubicBezTo>
                <a:cubicBezTo>
                  <a:pt x="90" y="472"/>
                  <a:pt x="99" y="469"/>
                  <a:pt x="105" y="465"/>
                </a:cubicBezTo>
                <a:cubicBezTo>
                  <a:pt x="111" y="461"/>
                  <a:pt x="116" y="455"/>
                  <a:pt x="119" y="447"/>
                </a:cubicBezTo>
                <a:cubicBezTo>
                  <a:pt x="121" y="440"/>
                  <a:pt x="123" y="427"/>
                  <a:pt x="123" y="410"/>
                </a:cubicBezTo>
                <a:lnTo>
                  <a:pt x="123" y="113"/>
                </a:lnTo>
                <a:cubicBezTo>
                  <a:pt x="123" y="104"/>
                  <a:pt x="121" y="96"/>
                  <a:pt x="118" y="92"/>
                </a:cubicBezTo>
                <a:cubicBezTo>
                  <a:pt x="114" y="87"/>
                  <a:pt x="109" y="85"/>
                  <a:pt x="103" y="85"/>
                </a:cubicBezTo>
                <a:cubicBezTo>
                  <a:pt x="95" y="85"/>
                  <a:pt x="84" y="89"/>
                  <a:pt x="69" y="97"/>
                </a:cubicBezTo>
                <a:cubicBezTo>
                  <a:pt x="55" y="105"/>
                  <a:pt x="37" y="116"/>
                  <a:pt x="16" y="131"/>
                </a:cubicBezTo>
                <a:lnTo>
                  <a:pt x="0" y="102"/>
                </a:lnTo>
                <a:lnTo>
                  <a:pt x="171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Rectangle 27"/>
          <p:cNvSpPr>
            <a:spLocks noChangeArrowheads="1"/>
          </p:cNvSpPr>
          <p:nvPr/>
        </p:nvSpPr>
        <p:spPr bwMode="auto">
          <a:xfrm>
            <a:off x="4321175" y="8297863"/>
            <a:ext cx="1617663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Odds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8"/>
              <p:cNvSpPr>
                <a:spLocks noChangeArrowheads="1"/>
              </p:cNvSpPr>
              <p:nvPr/>
            </p:nvSpPr>
            <p:spPr bwMode="auto">
              <a:xfrm>
                <a:off x="11505819" y="8160128"/>
                <a:ext cx="1064202" cy="926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32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kumimoji="0" lang="en-US" sz="32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𝑝</m:t>
                          </m:r>
                        </m:num>
                        <m:den>
                          <m:r>
                            <a:rPr kumimoji="0" lang="en-US" sz="32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1−</m:t>
                          </m:r>
                          <m:r>
                            <a:rPr kumimoji="0" lang="en-US" sz="32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kumimoji="0" lang="en-US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6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505819" y="8160128"/>
                <a:ext cx="1064202" cy="92634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Freeform 29"/>
          <p:cNvSpPr>
            <a:spLocks noEditPoints="1"/>
          </p:cNvSpPr>
          <p:nvPr/>
        </p:nvSpPr>
        <p:spPr bwMode="auto">
          <a:xfrm>
            <a:off x="15713075" y="8431213"/>
            <a:ext cx="244475" cy="388938"/>
          </a:xfrm>
          <a:custGeom>
            <a:avLst/>
            <a:gdLst>
              <a:gd name="T0" fmla="*/ 160 w 321"/>
              <a:gd name="T1" fmla="*/ 31 h 511"/>
              <a:gd name="T2" fmla="*/ 118 w 321"/>
              <a:gd name="T3" fmla="*/ 46 h 511"/>
              <a:gd name="T4" fmla="*/ 90 w 321"/>
              <a:gd name="T5" fmla="*/ 89 h 511"/>
              <a:gd name="T6" fmla="*/ 76 w 321"/>
              <a:gd name="T7" fmla="*/ 158 h 511"/>
              <a:gd name="T8" fmla="*/ 71 w 321"/>
              <a:gd name="T9" fmla="*/ 249 h 511"/>
              <a:gd name="T10" fmla="*/ 93 w 321"/>
              <a:gd name="T11" fmla="*/ 424 h 511"/>
              <a:gd name="T12" fmla="*/ 162 w 321"/>
              <a:gd name="T13" fmla="*/ 480 h 511"/>
              <a:gd name="T14" fmla="*/ 228 w 321"/>
              <a:gd name="T15" fmla="*/ 428 h 511"/>
              <a:gd name="T16" fmla="*/ 249 w 321"/>
              <a:gd name="T17" fmla="*/ 265 h 511"/>
              <a:gd name="T18" fmla="*/ 238 w 321"/>
              <a:gd name="T19" fmla="*/ 128 h 511"/>
              <a:gd name="T20" fmla="*/ 208 w 321"/>
              <a:gd name="T21" fmla="*/ 53 h 511"/>
              <a:gd name="T22" fmla="*/ 160 w 321"/>
              <a:gd name="T23" fmla="*/ 31 h 511"/>
              <a:gd name="T24" fmla="*/ 162 w 321"/>
              <a:gd name="T25" fmla="*/ 0 h 511"/>
              <a:gd name="T26" fmla="*/ 281 w 321"/>
              <a:gd name="T27" fmla="*/ 62 h 511"/>
              <a:gd name="T28" fmla="*/ 321 w 321"/>
              <a:gd name="T29" fmla="*/ 249 h 511"/>
              <a:gd name="T30" fmla="*/ 279 w 321"/>
              <a:gd name="T31" fmla="*/ 445 h 511"/>
              <a:gd name="T32" fmla="*/ 156 w 321"/>
              <a:gd name="T33" fmla="*/ 511 h 511"/>
              <a:gd name="T34" fmla="*/ 38 w 321"/>
              <a:gd name="T35" fmla="*/ 449 h 511"/>
              <a:gd name="T36" fmla="*/ 0 w 321"/>
              <a:gd name="T37" fmla="*/ 260 h 511"/>
              <a:gd name="T38" fmla="*/ 12 w 321"/>
              <a:gd name="T39" fmla="*/ 144 h 511"/>
              <a:gd name="T40" fmla="*/ 45 w 321"/>
              <a:gd name="T41" fmla="*/ 62 h 511"/>
              <a:gd name="T42" fmla="*/ 97 w 321"/>
              <a:gd name="T43" fmla="*/ 15 h 511"/>
              <a:gd name="T44" fmla="*/ 162 w 321"/>
              <a:gd name="T45" fmla="*/ 0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21" h="511">
                <a:moveTo>
                  <a:pt x="160" y="31"/>
                </a:moveTo>
                <a:cubicBezTo>
                  <a:pt x="143" y="31"/>
                  <a:pt x="129" y="36"/>
                  <a:pt x="118" y="46"/>
                </a:cubicBezTo>
                <a:cubicBezTo>
                  <a:pt x="107" y="56"/>
                  <a:pt x="97" y="70"/>
                  <a:pt x="90" y="89"/>
                </a:cubicBezTo>
                <a:cubicBezTo>
                  <a:pt x="84" y="108"/>
                  <a:pt x="79" y="131"/>
                  <a:pt x="76" y="158"/>
                </a:cubicBezTo>
                <a:cubicBezTo>
                  <a:pt x="73" y="185"/>
                  <a:pt x="71" y="215"/>
                  <a:pt x="71" y="249"/>
                </a:cubicBezTo>
                <a:cubicBezTo>
                  <a:pt x="71" y="329"/>
                  <a:pt x="79" y="387"/>
                  <a:pt x="93" y="424"/>
                </a:cubicBezTo>
                <a:cubicBezTo>
                  <a:pt x="108" y="462"/>
                  <a:pt x="131" y="480"/>
                  <a:pt x="162" y="480"/>
                </a:cubicBezTo>
                <a:cubicBezTo>
                  <a:pt x="192" y="480"/>
                  <a:pt x="214" y="463"/>
                  <a:pt x="228" y="428"/>
                </a:cubicBezTo>
                <a:cubicBezTo>
                  <a:pt x="242" y="393"/>
                  <a:pt x="249" y="338"/>
                  <a:pt x="249" y="265"/>
                </a:cubicBezTo>
                <a:cubicBezTo>
                  <a:pt x="249" y="209"/>
                  <a:pt x="246" y="163"/>
                  <a:pt x="238" y="128"/>
                </a:cubicBezTo>
                <a:cubicBezTo>
                  <a:pt x="231" y="94"/>
                  <a:pt x="221" y="69"/>
                  <a:pt x="208" y="53"/>
                </a:cubicBezTo>
                <a:cubicBezTo>
                  <a:pt x="195" y="38"/>
                  <a:pt x="179" y="31"/>
                  <a:pt x="160" y="31"/>
                </a:cubicBezTo>
                <a:close/>
                <a:moveTo>
                  <a:pt x="162" y="0"/>
                </a:moveTo>
                <a:cubicBezTo>
                  <a:pt x="216" y="0"/>
                  <a:pt x="255" y="20"/>
                  <a:pt x="281" y="62"/>
                </a:cubicBezTo>
                <a:cubicBezTo>
                  <a:pt x="308" y="103"/>
                  <a:pt x="321" y="165"/>
                  <a:pt x="321" y="249"/>
                </a:cubicBezTo>
                <a:cubicBezTo>
                  <a:pt x="321" y="335"/>
                  <a:pt x="307" y="400"/>
                  <a:pt x="279" y="445"/>
                </a:cubicBezTo>
                <a:cubicBezTo>
                  <a:pt x="251" y="489"/>
                  <a:pt x="210" y="511"/>
                  <a:pt x="156" y="511"/>
                </a:cubicBezTo>
                <a:cubicBezTo>
                  <a:pt x="103" y="511"/>
                  <a:pt x="64" y="491"/>
                  <a:pt x="38" y="449"/>
                </a:cubicBezTo>
                <a:cubicBezTo>
                  <a:pt x="13" y="407"/>
                  <a:pt x="0" y="345"/>
                  <a:pt x="0" y="260"/>
                </a:cubicBezTo>
                <a:cubicBezTo>
                  <a:pt x="0" y="215"/>
                  <a:pt x="4" y="176"/>
                  <a:pt x="12" y="144"/>
                </a:cubicBezTo>
                <a:cubicBezTo>
                  <a:pt x="20" y="111"/>
                  <a:pt x="31" y="84"/>
                  <a:pt x="45" y="62"/>
                </a:cubicBezTo>
                <a:cubicBezTo>
                  <a:pt x="59" y="41"/>
                  <a:pt x="76" y="25"/>
                  <a:pt x="97" y="15"/>
                </a:cubicBezTo>
                <a:cubicBezTo>
                  <a:pt x="117" y="5"/>
                  <a:pt x="138" y="0"/>
                  <a:pt x="162" y="0"/>
                </a:cubicBez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Freeform 30"/>
          <p:cNvSpPr>
            <a:spLocks/>
          </p:cNvSpPr>
          <p:nvPr/>
        </p:nvSpPr>
        <p:spPr bwMode="auto">
          <a:xfrm>
            <a:off x="18699163" y="8431213"/>
            <a:ext cx="222250" cy="384175"/>
          </a:xfrm>
          <a:custGeom>
            <a:avLst/>
            <a:gdLst>
              <a:gd name="T0" fmla="*/ 171 w 291"/>
              <a:gd name="T1" fmla="*/ 0 h 505"/>
              <a:gd name="T2" fmla="*/ 191 w 291"/>
              <a:gd name="T3" fmla="*/ 0 h 505"/>
              <a:gd name="T4" fmla="*/ 189 w 291"/>
              <a:gd name="T5" fmla="*/ 97 h 505"/>
              <a:gd name="T6" fmla="*/ 189 w 291"/>
              <a:gd name="T7" fmla="*/ 410 h 505"/>
              <a:gd name="T8" fmla="*/ 191 w 291"/>
              <a:gd name="T9" fmla="*/ 442 h 505"/>
              <a:gd name="T10" fmla="*/ 200 w 291"/>
              <a:gd name="T11" fmla="*/ 459 h 505"/>
              <a:gd name="T12" fmla="*/ 217 w 291"/>
              <a:gd name="T13" fmla="*/ 470 h 505"/>
              <a:gd name="T14" fmla="*/ 246 w 291"/>
              <a:gd name="T15" fmla="*/ 476 h 505"/>
              <a:gd name="T16" fmla="*/ 291 w 291"/>
              <a:gd name="T17" fmla="*/ 479 h 505"/>
              <a:gd name="T18" fmla="*/ 291 w 291"/>
              <a:gd name="T19" fmla="*/ 505 h 505"/>
              <a:gd name="T20" fmla="*/ 21 w 291"/>
              <a:gd name="T21" fmla="*/ 505 h 505"/>
              <a:gd name="T22" fmla="*/ 21 w 291"/>
              <a:gd name="T23" fmla="*/ 479 h 505"/>
              <a:gd name="T24" fmla="*/ 79 w 291"/>
              <a:gd name="T25" fmla="*/ 474 h 505"/>
              <a:gd name="T26" fmla="*/ 105 w 291"/>
              <a:gd name="T27" fmla="*/ 464 h 505"/>
              <a:gd name="T28" fmla="*/ 119 w 291"/>
              <a:gd name="T29" fmla="*/ 447 h 505"/>
              <a:gd name="T30" fmla="*/ 123 w 291"/>
              <a:gd name="T31" fmla="*/ 410 h 505"/>
              <a:gd name="T32" fmla="*/ 123 w 291"/>
              <a:gd name="T33" fmla="*/ 113 h 505"/>
              <a:gd name="T34" fmla="*/ 118 w 291"/>
              <a:gd name="T35" fmla="*/ 91 h 505"/>
              <a:gd name="T36" fmla="*/ 103 w 291"/>
              <a:gd name="T37" fmla="*/ 85 h 505"/>
              <a:gd name="T38" fmla="*/ 69 w 291"/>
              <a:gd name="T39" fmla="*/ 97 h 505"/>
              <a:gd name="T40" fmla="*/ 16 w 291"/>
              <a:gd name="T41" fmla="*/ 130 h 505"/>
              <a:gd name="T42" fmla="*/ 0 w 291"/>
              <a:gd name="T43" fmla="*/ 102 h 505"/>
              <a:gd name="T44" fmla="*/ 171 w 291"/>
              <a:gd name="T45" fmla="*/ 0 h 5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91" h="505">
                <a:moveTo>
                  <a:pt x="171" y="0"/>
                </a:moveTo>
                <a:lnTo>
                  <a:pt x="191" y="0"/>
                </a:lnTo>
                <a:cubicBezTo>
                  <a:pt x="190" y="23"/>
                  <a:pt x="189" y="56"/>
                  <a:pt x="189" y="97"/>
                </a:cubicBezTo>
                <a:lnTo>
                  <a:pt x="189" y="410"/>
                </a:lnTo>
                <a:cubicBezTo>
                  <a:pt x="189" y="424"/>
                  <a:pt x="190" y="435"/>
                  <a:pt x="191" y="442"/>
                </a:cubicBezTo>
                <a:cubicBezTo>
                  <a:pt x="193" y="449"/>
                  <a:pt x="196" y="455"/>
                  <a:pt x="200" y="459"/>
                </a:cubicBezTo>
                <a:cubicBezTo>
                  <a:pt x="204" y="464"/>
                  <a:pt x="210" y="467"/>
                  <a:pt x="217" y="470"/>
                </a:cubicBezTo>
                <a:cubicBezTo>
                  <a:pt x="225" y="473"/>
                  <a:pt x="234" y="475"/>
                  <a:pt x="246" y="476"/>
                </a:cubicBezTo>
                <a:cubicBezTo>
                  <a:pt x="257" y="477"/>
                  <a:pt x="272" y="478"/>
                  <a:pt x="291" y="479"/>
                </a:cubicBezTo>
                <a:lnTo>
                  <a:pt x="291" y="505"/>
                </a:lnTo>
                <a:lnTo>
                  <a:pt x="21" y="505"/>
                </a:lnTo>
                <a:lnTo>
                  <a:pt x="21" y="479"/>
                </a:lnTo>
                <a:cubicBezTo>
                  <a:pt x="48" y="477"/>
                  <a:pt x="67" y="476"/>
                  <a:pt x="79" y="474"/>
                </a:cubicBezTo>
                <a:cubicBezTo>
                  <a:pt x="90" y="472"/>
                  <a:pt x="99" y="469"/>
                  <a:pt x="105" y="464"/>
                </a:cubicBezTo>
                <a:cubicBezTo>
                  <a:pt x="111" y="460"/>
                  <a:pt x="116" y="454"/>
                  <a:pt x="119" y="447"/>
                </a:cubicBezTo>
                <a:cubicBezTo>
                  <a:pt x="121" y="439"/>
                  <a:pt x="123" y="427"/>
                  <a:pt x="123" y="410"/>
                </a:cubicBezTo>
                <a:lnTo>
                  <a:pt x="123" y="113"/>
                </a:lnTo>
                <a:cubicBezTo>
                  <a:pt x="123" y="103"/>
                  <a:pt x="121" y="96"/>
                  <a:pt x="118" y="91"/>
                </a:cubicBezTo>
                <a:cubicBezTo>
                  <a:pt x="114" y="87"/>
                  <a:pt x="109" y="85"/>
                  <a:pt x="103" y="85"/>
                </a:cubicBezTo>
                <a:cubicBezTo>
                  <a:pt x="95" y="85"/>
                  <a:pt x="84" y="89"/>
                  <a:pt x="69" y="97"/>
                </a:cubicBezTo>
                <a:cubicBezTo>
                  <a:pt x="55" y="105"/>
                  <a:pt x="37" y="116"/>
                  <a:pt x="16" y="130"/>
                </a:cubicBezTo>
                <a:lnTo>
                  <a:pt x="0" y="102"/>
                </a:lnTo>
                <a:lnTo>
                  <a:pt x="171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Freeform 31"/>
          <p:cNvSpPr>
            <a:spLocks noEditPoints="1"/>
          </p:cNvSpPr>
          <p:nvPr/>
        </p:nvSpPr>
        <p:spPr bwMode="auto">
          <a:xfrm>
            <a:off x="21070888" y="8539163"/>
            <a:ext cx="422275" cy="228600"/>
          </a:xfrm>
          <a:custGeom>
            <a:avLst/>
            <a:gdLst>
              <a:gd name="T0" fmla="*/ 384 w 554"/>
              <a:gd name="T1" fmla="*/ 57 h 301"/>
              <a:gd name="T2" fmla="*/ 326 w 554"/>
              <a:gd name="T3" fmla="*/ 118 h 301"/>
              <a:gd name="T4" fmla="*/ 322 w 554"/>
              <a:gd name="T5" fmla="*/ 202 h 301"/>
              <a:gd name="T6" fmla="*/ 379 w 554"/>
              <a:gd name="T7" fmla="*/ 255 h 301"/>
              <a:gd name="T8" fmla="*/ 455 w 554"/>
              <a:gd name="T9" fmla="*/ 254 h 301"/>
              <a:gd name="T10" fmla="*/ 501 w 554"/>
              <a:gd name="T11" fmla="*/ 192 h 301"/>
              <a:gd name="T12" fmla="*/ 502 w 554"/>
              <a:gd name="T13" fmla="*/ 107 h 301"/>
              <a:gd name="T14" fmla="*/ 459 w 554"/>
              <a:gd name="T15" fmla="*/ 55 h 301"/>
              <a:gd name="T16" fmla="*/ 140 w 554"/>
              <a:gd name="T17" fmla="*/ 37 h 301"/>
              <a:gd name="T18" fmla="*/ 75 w 554"/>
              <a:gd name="T19" fmla="*/ 63 h 301"/>
              <a:gd name="T20" fmla="*/ 46 w 554"/>
              <a:gd name="T21" fmla="*/ 145 h 301"/>
              <a:gd name="T22" fmla="*/ 69 w 554"/>
              <a:gd name="T23" fmla="*/ 222 h 301"/>
              <a:gd name="T24" fmla="*/ 138 w 554"/>
              <a:gd name="T25" fmla="*/ 253 h 301"/>
              <a:gd name="T26" fmla="*/ 201 w 554"/>
              <a:gd name="T27" fmla="*/ 221 h 301"/>
              <a:gd name="T28" fmla="*/ 257 w 554"/>
              <a:gd name="T29" fmla="*/ 130 h 301"/>
              <a:gd name="T30" fmla="*/ 140 w 554"/>
              <a:gd name="T31" fmla="*/ 37 h 301"/>
              <a:gd name="T32" fmla="*/ 179 w 554"/>
              <a:gd name="T33" fmla="*/ 8 h 301"/>
              <a:gd name="T34" fmla="*/ 247 w 554"/>
              <a:gd name="T35" fmla="*/ 61 h 301"/>
              <a:gd name="T36" fmla="*/ 305 w 554"/>
              <a:gd name="T37" fmla="*/ 52 h 301"/>
              <a:gd name="T38" fmla="*/ 381 w 554"/>
              <a:gd name="T39" fmla="*/ 4 h 301"/>
              <a:gd name="T40" fmla="*/ 477 w 554"/>
              <a:gd name="T41" fmla="*/ 12 h 301"/>
              <a:gd name="T42" fmla="*/ 544 w 554"/>
              <a:gd name="T43" fmla="*/ 91 h 301"/>
              <a:gd name="T44" fmla="*/ 544 w 554"/>
              <a:gd name="T45" fmla="*/ 208 h 301"/>
              <a:gd name="T46" fmla="*/ 474 w 554"/>
              <a:gd name="T47" fmla="*/ 289 h 301"/>
              <a:gd name="T48" fmla="*/ 375 w 554"/>
              <a:gd name="T49" fmla="*/ 292 h 301"/>
              <a:gd name="T50" fmla="*/ 310 w 554"/>
              <a:gd name="T51" fmla="*/ 235 h 301"/>
              <a:gd name="T52" fmla="*/ 255 w 554"/>
              <a:gd name="T53" fmla="*/ 243 h 301"/>
              <a:gd name="T54" fmla="*/ 183 w 554"/>
              <a:gd name="T55" fmla="*/ 294 h 301"/>
              <a:gd name="T56" fmla="*/ 80 w 554"/>
              <a:gd name="T57" fmla="*/ 287 h 301"/>
              <a:gd name="T58" fmla="*/ 9 w 554"/>
              <a:gd name="T59" fmla="*/ 205 h 301"/>
              <a:gd name="T60" fmla="*/ 9 w 554"/>
              <a:gd name="T61" fmla="*/ 89 h 301"/>
              <a:gd name="T62" fmla="*/ 79 w 554"/>
              <a:gd name="T63" fmla="*/ 11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554" h="301">
                <a:moveTo>
                  <a:pt x="421" y="48"/>
                </a:moveTo>
                <a:cubicBezTo>
                  <a:pt x="407" y="48"/>
                  <a:pt x="395" y="51"/>
                  <a:pt x="384" y="57"/>
                </a:cubicBezTo>
                <a:cubicBezTo>
                  <a:pt x="373" y="63"/>
                  <a:pt x="362" y="71"/>
                  <a:pt x="353" y="81"/>
                </a:cubicBezTo>
                <a:cubicBezTo>
                  <a:pt x="343" y="92"/>
                  <a:pt x="334" y="104"/>
                  <a:pt x="326" y="118"/>
                </a:cubicBezTo>
                <a:cubicBezTo>
                  <a:pt x="318" y="133"/>
                  <a:pt x="310" y="148"/>
                  <a:pt x="303" y="166"/>
                </a:cubicBezTo>
                <a:cubicBezTo>
                  <a:pt x="308" y="178"/>
                  <a:pt x="315" y="190"/>
                  <a:pt x="322" y="202"/>
                </a:cubicBezTo>
                <a:cubicBezTo>
                  <a:pt x="329" y="214"/>
                  <a:pt x="338" y="224"/>
                  <a:pt x="347" y="233"/>
                </a:cubicBezTo>
                <a:cubicBezTo>
                  <a:pt x="357" y="242"/>
                  <a:pt x="367" y="250"/>
                  <a:pt x="379" y="255"/>
                </a:cubicBezTo>
                <a:cubicBezTo>
                  <a:pt x="391" y="261"/>
                  <a:pt x="404" y="263"/>
                  <a:pt x="418" y="263"/>
                </a:cubicBezTo>
                <a:cubicBezTo>
                  <a:pt x="432" y="263"/>
                  <a:pt x="444" y="260"/>
                  <a:pt x="455" y="254"/>
                </a:cubicBezTo>
                <a:cubicBezTo>
                  <a:pt x="466" y="248"/>
                  <a:pt x="476" y="240"/>
                  <a:pt x="483" y="229"/>
                </a:cubicBezTo>
                <a:cubicBezTo>
                  <a:pt x="491" y="219"/>
                  <a:pt x="497" y="206"/>
                  <a:pt x="501" y="192"/>
                </a:cubicBezTo>
                <a:cubicBezTo>
                  <a:pt x="505" y="178"/>
                  <a:pt x="507" y="162"/>
                  <a:pt x="507" y="145"/>
                </a:cubicBezTo>
                <a:cubicBezTo>
                  <a:pt x="507" y="131"/>
                  <a:pt x="505" y="119"/>
                  <a:pt x="502" y="107"/>
                </a:cubicBezTo>
                <a:cubicBezTo>
                  <a:pt x="498" y="95"/>
                  <a:pt x="493" y="85"/>
                  <a:pt x="486" y="76"/>
                </a:cubicBezTo>
                <a:cubicBezTo>
                  <a:pt x="479" y="67"/>
                  <a:pt x="470" y="60"/>
                  <a:pt x="459" y="55"/>
                </a:cubicBezTo>
                <a:cubicBezTo>
                  <a:pt x="448" y="50"/>
                  <a:pt x="436" y="48"/>
                  <a:pt x="421" y="48"/>
                </a:cubicBezTo>
                <a:close/>
                <a:moveTo>
                  <a:pt x="140" y="37"/>
                </a:moveTo>
                <a:cubicBezTo>
                  <a:pt x="128" y="37"/>
                  <a:pt x="116" y="40"/>
                  <a:pt x="105" y="44"/>
                </a:cubicBezTo>
                <a:cubicBezTo>
                  <a:pt x="93" y="48"/>
                  <a:pt x="83" y="55"/>
                  <a:pt x="75" y="63"/>
                </a:cubicBezTo>
                <a:cubicBezTo>
                  <a:pt x="66" y="72"/>
                  <a:pt x="59" y="83"/>
                  <a:pt x="54" y="97"/>
                </a:cubicBezTo>
                <a:cubicBezTo>
                  <a:pt x="49" y="110"/>
                  <a:pt x="46" y="126"/>
                  <a:pt x="46" y="145"/>
                </a:cubicBezTo>
                <a:cubicBezTo>
                  <a:pt x="46" y="160"/>
                  <a:pt x="48" y="174"/>
                  <a:pt x="52" y="188"/>
                </a:cubicBezTo>
                <a:cubicBezTo>
                  <a:pt x="56" y="201"/>
                  <a:pt x="62" y="212"/>
                  <a:pt x="69" y="222"/>
                </a:cubicBezTo>
                <a:cubicBezTo>
                  <a:pt x="77" y="231"/>
                  <a:pt x="86" y="239"/>
                  <a:pt x="98" y="244"/>
                </a:cubicBezTo>
                <a:cubicBezTo>
                  <a:pt x="109" y="250"/>
                  <a:pt x="123" y="253"/>
                  <a:pt x="138" y="253"/>
                </a:cubicBezTo>
                <a:cubicBezTo>
                  <a:pt x="151" y="253"/>
                  <a:pt x="162" y="250"/>
                  <a:pt x="172" y="244"/>
                </a:cubicBezTo>
                <a:cubicBezTo>
                  <a:pt x="182" y="239"/>
                  <a:pt x="192" y="231"/>
                  <a:pt x="201" y="221"/>
                </a:cubicBezTo>
                <a:cubicBezTo>
                  <a:pt x="210" y="210"/>
                  <a:pt x="219" y="198"/>
                  <a:pt x="228" y="182"/>
                </a:cubicBezTo>
                <a:cubicBezTo>
                  <a:pt x="237" y="167"/>
                  <a:pt x="246" y="150"/>
                  <a:pt x="257" y="130"/>
                </a:cubicBezTo>
                <a:cubicBezTo>
                  <a:pt x="242" y="97"/>
                  <a:pt x="225" y="74"/>
                  <a:pt x="205" y="59"/>
                </a:cubicBezTo>
                <a:cubicBezTo>
                  <a:pt x="185" y="45"/>
                  <a:pt x="164" y="37"/>
                  <a:pt x="140" y="37"/>
                </a:cubicBezTo>
                <a:close/>
                <a:moveTo>
                  <a:pt x="136" y="0"/>
                </a:moveTo>
                <a:cubicBezTo>
                  <a:pt x="151" y="0"/>
                  <a:pt x="166" y="3"/>
                  <a:pt x="179" y="8"/>
                </a:cubicBezTo>
                <a:cubicBezTo>
                  <a:pt x="192" y="13"/>
                  <a:pt x="205" y="20"/>
                  <a:pt x="216" y="29"/>
                </a:cubicBezTo>
                <a:cubicBezTo>
                  <a:pt x="227" y="38"/>
                  <a:pt x="237" y="48"/>
                  <a:pt x="247" y="61"/>
                </a:cubicBezTo>
                <a:cubicBezTo>
                  <a:pt x="256" y="74"/>
                  <a:pt x="264" y="87"/>
                  <a:pt x="272" y="103"/>
                </a:cubicBezTo>
                <a:cubicBezTo>
                  <a:pt x="283" y="82"/>
                  <a:pt x="294" y="65"/>
                  <a:pt x="305" y="52"/>
                </a:cubicBezTo>
                <a:cubicBezTo>
                  <a:pt x="317" y="39"/>
                  <a:pt x="329" y="28"/>
                  <a:pt x="342" y="20"/>
                </a:cubicBezTo>
                <a:cubicBezTo>
                  <a:pt x="355" y="13"/>
                  <a:pt x="368" y="7"/>
                  <a:pt x="381" y="4"/>
                </a:cubicBezTo>
                <a:cubicBezTo>
                  <a:pt x="395" y="1"/>
                  <a:pt x="409" y="0"/>
                  <a:pt x="422" y="0"/>
                </a:cubicBezTo>
                <a:cubicBezTo>
                  <a:pt x="442" y="0"/>
                  <a:pt x="461" y="4"/>
                  <a:pt x="477" y="12"/>
                </a:cubicBezTo>
                <a:cubicBezTo>
                  <a:pt x="493" y="20"/>
                  <a:pt x="507" y="30"/>
                  <a:pt x="518" y="44"/>
                </a:cubicBezTo>
                <a:cubicBezTo>
                  <a:pt x="530" y="57"/>
                  <a:pt x="538" y="73"/>
                  <a:pt x="544" y="91"/>
                </a:cubicBezTo>
                <a:cubicBezTo>
                  <a:pt x="550" y="109"/>
                  <a:pt x="554" y="128"/>
                  <a:pt x="554" y="148"/>
                </a:cubicBezTo>
                <a:cubicBezTo>
                  <a:pt x="554" y="170"/>
                  <a:pt x="550" y="190"/>
                  <a:pt x="544" y="208"/>
                </a:cubicBezTo>
                <a:cubicBezTo>
                  <a:pt x="538" y="227"/>
                  <a:pt x="529" y="243"/>
                  <a:pt x="517" y="257"/>
                </a:cubicBezTo>
                <a:cubicBezTo>
                  <a:pt x="505" y="270"/>
                  <a:pt x="491" y="281"/>
                  <a:pt x="474" y="289"/>
                </a:cubicBezTo>
                <a:cubicBezTo>
                  <a:pt x="457" y="297"/>
                  <a:pt x="438" y="301"/>
                  <a:pt x="417" y="301"/>
                </a:cubicBezTo>
                <a:cubicBezTo>
                  <a:pt x="402" y="301"/>
                  <a:pt x="387" y="298"/>
                  <a:pt x="375" y="292"/>
                </a:cubicBezTo>
                <a:cubicBezTo>
                  <a:pt x="362" y="286"/>
                  <a:pt x="350" y="279"/>
                  <a:pt x="339" y="269"/>
                </a:cubicBezTo>
                <a:cubicBezTo>
                  <a:pt x="329" y="259"/>
                  <a:pt x="319" y="248"/>
                  <a:pt x="310" y="235"/>
                </a:cubicBezTo>
                <a:cubicBezTo>
                  <a:pt x="302" y="222"/>
                  <a:pt x="294" y="208"/>
                  <a:pt x="286" y="193"/>
                </a:cubicBezTo>
                <a:cubicBezTo>
                  <a:pt x="276" y="213"/>
                  <a:pt x="266" y="229"/>
                  <a:pt x="255" y="243"/>
                </a:cubicBezTo>
                <a:cubicBezTo>
                  <a:pt x="243" y="256"/>
                  <a:pt x="232" y="267"/>
                  <a:pt x="220" y="276"/>
                </a:cubicBezTo>
                <a:cubicBezTo>
                  <a:pt x="208" y="284"/>
                  <a:pt x="195" y="290"/>
                  <a:pt x="183" y="294"/>
                </a:cubicBezTo>
                <a:cubicBezTo>
                  <a:pt x="170" y="298"/>
                  <a:pt x="157" y="300"/>
                  <a:pt x="144" y="300"/>
                </a:cubicBezTo>
                <a:cubicBezTo>
                  <a:pt x="120" y="300"/>
                  <a:pt x="98" y="296"/>
                  <a:pt x="80" y="287"/>
                </a:cubicBezTo>
                <a:cubicBezTo>
                  <a:pt x="62" y="279"/>
                  <a:pt x="47" y="268"/>
                  <a:pt x="35" y="254"/>
                </a:cubicBezTo>
                <a:cubicBezTo>
                  <a:pt x="23" y="240"/>
                  <a:pt x="14" y="223"/>
                  <a:pt x="9" y="205"/>
                </a:cubicBezTo>
                <a:cubicBezTo>
                  <a:pt x="3" y="187"/>
                  <a:pt x="0" y="168"/>
                  <a:pt x="0" y="148"/>
                </a:cubicBezTo>
                <a:cubicBezTo>
                  <a:pt x="0" y="127"/>
                  <a:pt x="3" y="107"/>
                  <a:pt x="9" y="89"/>
                </a:cubicBezTo>
                <a:cubicBezTo>
                  <a:pt x="16" y="71"/>
                  <a:pt x="25" y="55"/>
                  <a:pt x="36" y="42"/>
                </a:cubicBezTo>
                <a:cubicBezTo>
                  <a:pt x="48" y="29"/>
                  <a:pt x="62" y="19"/>
                  <a:pt x="79" y="11"/>
                </a:cubicBezTo>
                <a:cubicBezTo>
                  <a:pt x="96" y="4"/>
                  <a:pt x="115" y="0"/>
                  <a:pt x="136" y="0"/>
                </a:cubicBez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Rectangle 32"/>
          <p:cNvSpPr>
            <a:spLocks noChangeArrowheads="1"/>
          </p:cNvSpPr>
          <p:nvPr/>
        </p:nvSpPr>
        <p:spPr bwMode="auto">
          <a:xfrm>
            <a:off x="3811588" y="9305925"/>
            <a:ext cx="2404504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Log-odds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9" name="Rectangle 35"/>
              <p:cNvSpPr>
                <a:spLocks noChangeArrowheads="1"/>
              </p:cNvSpPr>
              <p:nvPr/>
            </p:nvSpPr>
            <p:spPr bwMode="auto">
              <a:xfrm>
                <a:off x="10810283" y="9142395"/>
                <a:ext cx="2401298" cy="12448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36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/>
                          <a:cs typeface="Arial" pitchFamily="34" charset="0"/>
                        </a:rPr>
                        <m:t>log</m:t>
                      </m:r>
                      <m:r>
                        <a:rPr kumimoji="0" lang="en-US" sz="36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/>
                          <a:cs typeface="Arial" pitchFamily="34" charset="0"/>
                        </a:rPr>
                        <m:t>⁡</m:t>
                      </m:r>
                      <m:d>
                        <m:dPr>
                          <m:ctrlPr>
                            <a:rPr kumimoji="0" lang="en-US" sz="36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0" lang="en-US" sz="36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cs typeface="Arial" pitchFamily="34" charset="0"/>
                                </a:rPr>
                              </m:ctrlPr>
                            </m:fPr>
                            <m:num>
                              <m:r>
                                <a:rPr kumimoji="0" lang="en-US" sz="36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cs typeface="Arial" pitchFamily="34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kumimoji="0" lang="en-US" sz="36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cs typeface="Arial" pitchFamily="34" charset="0"/>
                                </a:rPr>
                                <m:t>1−</m:t>
                              </m:r>
                              <m:r>
                                <a:rPr kumimoji="0" lang="en-US" sz="36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cs typeface="Arial" pitchFamily="34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0" 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049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810283" y="9142395"/>
                <a:ext cx="2401298" cy="124482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0" name="Rectangle 36"/>
          <p:cNvSpPr>
            <a:spLocks noChangeArrowheads="1"/>
          </p:cNvSpPr>
          <p:nvPr/>
        </p:nvSpPr>
        <p:spPr bwMode="auto">
          <a:xfrm>
            <a:off x="15420975" y="9640888"/>
            <a:ext cx="342900" cy="381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1" name="Freeform 37"/>
          <p:cNvSpPr>
            <a:spLocks noEditPoints="1"/>
          </p:cNvSpPr>
          <p:nvPr/>
        </p:nvSpPr>
        <p:spPr bwMode="auto">
          <a:xfrm>
            <a:off x="15836900" y="9545638"/>
            <a:ext cx="422275" cy="228600"/>
          </a:xfrm>
          <a:custGeom>
            <a:avLst/>
            <a:gdLst>
              <a:gd name="T0" fmla="*/ 384 w 554"/>
              <a:gd name="T1" fmla="*/ 57 h 301"/>
              <a:gd name="T2" fmla="*/ 326 w 554"/>
              <a:gd name="T3" fmla="*/ 119 h 301"/>
              <a:gd name="T4" fmla="*/ 322 w 554"/>
              <a:gd name="T5" fmla="*/ 202 h 301"/>
              <a:gd name="T6" fmla="*/ 379 w 554"/>
              <a:gd name="T7" fmla="*/ 256 h 301"/>
              <a:gd name="T8" fmla="*/ 455 w 554"/>
              <a:gd name="T9" fmla="*/ 255 h 301"/>
              <a:gd name="T10" fmla="*/ 501 w 554"/>
              <a:gd name="T11" fmla="*/ 192 h 301"/>
              <a:gd name="T12" fmla="*/ 502 w 554"/>
              <a:gd name="T13" fmla="*/ 107 h 301"/>
              <a:gd name="T14" fmla="*/ 459 w 554"/>
              <a:gd name="T15" fmla="*/ 56 h 301"/>
              <a:gd name="T16" fmla="*/ 140 w 554"/>
              <a:gd name="T17" fmla="*/ 38 h 301"/>
              <a:gd name="T18" fmla="*/ 75 w 554"/>
              <a:gd name="T19" fmla="*/ 64 h 301"/>
              <a:gd name="T20" fmla="*/ 46 w 554"/>
              <a:gd name="T21" fmla="*/ 145 h 301"/>
              <a:gd name="T22" fmla="*/ 69 w 554"/>
              <a:gd name="T23" fmla="*/ 222 h 301"/>
              <a:gd name="T24" fmla="*/ 138 w 554"/>
              <a:gd name="T25" fmla="*/ 253 h 301"/>
              <a:gd name="T26" fmla="*/ 201 w 554"/>
              <a:gd name="T27" fmla="*/ 221 h 301"/>
              <a:gd name="T28" fmla="*/ 257 w 554"/>
              <a:gd name="T29" fmla="*/ 131 h 301"/>
              <a:gd name="T30" fmla="*/ 140 w 554"/>
              <a:gd name="T31" fmla="*/ 38 h 301"/>
              <a:gd name="T32" fmla="*/ 179 w 554"/>
              <a:gd name="T33" fmla="*/ 8 h 301"/>
              <a:gd name="T34" fmla="*/ 247 w 554"/>
              <a:gd name="T35" fmla="*/ 61 h 301"/>
              <a:gd name="T36" fmla="*/ 305 w 554"/>
              <a:gd name="T37" fmla="*/ 52 h 301"/>
              <a:gd name="T38" fmla="*/ 381 w 554"/>
              <a:gd name="T39" fmla="*/ 5 h 301"/>
              <a:gd name="T40" fmla="*/ 477 w 554"/>
              <a:gd name="T41" fmla="*/ 12 h 301"/>
              <a:gd name="T42" fmla="*/ 544 w 554"/>
              <a:gd name="T43" fmla="*/ 91 h 301"/>
              <a:gd name="T44" fmla="*/ 544 w 554"/>
              <a:gd name="T45" fmla="*/ 209 h 301"/>
              <a:gd name="T46" fmla="*/ 474 w 554"/>
              <a:gd name="T47" fmla="*/ 289 h 301"/>
              <a:gd name="T48" fmla="*/ 375 w 554"/>
              <a:gd name="T49" fmla="*/ 293 h 301"/>
              <a:gd name="T50" fmla="*/ 310 w 554"/>
              <a:gd name="T51" fmla="*/ 235 h 301"/>
              <a:gd name="T52" fmla="*/ 255 w 554"/>
              <a:gd name="T53" fmla="*/ 243 h 301"/>
              <a:gd name="T54" fmla="*/ 183 w 554"/>
              <a:gd name="T55" fmla="*/ 295 h 301"/>
              <a:gd name="T56" fmla="*/ 80 w 554"/>
              <a:gd name="T57" fmla="*/ 288 h 301"/>
              <a:gd name="T58" fmla="*/ 9 w 554"/>
              <a:gd name="T59" fmla="*/ 206 h 301"/>
              <a:gd name="T60" fmla="*/ 9 w 554"/>
              <a:gd name="T61" fmla="*/ 89 h 301"/>
              <a:gd name="T62" fmla="*/ 79 w 554"/>
              <a:gd name="T63" fmla="*/ 12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554" h="301">
                <a:moveTo>
                  <a:pt x="421" y="48"/>
                </a:moveTo>
                <a:cubicBezTo>
                  <a:pt x="407" y="48"/>
                  <a:pt x="395" y="51"/>
                  <a:pt x="384" y="57"/>
                </a:cubicBezTo>
                <a:cubicBezTo>
                  <a:pt x="373" y="63"/>
                  <a:pt x="362" y="71"/>
                  <a:pt x="353" y="82"/>
                </a:cubicBezTo>
                <a:cubicBezTo>
                  <a:pt x="343" y="92"/>
                  <a:pt x="334" y="104"/>
                  <a:pt x="326" y="119"/>
                </a:cubicBezTo>
                <a:cubicBezTo>
                  <a:pt x="318" y="133"/>
                  <a:pt x="310" y="149"/>
                  <a:pt x="303" y="166"/>
                </a:cubicBezTo>
                <a:cubicBezTo>
                  <a:pt x="308" y="178"/>
                  <a:pt x="315" y="191"/>
                  <a:pt x="322" y="202"/>
                </a:cubicBezTo>
                <a:cubicBezTo>
                  <a:pt x="329" y="214"/>
                  <a:pt x="338" y="224"/>
                  <a:pt x="347" y="234"/>
                </a:cubicBezTo>
                <a:cubicBezTo>
                  <a:pt x="357" y="243"/>
                  <a:pt x="367" y="250"/>
                  <a:pt x="379" y="256"/>
                </a:cubicBezTo>
                <a:cubicBezTo>
                  <a:pt x="391" y="261"/>
                  <a:pt x="404" y="264"/>
                  <a:pt x="418" y="264"/>
                </a:cubicBezTo>
                <a:cubicBezTo>
                  <a:pt x="432" y="264"/>
                  <a:pt x="444" y="261"/>
                  <a:pt x="455" y="255"/>
                </a:cubicBezTo>
                <a:cubicBezTo>
                  <a:pt x="466" y="249"/>
                  <a:pt x="476" y="241"/>
                  <a:pt x="483" y="230"/>
                </a:cubicBezTo>
                <a:cubicBezTo>
                  <a:pt x="491" y="219"/>
                  <a:pt x="497" y="207"/>
                  <a:pt x="501" y="192"/>
                </a:cubicBezTo>
                <a:cubicBezTo>
                  <a:pt x="505" y="178"/>
                  <a:pt x="507" y="162"/>
                  <a:pt x="507" y="145"/>
                </a:cubicBezTo>
                <a:cubicBezTo>
                  <a:pt x="507" y="132"/>
                  <a:pt x="505" y="119"/>
                  <a:pt x="502" y="107"/>
                </a:cubicBezTo>
                <a:cubicBezTo>
                  <a:pt x="499" y="95"/>
                  <a:pt x="493" y="85"/>
                  <a:pt x="486" y="76"/>
                </a:cubicBezTo>
                <a:cubicBezTo>
                  <a:pt x="479" y="68"/>
                  <a:pt x="470" y="61"/>
                  <a:pt x="459" y="56"/>
                </a:cubicBezTo>
                <a:cubicBezTo>
                  <a:pt x="448" y="51"/>
                  <a:pt x="436" y="48"/>
                  <a:pt x="421" y="48"/>
                </a:cubicBezTo>
                <a:close/>
                <a:moveTo>
                  <a:pt x="140" y="38"/>
                </a:moveTo>
                <a:cubicBezTo>
                  <a:pt x="128" y="38"/>
                  <a:pt x="116" y="40"/>
                  <a:pt x="105" y="44"/>
                </a:cubicBezTo>
                <a:cubicBezTo>
                  <a:pt x="93" y="48"/>
                  <a:pt x="83" y="55"/>
                  <a:pt x="75" y="64"/>
                </a:cubicBezTo>
                <a:cubicBezTo>
                  <a:pt x="66" y="73"/>
                  <a:pt x="59" y="84"/>
                  <a:pt x="54" y="97"/>
                </a:cubicBezTo>
                <a:cubicBezTo>
                  <a:pt x="49" y="111"/>
                  <a:pt x="46" y="127"/>
                  <a:pt x="46" y="145"/>
                </a:cubicBezTo>
                <a:cubicBezTo>
                  <a:pt x="46" y="160"/>
                  <a:pt x="48" y="175"/>
                  <a:pt x="52" y="188"/>
                </a:cubicBezTo>
                <a:cubicBezTo>
                  <a:pt x="56" y="201"/>
                  <a:pt x="62" y="213"/>
                  <a:pt x="69" y="222"/>
                </a:cubicBezTo>
                <a:cubicBezTo>
                  <a:pt x="77" y="232"/>
                  <a:pt x="86" y="239"/>
                  <a:pt x="98" y="245"/>
                </a:cubicBezTo>
                <a:cubicBezTo>
                  <a:pt x="109" y="250"/>
                  <a:pt x="123" y="253"/>
                  <a:pt x="138" y="253"/>
                </a:cubicBezTo>
                <a:cubicBezTo>
                  <a:pt x="151" y="253"/>
                  <a:pt x="162" y="250"/>
                  <a:pt x="172" y="245"/>
                </a:cubicBezTo>
                <a:cubicBezTo>
                  <a:pt x="182" y="239"/>
                  <a:pt x="192" y="231"/>
                  <a:pt x="201" y="221"/>
                </a:cubicBezTo>
                <a:cubicBezTo>
                  <a:pt x="210" y="211"/>
                  <a:pt x="219" y="198"/>
                  <a:pt x="228" y="183"/>
                </a:cubicBezTo>
                <a:cubicBezTo>
                  <a:pt x="237" y="168"/>
                  <a:pt x="246" y="150"/>
                  <a:pt x="257" y="131"/>
                </a:cubicBezTo>
                <a:cubicBezTo>
                  <a:pt x="242" y="98"/>
                  <a:pt x="225" y="74"/>
                  <a:pt x="205" y="60"/>
                </a:cubicBezTo>
                <a:cubicBezTo>
                  <a:pt x="185" y="45"/>
                  <a:pt x="164" y="38"/>
                  <a:pt x="140" y="38"/>
                </a:cubicBezTo>
                <a:close/>
                <a:moveTo>
                  <a:pt x="136" y="0"/>
                </a:moveTo>
                <a:cubicBezTo>
                  <a:pt x="151" y="0"/>
                  <a:pt x="166" y="3"/>
                  <a:pt x="179" y="8"/>
                </a:cubicBezTo>
                <a:cubicBezTo>
                  <a:pt x="192" y="13"/>
                  <a:pt x="205" y="20"/>
                  <a:pt x="216" y="29"/>
                </a:cubicBezTo>
                <a:cubicBezTo>
                  <a:pt x="227" y="38"/>
                  <a:pt x="237" y="49"/>
                  <a:pt x="247" y="61"/>
                </a:cubicBezTo>
                <a:cubicBezTo>
                  <a:pt x="256" y="74"/>
                  <a:pt x="265" y="88"/>
                  <a:pt x="272" y="103"/>
                </a:cubicBezTo>
                <a:cubicBezTo>
                  <a:pt x="283" y="82"/>
                  <a:pt x="294" y="66"/>
                  <a:pt x="305" y="52"/>
                </a:cubicBezTo>
                <a:cubicBezTo>
                  <a:pt x="317" y="39"/>
                  <a:pt x="329" y="28"/>
                  <a:pt x="342" y="21"/>
                </a:cubicBezTo>
                <a:cubicBezTo>
                  <a:pt x="355" y="13"/>
                  <a:pt x="368" y="8"/>
                  <a:pt x="381" y="5"/>
                </a:cubicBezTo>
                <a:cubicBezTo>
                  <a:pt x="395" y="2"/>
                  <a:pt x="409" y="0"/>
                  <a:pt x="422" y="0"/>
                </a:cubicBezTo>
                <a:cubicBezTo>
                  <a:pt x="443" y="0"/>
                  <a:pt x="461" y="4"/>
                  <a:pt x="477" y="12"/>
                </a:cubicBezTo>
                <a:cubicBezTo>
                  <a:pt x="493" y="20"/>
                  <a:pt x="507" y="31"/>
                  <a:pt x="518" y="44"/>
                </a:cubicBezTo>
                <a:cubicBezTo>
                  <a:pt x="530" y="58"/>
                  <a:pt x="538" y="74"/>
                  <a:pt x="544" y="91"/>
                </a:cubicBezTo>
                <a:cubicBezTo>
                  <a:pt x="551" y="109"/>
                  <a:pt x="554" y="128"/>
                  <a:pt x="554" y="148"/>
                </a:cubicBezTo>
                <a:cubicBezTo>
                  <a:pt x="554" y="170"/>
                  <a:pt x="550" y="190"/>
                  <a:pt x="544" y="209"/>
                </a:cubicBezTo>
                <a:cubicBezTo>
                  <a:pt x="538" y="227"/>
                  <a:pt x="529" y="243"/>
                  <a:pt x="517" y="257"/>
                </a:cubicBezTo>
                <a:cubicBezTo>
                  <a:pt x="505" y="271"/>
                  <a:pt x="491" y="282"/>
                  <a:pt x="474" y="289"/>
                </a:cubicBezTo>
                <a:cubicBezTo>
                  <a:pt x="457" y="297"/>
                  <a:pt x="438" y="301"/>
                  <a:pt x="417" y="301"/>
                </a:cubicBezTo>
                <a:cubicBezTo>
                  <a:pt x="402" y="301"/>
                  <a:pt x="388" y="298"/>
                  <a:pt x="375" y="293"/>
                </a:cubicBezTo>
                <a:cubicBezTo>
                  <a:pt x="362" y="287"/>
                  <a:pt x="350" y="279"/>
                  <a:pt x="340" y="269"/>
                </a:cubicBezTo>
                <a:cubicBezTo>
                  <a:pt x="329" y="260"/>
                  <a:pt x="319" y="248"/>
                  <a:pt x="310" y="235"/>
                </a:cubicBezTo>
                <a:cubicBezTo>
                  <a:pt x="302" y="222"/>
                  <a:pt x="294" y="208"/>
                  <a:pt x="286" y="194"/>
                </a:cubicBezTo>
                <a:cubicBezTo>
                  <a:pt x="276" y="213"/>
                  <a:pt x="266" y="230"/>
                  <a:pt x="255" y="243"/>
                </a:cubicBezTo>
                <a:cubicBezTo>
                  <a:pt x="244" y="257"/>
                  <a:pt x="232" y="268"/>
                  <a:pt x="220" y="276"/>
                </a:cubicBezTo>
                <a:cubicBezTo>
                  <a:pt x="208" y="285"/>
                  <a:pt x="195" y="291"/>
                  <a:pt x="183" y="295"/>
                </a:cubicBezTo>
                <a:cubicBezTo>
                  <a:pt x="170" y="298"/>
                  <a:pt x="157" y="300"/>
                  <a:pt x="145" y="300"/>
                </a:cubicBezTo>
                <a:cubicBezTo>
                  <a:pt x="120" y="300"/>
                  <a:pt x="99" y="296"/>
                  <a:pt x="80" y="288"/>
                </a:cubicBezTo>
                <a:cubicBezTo>
                  <a:pt x="62" y="279"/>
                  <a:pt x="47" y="268"/>
                  <a:pt x="35" y="254"/>
                </a:cubicBezTo>
                <a:cubicBezTo>
                  <a:pt x="23" y="240"/>
                  <a:pt x="15" y="224"/>
                  <a:pt x="9" y="206"/>
                </a:cubicBezTo>
                <a:cubicBezTo>
                  <a:pt x="3" y="187"/>
                  <a:pt x="0" y="168"/>
                  <a:pt x="0" y="148"/>
                </a:cubicBezTo>
                <a:cubicBezTo>
                  <a:pt x="0" y="127"/>
                  <a:pt x="3" y="108"/>
                  <a:pt x="9" y="89"/>
                </a:cubicBezTo>
                <a:cubicBezTo>
                  <a:pt x="16" y="71"/>
                  <a:pt x="25" y="56"/>
                  <a:pt x="36" y="43"/>
                </a:cubicBezTo>
                <a:cubicBezTo>
                  <a:pt x="48" y="29"/>
                  <a:pt x="62" y="19"/>
                  <a:pt x="79" y="12"/>
                </a:cubicBezTo>
                <a:cubicBezTo>
                  <a:pt x="96" y="4"/>
                  <a:pt x="115" y="0"/>
                  <a:pt x="136" y="0"/>
                </a:cubicBez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3" name="Freeform 38"/>
          <p:cNvSpPr>
            <a:spLocks noEditPoints="1"/>
          </p:cNvSpPr>
          <p:nvPr/>
        </p:nvSpPr>
        <p:spPr bwMode="auto">
          <a:xfrm>
            <a:off x="18684875" y="9437688"/>
            <a:ext cx="244475" cy="390525"/>
          </a:xfrm>
          <a:custGeom>
            <a:avLst/>
            <a:gdLst>
              <a:gd name="T0" fmla="*/ 160 w 321"/>
              <a:gd name="T1" fmla="*/ 31 h 512"/>
              <a:gd name="T2" fmla="*/ 118 w 321"/>
              <a:gd name="T3" fmla="*/ 46 h 512"/>
              <a:gd name="T4" fmla="*/ 90 w 321"/>
              <a:gd name="T5" fmla="*/ 89 h 512"/>
              <a:gd name="T6" fmla="*/ 76 w 321"/>
              <a:gd name="T7" fmla="*/ 158 h 512"/>
              <a:gd name="T8" fmla="*/ 71 w 321"/>
              <a:gd name="T9" fmla="*/ 249 h 512"/>
              <a:gd name="T10" fmla="*/ 93 w 321"/>
              <a:gd name="T11" fmla="*/ 425 h 512"/>
              <a:gd name="T12" fmla="*/ 162 w 321"/>
              <a:gd name="T13" fmla="*/ 481 h 512"/>
              <a:gd name="T14" fmla="*/ 228 w 321"/>
              <a:gd name="T15" fmla="*/ 428 h 512"/>
              <a:gd name="T16" fmla="*/ 249 w 321"/>
              <a:gd name="T17" fmla="*/ 265 h 512"/>
              <a:gd name="T18" fmla="*/ 238 w 321"/>
              <a:gd name="T19" fmla="*/ 129 h 512"/>
              <a:gd name="T20" fmla="*/ 208 w 321"/>
              <a:gd name="T21" fmla="*/ 54 h 512"/>
              <a:gd name="T22" fmla="*/ 160 w 321"/>
              <a:gd name="T23" fmla="*/ 31 h 512"/>
              <a:gd name="T24" fmla="*/ 162 w 321"/>
              <a:gd name="T25" fmla="*/ 0 h 512"/>
              <a:gd name="T26" fmla="*/ 281 w 321"/>
              <a:gd name="T27" fmla="*/ 62 h 512"/>
              <a:gd name="T28" fmla="*/ 321 w 321"/>
              <a:gd name="T29" fmla="*/ 249 h 512"/>
              <a:gd name="T30" fmla="*/ 279 w 321"/>
              <a:gd name="T31" fmla="*/ 445 h 512"/>
              <a:gd name="T32" fmla="*/ 156 w 321"/>
              <a:gd name="T33" fmla="*/ 512 h 512"/>
              <a:gd name="T34" fmla="*/ 38 w 321"/>
              <a:gd name="T35" fmla="*/ 449 h 512"/>
              <a:gd name="T36" fmla="*/ 0 w 321"/>
              <a:gd name="T37" fmla="*/ 260 h 512"/>
              <a:gd name="T38" fmla="*/ 12 w 321"/>
              <a:gd name="T39" fmla="*/ 144 h 512"/>
              <a:gd name="T40" fmla="*/ 45 w 321"/>
              <a:gd name="T41" fmla="*/ 63 h 512"/>
              <a:gd name="T42" fmla="*/ 97 w 321"/>
              <a:gd name="T43" fmla="*/ 15 h 512"/>
              <a:gd name="T44" fmla="*/ 162 w 321"/>
              <a:gd name="T45" fmla="*/ 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21" h="512">
                <a:moveTo>
                  <a:pt x="160" y="31"/>
                </a:moveTo>
                <a:cubicBezTo>
                  <a:pt x="143" y="31"/>
                  <a:pt x="129" y="36"/>
                  <a:pt x="118" y="46"/>
                </a:cubicBezTo>
                <a:cubicBezTo>
                  <a:pt x="107" y="56"/>
                  <a:pt x="97" y="71"/>
                  <a:pt x="90" y="89"/>
                </a:cubicBezTo>
                <a:cubicBezTo>
                  <a:pt x="84" y="108"/>
                  <a:pt x="79" y="131"/>
                  <a:pt x="76" y="158"/>
                </a:cubicBezTo>
                <a:cubicBezTo>
                  <a:pt x="73" y="185"/>
                  <a:pt x="71" y="216"/>
                  <a:pt x="71" y="249"/>
                </a:cubicBezTo>
                <a:cubicBezTo>
                  <a:pt x="71" y="329"/>
                  <a:pt x="79" y="387"/>
                  <a:pt x="93" y="425"/>
                </a:cubicBezTo>
                <a:cubicBezTo>
                  <a:pt x="108" y="462"/>
                  <a:pt x="131" y="481"/>
                  <a:pt x="162" y="481"/>
                </a:cubicBezTo>
                <a:cubicBezTo>
                  <a:pt x="192" y="481"/>
                  <a:pt x="214" y="463"/>
                  <a:pt x="228" y="428"/>
                </a:cubicBezTo>
                <a:cubicBezTo>
                  <a:pt x="242" y="393"/>
                  <a:pt x="249" y="339"/>
                  <a:pt x="249" y="265"/>
                </a:cubicBezTo>
                <a:cubicBezTo>
                  <a:pt x="249" y="209"/>
                  <a:pt x="246" y="164"/>
                  <a:pt x="238" y="129"/>
                </a:cubicBezTo>
                <a:cubicBezTo>
                  <a:pt x="231" y="94"/>
                  <a:pt x="221" y="69"/>
                  <a:pt x="208" y="54"/>
                </a:cubicBezTo>
                <a:cubicBezTo>
                  <a:pt x="195" y="39"/>
                  <a:pt x="179" y="31"/>
                  <a:pt x="160" y="31"/>
                </a:cubicBezTo>
                <a:close/>
                <a:moveTo>
                  <a:pt x="162" y="0"/>
                </a:moveTo>
                <a:cubicBezTo>
                  <a:pt x="216" y="0"/>
                  <a:pt x="255" y="21"/>
                  <a:pt x="281" y="62"/>
                </a:cubicBezTo>
                <a:cubicBezTo>
                  <a:pt x="308" y="103"/>
                  <a:pt x="321" y="166"/>
                  <a:pt x="321" y="249"/>
                </a:cubicBezTo>
                <a:cubicBezTo>
                  <a:pt x="321" y="336"/>
                  <a:pt x="307" y="401"/>
                  <a:pt x="279" y="445"/>
                </a:cubicBezTo>
                <a:cubicBezTo>
                  <a:pt x="251" y="490"/>
                  <a:pt x="210" y="512"/>
                  <a:pt x="156" y="512"/>
                </a:cubicBezTo>
                <a:cubicBezTo>
                  <a:pt x="103" y="512"/>
                  <a:pt x="64" y="491"/>
                  <a:pt x="38" y="449"/>
                </a:cubicBezTo>
                <a:cubicBezTo>
                  <a:pt x="13" y="408"/>
                  <a:pt x="0" y="345"/>
                  <a:pt x="0" y="260"/>
                </a:cubicBezTo>
                <a:cubicBezTo>
                  <a:pt x="0" y="216"/>
                  <a:pt x="4" y="177"/>
                  <a:pt x="12" y="144"/>
                </a:cubicBezTo>
                <a:cubicBezTo>
                  <a:pt x="20" y="111"/>
                  <a:pt x="31" y="84"/>
                  <a:pt x="45" y="63"/>
                </a:cubicBezTo>
                <a:cubicBezTo>
                  <a:pt x="59" y="42"/>
                  <a:pt x="76" y="26"/>
                  <a:pt x="97" y="15"/>
                </a:cubicBezTo>
                <a:cubicBezTo>
                  <a:pt x="117" y="5"/>
                  <a:pt x="138" y="0"/>
                  <a:pt x="162" y="0"/>
                </a:cubicBez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Freeform 39"/>
          <p:cNvSpPr>
            <a:spLocks noEditPoints="1"/>
          </p:cNvSpPr>
          <p:nvPr/>
        </p:nvSpPr>
        <p:spPr bwMode="auto">
          <a:xfrm>
            <a:off x="21070888" y="9545638"/>
            <a:ext cx="422275" cy="228600"/>
          </a:xfrm>
          <a:custGeom>
            <a:avLst/>
            <a:gdLst>
              <a:gd name="T0" fmla="*/ 384 w 554"/>
              <a:gd name="T1" fmla="*/ 57 h 301"/>
              <a:gd name="T2" fmla="*/ 326 w 554"/>
              <a:gd name="T3" fmla="*/ 119 h 301"/>
              <a:gd name="T4" fmla="*/ 322 w 554"/>
              <a:gd name="T5" fmla="*/ 202 h 301"/>
              <a:gd name="T6" fmla="*/ 379 w 554"/>
              <a:gd name="T7" fmla="*/ 256 h 301"/>
              <a:gd name="T8" fmla="*/ 455 w 554"/>
              <a:gd name="T9" fmla="*/ 255 h 301"/>
              <a:gd name="T10" fmla="*/ 501 w 554"/>
              <a:gd name="T11" fmla="*/ 192 h 301"/>
              <a:gd name="T12" fmla="*/ 502 w 554"/>
              <a:gd name="T13" fmla="*/ 107 h 301"/>
              <a:gd name="T14" fmla="*/ 459 w 554"/>
              <a:gd name="T15" fmla="*/ 56 h 301"/>
              <a:gd name="T16" fmla="*/ 140 w 554"/>
              <a:gd name="T17" fmla="*/ 38 h 301"/>
              <a:gd name="T18" fmla="*/ 75 w 554"/>
              <a:gd name="T19" fmla="*/ 64 h 301"/>
              <a:gd name="T20" fmla="*/ 46 w 554"/>
              <a:gd name="T21" fmla="*/ 145 h 301"/>
              <a:gd name="T22" fmla="*/ 69 w 554"/>
              <a:gd name="T23" fmla="*/ 222 h 301"/>
              <a:gd name="T24" fmla="*/ 138 w 554"/>
              <a:gd name="T25" fmla="*/ 253 h 301"/>
              <a:gd name="T26" fmla="*/ 201 w 554"/>
              <a:gd name="T27" fmla="*/ 221 h 301"/>
              <a:gd name="T28" fmla="*/ 257 w 554"/>
              <a:gd name="T29" fmla="*/ 131 h 301"/>
              <a:gd name="T30" fmla="*/ 140 w 554"/>
              <a:gd name="T31" fmla="*/ 38 h 301"/>
              <a:gd name="T32" fmla="*/ 179 w 554"/>
              <a:gd name="T33" fmla="*/ 8 h 301"/>
              <a:gd name="T34" fmla="*/ 247 w 554"/>
              <a:gd name="T35" fmla="*/ 61 h 301"/>
              <a:gd name="T36" fmla="*/ 305 w 554"/>
              <a:gd name="T37" fmla="*/ 52 h 301"/>
              <a:gd name="T38" fmla="*/ 381 w 554"/>
              <a:gd name="T39" fmla="*/ 5 h 301"/>
              <a:gd name="T40" fmla="*/ 477 w 554"/>
              <a:gd name="T41" fmla="*/ 12 h 301"/>
              <a:gd name="T42" fmla="*/ 544 w 554"/>
              <a:gd name="T43" fmla="*/ 91 h 301"/>
              <a:gd name="T44" fmla="*/ 544 w 554"/>
              <a:gd name="T45" fmla="*/ 209 h 301"/>
              <a:gd name="T46" fmla="*/ 474 w 554"/>
              <a:gd name="T47" fmla="*/ 289 h 301"/>
              <a:gd name="T48" fmla="*/ 375 w 554"/>
              <a:gd name="T49" fmla="*/ 293 h 301"/>
              <a:gd name="T50" fmla="*/ 310 w 554"/>
              <a:gd name="T51" fmla="*/ 235 h 301"/>
              <a:gd name="T52" fmla="*/ 255 w 554"/>
              <a:gd name="T53" fmla="*/ 243 h 301"/>
              <a:gd name="T54" fmla="*/ 183 w 554"/>
              <a:gd name="T55" fmla="*/ 295 h 301"/>
              <a:gd name="T56" fmla="*/ 80 w 554"/>
              <a:gd name="T57" fmla="*/ 288 h 301"/>
              <a:gd name="T58" fmla="*/ 9 w 554"/>
              <a:gd name="T59" fmla="*/ 206 h 301"/>
              <a:gd name="T60" fmla="*/ 9 w 554"/>
              <a:gd name="T61" fmla="*/ 89 h 301"/>
              <a:gd name="T62" fmla="*/ 79 w 554"/>
              <a:gd name="T63" fmla="*/ 12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554" h="301">
                <a:moveTo>
                  <a:pt x="421" y="48"/>
                </a:moveTo>
                <a:cubicBezTo>
                  <a:pt x="407" y="48"/>
                  <a:pt x="395" y="51"/>
                  <a:pt x="384" y="57"/>
                </a:cubicBezTo>
                <a:cubicBezTo>
                  <a:pt x="373" y="63"/>
                  <a:pt x="362" y="71"/>
                  <a:pt x="353" y="82"/>
                </a:cubicBezTo>
                <a:cubicBezTo>
                  <a:pt x="343" y="92"/>
                  <a:pt x="334" y="104"/>
                  <a:pt x="326" y="119"/>
                </a:cubicBezTo>
                <a:cubicBezTo>
                  <a:pt x="318" y="133"/>
                  <a:pt x="310" y="149"/>
                  <a:pt x="303" y="166"/>
                </a:cubicBezTo>
                <a:cubicBezTo>
                  <a:pt x="308" y="178"/>
                  <a:pt x="315" y="191"/>
                  <a:pt x="322" y="202"/>
                </a:cubicBezTo>
                <a:cubicBezTo>
                  <a:pt x="329" y="214"/>
                  <a:pt x="338" y="224"/>
                  <a:pt x="347" y="234"/>
                </a:cubicBezTo>
                <a:cubicBezTo>
                  <a:pt x="357" y="243"/>
                  <a:pt x="367" y="250"/>
                  <a:pt x="379" y="256"/>
                </a:cubicBezTo>
                <a:cubicBezTo>
                  <a:pt x="391" y="261"/>
                  <a:pt x="404" y="264"/>
                  <a:pt x="418" y="264"/>
                </a:cubicBezTo>
                <a:cubicBezTo>
                  <a:pt x="432" y="264"/>
                  <a:pt x="444" y="261"/>
                  <a:pt x="455" y="255"/>
                </a:cubicBezTo>
                <a:cubicBezTo>
                  <a:pt x="466" y="249"/>
                  <a:pt x="476" y="241"/>
                  <a:pt x="483" y="230"/>
                </a:cubicBezTo>
                <a:cubicBezTo>
                  <a:pt x="491" y="219"/>
                  <a:pt x="497" y="207"/>
                  <a:pt x="501" y="192"/>
                </a:cubicBezTo>
                <a:cubicBezTo>
                  <a:pt x="505" y="178"/>
                  <a:pt x="507" y="162"/>
                  <a:pt x="507" y="145"/>
                </a:cubicBezTo>
                <a:cubicBezTo>
                  <a:pt x="507" y="132"/>
                  <a:pt x="505" y="119"/>
                  <a:pt x="502" y="107"/>
                </a:cubicBezTo>
                <a:cubicBezTo>
                  <a:pt x="498" y="95"/>
                  <a:pt x="493" y="85"/>
                  <a:pt x="486" y="76"/>
                </a:cubicBezTo>
                <a:cubicBezTo>
                  <a:pt x="479" y="68"/>
                  <a:pt x="470" y="61"/>
                  <a:pt x="459" y="56"/>
                </a:cubicBezTo>
                <a:cubicBezTo>
                  <a:pt x="448" y="51"/>
                  <a:pt x="436" y="48"/>
                  <a:pt x="421" y="48"/>
                </a:cubicBezTo>
                <a:close/>
                <a:moveTo>
                  <a:pt x="140" y="38"/>
                </a:moveTo>
                <a:cubicBezTo>
                  <a:pt x="128" y="38"/>
                  <a:pt x="116" y="40"/>
                  <a:pt x="105" y="44"/>
                </a:cubicBezTo>
                <a:cubicBezTo>
                  <a:pt x="93" y="48"/>
                  <a:pt x="83" y="55"/>
                  <a:pt x="75" y="64"/>
                </a:cubicBezTo>
                <a:cubicBezTo>
                  <a:pt x="66" y="73"/>
                  <a:pt x="59" y="84"/>
                  <a:pt x="54" y="97"/>
                </a:cubicBezTo>
                <a:cubicBezTo>
                  <a:pt x="49" y="111"/>
                  <a:pt x="46" y="127"/>
                  <a:pt x="46" y="145"/>
                </a:cubicBezTo>
                <a:cubicBezTo>
                  <a:pt x="46" y="160"/>
                  <a:pt x="48" y="175"/>
                  <a:pt x="52" y="188"/>
                </a:cubicBezTo>
                <a:cubicBezTo>
                  <a:pt x="56" y="201"/>
                  <a:pt x="62" y="213"/>
                  <a:pt x="69" y="222"/>
                </a:cubicBezTo>
                <a:cubicBezTo>
                  <a:pt x="77" y="232"/>
                  <a:pt x="86" y="239"/>
                  <a:pt x="98" y="245"/>
                </a:cubicBezTo>
                <a:cubicBezTo>
                  <a:pt x="109" y="250"/>
                  <a:pt x="123" y="253"/>
                  <a:pt x="138" y="253"/>
                </a:cubicBezTo>
                <a:cubicBezTo>
                  <a:pt x="151" y="253"/>
                  <a:pt x="162" y="250"/>
                  <a:pt x="172" y="245"/>
                </a:cubicBezTo>
                <a:cubicBezTo>
                  <a:pt x="182" y="239"/>
                  <a:pt x="192" y="231"/>
                  <a:pt x="201" y="221"/>
                </a:cubicBezTo>
                <a:cubicBezTo>
                  <a:pt x="210" y="211"/>
                  <a:pt x="219" y="198"/>
                  <a:pt x="228" y="183"/>
                </a:cubicBezTo>
                <a:cubicBezTo>
                  <a:pt x="237" y="168"/>
                  <a:pt x="246" y="150"/>
                  <a:pt x="257" y="131"/>
                </a:cubicBezTo>
                <a:cubicBezTo>
                  <a:pt x="242" y="98"/>
                  <a:pt x="225" y="74"/>
                  <a:pt x="205" y="60"/>
                </a:cubicBezTo>
                <a:cubicBezTo>
                  <a:pt x="185" y="45"/>
                  <a:pt x="164" y="38"/>
                  <a:pt x="140" y="38"/>
                </a:cubicBezTo>
                <a:close/>
                <a:moveTo>
                  <a:pt x="136" y="0"/>
                </a:moveTo>
                <a:cubicBezTo>
                  <a:pt x="151" y="0"/>
                  <a:pt x="166" y="3"/>
                  <a:pt x="179" y="8"/>
                </a:cubicBezTo>
                <a:cubicBezTo>
                  <a:pt x="192" y="13"/>
                  <a:pt x="205" y="20"/>
                  <a:pt x="216" y="29"/>
                </a:cubicBezTo>
                <a:cubicBezTo>
                  <a:pt x="227" y="38"/>
                  <a:pt x="237" y="49"/>
                  <a:pt x="247" y="61"/>
                </a:cubicBezTo>
                <a:cubicBezTo>
                  <a:pt x="256" y="74"/>
                  <a:pt x="264" y="88"/>
                  <a:pt x="272" y="103"/>
                </a:cubicBezTo>
                <a:cubicBezTo>
                  <a:pt x="283" y="82"/>
                  <a:pt x="294" y="66"/>
                  <a:pt x="305" y="52"/>
                </a:cubicBezTo>
                <a:cubicBezTo>
                  <a:pt x="317" y="39"/>
                  <a:pt x="329" y="28"/>
                  <a:pt x="342" y="21"/>
                </a:cubicBezTo>
                <a:cubicBezTo>
                  <a:pt x="355" y="13"/>
                  <a:pt x="368" y="8"/>
                  <a:pt x="381" y="5"/>
                </a:cubicBezTo>
                <a:cubicBezTo>
                  <a:pt x="395" y="2"/>
                  <a:pt x="409" y="0"/>
                  <a:pt x="422" y="0"/>
                </a:cubicBezTo>
                <a:cubicBezTo>
                  <a:pt x="442" y="0"/>
                  <a:pt x="461" y="4"/>
                  <a:pt x="477" y="12"/>
                </a:cubicBezTo>
                <a:cubicBezTo>
                  <a:pt x="493" y="20"/>
                  <a:pt x="507" y="31"/>
                  <a:pt x="518" y="44"/>
                </a:cubicBezTo>
                <a:cubicBezTo>
                  <a:pt x="530" y="58"/>
                  <a:pt x="538" y="74"/>
                  <a:pt x="544" y="91"/>
                </a:cubicBezTo>
                <a:cubicBezTo>
                  <a:pt x="550" y="109"/>
                  <a:pt x="554" y="128"/>
                  <a:pt x="554" y="148"/>
                </a:cubicBezTo>
                <a:cubicBezTo>
                  <a:pt x="554" y="170"/>
                  <a:pt x="550" y="190"/>
                  <a:pt x="544" y="209"/>
                </a:cubicBezTo>
                <a:cubicBezTo>
                  <a:pt x="538" y="227"/>
                  <a:pt x="529" y="243"/>
                  <a:pt x="517" y="257"/>
                </a:cubicBezTo>
                <a:cubicBezTo>
                  <a:pt x="505" y="271"/>
                  <a:pt x="491" y="282"/>
                  <a:pt x="474" y="289"/>
                </a:cubicBezTo>
                <a:cubicBezTo>
                  <a:pt x="457" y="297"/>
                  <a:pt x="438" y="301"/>
                  <a:pt x="417" y="301"/>
                </a:cubicBezTo>
                <a:cubicBezTo>
                  <a:pt x="402" y="301"/>
                  <a:pt x="387" y="298"/>
                  <a:pt x="375" y="293"/>
                </a:cubicBezTo>
                <a:cubicBezTo>
                  <a:pt x="362" y="287"/>
                  <a:pt x="350" y="279"/>
                  <a:pt x="339" y="269"/>
                </a:cubicBezTo>
                <a:cubicBezTo>
                  <a:pt x="329" y="260"/>
                  <a:pt x="319" y="248"/>
                  <a:pt x="310" y="235"/>
                </a:cubicBezTo>
                <a:cubicBezTo>
                  <a:pt x="302" y="222"/>
                  <a:pt x="294" y="208"/>
                  <a:pt x="286" y="194"/>
                </a:cubicBezTo>
                <a:cubicBezTo>
                  <a:pt x="276" y="213"/>
                  <a:pt x="266" y="230"/>
                  <a:pt x="255" y="243"/>
                </a:cubicBezTo>
                <a:cubicBezTo>
                  <a:pt x="243" y="257"/>
                  <a:pt x="232" y="268"/>
                  <a:pt x="220" y="276"/>
                </a:cubicBezTo>
                <a:cubicBezTo>
                  <a:pt x="208" y="285"/>
                  <a:pt x="195" y="291"/>
                  <a:pt x="183" y="295"/>
                </a:cubicBezTo>
                <a:cubicBezTo>
                  <a:pt x="170" y="298"/>
                  <a:pt x="157" y="300"/>
                  <a:pt x="144" y="300"/>
                </a:cubicBezTo>
                <a:cubicBezTo>
                  <a:pt x="120" y="300"/>
                  <a:pt x="98" y="296"/>
                  <a:pt x="80" y="288"/>
                </a:cubicBezTo>
                <a:cubicBezTo>
                  <a:pt x="62" y="279"/>
                  <a:pt x="47" y="268"/>
                  <a:pt x="35" y="254"/>
                </a:cubicBezTo>
                <a:cubicBezTo>
                  <a:pt x="23" y="240"/>
                  <a:pt x="14" y="224"/>
                  <a:pt x="9" y="206"/>
                </a:cubicBezTo>
                <a:cubicBezTo>
                  <a:pt x="3" y="187"/>
                  <a:pt x="0" y="168"/>
                  <a:pt x="0" y="148"/>
                </a:cubicBezTo>
                <a:cubicBezTo>
                  <a:pt x="0" y="127"/>
                  <a:pt x="3" y="108"/>
                  <a:pt x="9" y="89"/>
                </a:cubicBezTo>
                <a:cubicBezTo>
                  <a:pt x="16" y="71"/>
                  <a:pt x="25" y="56"/>
                  <a:pt x="36" y="43"/>
                </a:cubicBezTo>
                <a:cubicBezTo>
                  <a:pt x="48" y="29"/>
                  <a:pt x="62" y="19"/>
                  <a:pt x="79" y="12"/>
                </a:cubicBezTo>
                <a:cubicBezTo>
                  <a:pt x="96" y="4"/>
                  <a:pt x="115" y="0"/>
                  <a:pt x="136" y="0"/>
                </a:cubicBez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5" name="Rectangle 40"/>
          <p:cNvSpPr>
            <a:spLocks noChangeArrowheads="1"/>
          </p:cNvSpPr>
          <p:nvPr/>
        </p:nvSpPr>
        <p:spPr bwMode="auto">
          <a:xfrm>
            <a:off x="1606550" y="10756900"/>
            <a:ext cx="7405874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Linear </a:t>
            </a:r>
            <a:r>
              <a:rPr kumimoji="0" lang="en-US" sz="4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Regression Prediction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56" name="Rectangle 41"/>
          <p:cNvSpPr>
            <a:spLocks noChangeArrowheads="1"/>
          </p:cNvSpPr>
          <p:nvPr/>
        </p:nvSpPr>
        <p:spPr bwMode="auto">
          <a:xfrm>
            <a:off x="15420975" y="11091863"/>
            <a:ext cx="342900" cy="381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7" name="Freeform 42"/>
          <p:cNvSpPr>
            <a:spLocks noEditPoints="1"/>
          </p:cNvSpPr>
          <p:nvPr/>
        </p:nvSpPr>
        <p:spPr bwMode="auto">
          <a:xfrm>
            <a:off x="15836900" y="10996613"/>
            <a:ext cx="422275" cy="230188"/>
          </a:xfrm>
          <a:custGeom>
            <a:avLst/>
            <a:gdLst>
              <a:gd name="T0" fmla="*/ 384 w 554"/>
              <a:gd name="T1" fmla="*/ 57 h 301"/>
              <a:gd name="T2" fmla="*/ 326 w 554"/>
              <a:gd name="T3" fmla="*/ 118 h 301"/>
              <a:gd name="T4" fmla="*/ 322 w 554"/>
              <a:gd name="T5" fmla="*/ 202 h 301"/>
              <a:gd name="T6" fmla="*/ 379 w 554"/>
              <a:gd name="T7" fmla="*/ 255 h 301"/>
              <a:gd name="T8" fmla="*/ 455 w 554"/>
              <a:gd name="T9" fmla="*/ 254 h 301"/>
              <a:gd name="T10" fmla="*/ 501 w 554"/>
              <a:gd name="T11" fmla="*/ 192 h 301"/>
              <a:gd name="T12" fmla="*/ 502 w 554"/>
              <a:gd name="T13" fmla="*/ 107 h 301"/>
              <a:gd name="T14" fmla="*/ 459 w 554"/>
              <a:gd name="T15" fmla="*/ 55 h 301"/>
              <a:gd name="T16" fmla="*/ 140 w 554"/>
              <a:gd name="T17" fmla="*/ 37 h 301"/>
              <a:gd name="T18" fmla="*/ 75 w 554"/>
              <a:gd name="T19" fmla="*/ 63 h 301"/>
              <a:gd name="T20" fmla="*/ 46 w 554"/>
              <a:gd name="T21" fmla="*/ 145 h 301"/>
              <a:gd name="T22" fmla="*/ 69 w 554"/>
              <a:gd name="T23" fmla="*/ 222 h 301"/>
              <a:gd name="T24" fmla="*/ 138 w 554"/>
              <a:gd name="T25" fmla="*/ 253 h 301"/>
              <a:gd name="T26" fmla="*/ 201 w 554"/>
              <a:gd name="T27" fmla="*/ 221 h 301"/>
              <a:gd name="T28" fmla="*/ 257 w 554"/>
              <a:gd name="T29" fmla="*/ 130 h 301"/>
              <a:gd name="T30" fmla="*/ 140 w 554"/>
              <a:gd name="T31" fmla="*/ 37 h 301"/>
              <a:gd name="T32" fmla="*/ 179 w 554"/>
              <a:gd name="T33" fmla="*/ 7 h 301"/>
              <a:gd name="T34" fmla="*/ 247 w 554"/>
              <a:gd name="T35" fmla="*/ 61 h 301"/>
              <a:gd name="T36" fmla="*/ 305 w 554"/>
              <a:gd name="T37" fmla="*/ 52 h 301"/>
              <a:gd name="T38" fmla="*/ 381 w 554"/>
              <a:gd name="T39" fmla="*/ 4 h 301"/>
              <a:gd name="T40" fmla="*/ 477 w 554"/>
              <a:gd name="T41" fmla="*/ 12 h 301"/>
              <a:gd name="T42" fmla="*/ 544 w 554"/>
              <a:gd name="T43" fmla="*/ 91 h 301"/>
              <a:gd name="T44" fmla="*/ 544 w 554"/>
              <a:gd name="T45" fmla="*/ 208 h 301"/>
              <a:gd name="T46" fmla="*/ 474 w 554"/>
              <a:gd name="T47" fmla="*/ 289 h 301"/>
              <a:gd name="T48" fmla="*/ 375 w 554"/>
              <a:gd name="T49" fmla="*/ 292 h 301"/>
              <a:gd name="T50" fmla="*/ 310 w 554"/>
              <a:gd name="T51" fmla="*/ 235 h 301"/>
              <a:gd name="T52" fmla="*/ 255 w 554"/>
              <a:gd name="T53" fmla="*/ 243 h 301"/>
              <a:gd name="T54" fmla="*/ 183 w 554"/>
              <a:gd name="T55" fmla="*/ 294 h 301"/>
              <a:gd name="T56" fmla="*/ 80 w 554"/>
              <a:gd name="T57" fmla="*/ 287 h 301"/>
              <a:gd name="T58" fmla="*/ 9 w 554"/>
              <a:gd name="T59" fmla="*/ 205 h 301"/>
              <a:gd name="T60" fmla="*/ 9 w 554"/>
              <a:gd name="T61" fmla="*/ 89 h 301"/>
              <a:gd name="T62" fmla="*/ 79 w 554"/>
              <a:gd name="T63" fmla="*/ 11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554" h="301">
                <a:moveTo>
                  <a:pt x="421" y="48"/>
                </a:moveTo>
                <a:cubicBezTo>
                  <a:pt x="407" y="48"/>
                  <a:pt x="395" y="51"/>
                  <a:pt x="384" y="57"/>
                </a:cubicBezTo>
                <a:cubicBezTo>
                  <a:pt x="373" y="63"/>
                  <a:pt x="362" y="71"/>
                  <a:pt x="353" y="81"/>
                </a:cubicBezTo>
                <a:cubicBezTo>
                  <a:pt x="343" y="91"/>
                  <a:pt x="334" y="104"/>
                  <a:pt x="326" y="118"/>
                </a:cubicBezTo>
                <a:cubicBezTo>
                  <a:pt x="318" y="133"/>
                  <a:pt x="310" y="148"/>
                  <a:pt x="303" y="165"/>
                </a:cubicBezTo>
                <a:cubicBezTo>
                  <a:pt x="308" y="178"/>
                  <a:pt x="315" y="190"/>
                  <a:pt x="322" y="202"/>
                </a:cubicBezTo>
                <a:cubicBezTo>
                  <a:pt x="329" y="213"/>
                  <a:pt x="338" y="224"/>
                  <a:pt x="347" y="233"/>
                </a:cubicBezTo>
                <a:cubicBezTo>
                  <a:pt x="357" y="242"/>
                  <a:pt x="367" y="249"/>
                  <a:pt x="379" y="255"/>
                </a:cubicBezTo>
                <a:cubicBezTo>
                  <a:pt x="391" y="260"/>
                  <a:pt x="404" y="263"/>
                  <a:pt x="418" y="263"/>
                </a:cubicBezTo>
                <a:cubicBezTo>
                  <a:pt x="432" y="263"/>
                  <a:pt x="444" y="260"/>
                  <a:pt x="455" y="254"/>
                </a:cubicBezTo>
                <a:cubicBezTo>
                  <a:pt x="466" y="248"/>
                  <a:pt x="476" y="240"/>
                  <a:pt x="483" y="229"/>
                </a:cubicBezTo>
                <a:cubicBezTo>
                  <a:pt x="491" y="219"/>
                  <a:pt x="497" y="206"/>
                  <a:pt x="501" y="192"/>
                </a:cubicBezTo>
                <a:cubicBezTo>
                  <a:pt x="505" y="177"/>
                  <a:pt x="507" y="162"/>
                  <a:pt x="507" y="145"/>
                </a:cubicBezTo>
                <a:cubicBezTo>
                  <a:pt x="507" y="131"/>
                  <a:pt x="505" y="118"/>
                  <a:pt x="502" y="107"/>
                </a:cubicBezTo>
                <a:cubicBezTo>
                  <a:pt x="499" y="95"/>
                  <a:pt x="493" y="85"/>
                  <a:pt x="486" y="76"/>
                </a:cubicBezTo>
                <a:cubicBezTo>
                  <a:pt x="479" y="67"/>
                  <a:pt x="470" y="60"/>
                  <a:pt x="459" y="55"/>
                </a:cubicBezTo>
                <a:cubicBezTo>
                  <a:pt x="448" y="50"/>
                  <a:pt x="436" y="48"/>
                  <a:pt x="421" y="48"/>
                </a:cubicBezTo>
                <a:close/>
                <a:moveTo>
                  <a:pt x="140" y="37"/>
                </a:moveTo>
                <a:cubicBezTo>
                  <a:pt x="128" y="37"/>
                  <a:pt x="116" y="39"/>
                  <a:pt x="105" y="44"/>
                </a:cubicBezTo>
                <a:cubicBezTo>
                  <a:pt x="93" y="48"/>
                  <a:pt x="83" y="54"/>
                  <a:pt x="75" y="63"/>
                </a:cubicBezTo>
                <a:cubicBezTo>
                  <a:pt x="66" y="72"/>
                  <a:pt x="59" y="83"/>
                  <a:pt x="54" y="97"/>
                </a:cubicBezTo>
                <a:cubicBezTo>
                  <a:pt x="49" y="110"/>
                  <a:pt x="46" y="126"/>
                  <a:pt x="46" y="145"/>
                </a:cubicBezTo>
                <a:cubicBezTo>
                  <a:pt x="46" y="160"/>
                  <a:pt x="48" y="174"/>
                  <a:pt x="52" y="187"/>
                </a:cubicBezTo>
                <a:cubicBezTo>
                  <a:pt x="56" y="201"/>
                  <a:pt x="62" y="212"/>
                  <a:pt x="69" y="222"/>
                </a:cubicBezTo>
                <a:cubicBezTo>
                  <a:pt x="77" y="231"/>
                  <a:pt x="86" y="239"/>
                  <a:pt x="98" y="244"/>
                </a:cubicBezTo>
                <a:cubicBezTo>
                  <a:pt x="109" y="250"/>
                  <a:pt x="123" y="253"/>
                  <a:pt x="138" y="253"/>
                </a:cubicBezTo>
                <a:cubicBezTo>
                  <a:pt x="151" y="253"/>
                  <a:pt x="162" y="250"/>
                  <a:pt x="172" y="244"/>
                </a:cubicBezTo>
                <a:cubicBezTo>
                  <a:pt x="182" y="239"/>
                  <a:pt x="192" y="231"/>
                  <a:pt x="201" y="221"/>
                </a:cubicBezTo>
                <a:cubicBezTo>
                  <a:pt x="210" y="210"/>
                  <a:pt x="219" y="197"/>
                  <a:pt x="228" y="182"/>
                </a:cubicBezTo>
                <a:cubicBezTo>
                  <a:pt x="237" y="167"/>
                  <a:pt x="246" y="150"/>
                  <a:pt x="257" y="130"/>
                </a:cubicBezTo>
                <a:cubicBezTo>
                  <a:pt x="242" y="97"/>
                  <a:pt x="225" y="74"/>
                  <a:pt x="205" y="59"/>
                </a:cubicBezTo>
                <a:cubicBezTo>
                  <a:pt x="185" y="44"/>
                  <a:pt x="164" y="37"/>
                  <a:pt x="140" y="37"/>
                </a:cubicBezTo>
                <a:close/>
                <a:moveTo>
                  <a:pt x="136" y="0"/>
                </a:moveTo>
                <a:cubicBezTo>
                  <a:pt x="151" y="0"/>
                  <a:pt x="166" y="2"/>
                  <a:pt x="179" y="7"/>
                </a:cubicBezTo>
                <a:cubicBezTo>
                  <a:pt x="192" y="12"/>
                  <a:pt x="205" y="19"/>
                  <a:pt x="216" y="28"/>
                </a:cubicBezTo>
                <a:cubicBezTo>
                  <a:pt x="227" y="37"/>
                  <a:pt x="237" y="48"/>
                  <a:pt x="247" y="61"/>
                </a:cubicBezTo>
                <a:cubicBezTo>
                  <a:pt x="256" y="73"/>
                  <a:pt x="265" y="87"/>
                  <a:pt x="272" y="102"/>
                </a:cubicBezTo>
                <a:cubicBezTo>
                  <a:pt x="283" y="82"/>
                  <a:pt x="294" y="65"/>
                  <a:pt x="305" y="52"/>
                </a:cubicBezTo>
                <a:cubicBezTo>
                  <a:pt x="317" y="38"/>
                  <a:pt x="329" y="28"/>
                  <a:pt x="342" y="20"/>
                </a:cubicBezTo>
                <a:cubicBezTo>
                  <a:pt x="355" y="13"/>
                  <a:pt x="368" y="7"/>
                  <a:pt x="381" y="4"/>
                </a:cubicBezTo>
                <a:cubicBezTo>
                  <a:pt x="395" y="1"/>
                  <a:pt x="409" y="0"/>
                  <a:pt x="422" y="0"/>
                </a:cubicBezTo>
                <a:cubicBezTo>
                  <a:pt x="443" y="0"/>
                  <a:pt x="461" y="4"/>
                  <a:pt x="477" y="12"/>
                </a:cubicBezTo>
                <a:cubicBezTo>
                  <a:pt x="493" y="19"/>
                  <a:pt x="507" y="30"/>
                  <a:pt x="518" y="44"/>
                </a:cubicBezTo>
                <a:cubicBezTo>
                  <a:pt x="530" y="57"/>
                  <a:pt x="538" y="73"/>
                  <a:pt x="544" y="91"/>
                </a:cubicBezTo>
                <a:cubicBezTo>
                  <a:pt x="551" y="109"/>
                  <a:pt x="554" y="128"/>
                  <a:pt x="554" y="148"/>
                </a:cubicBezTo>
                <a:cubicBezTo>
                  <a:pt x="554" y="170"/>
                  <a:pt x="550" y="190"/>
                  <a:pt x="544" y="208"/>
                </a:cubicBezTo>
                <a:cubicBezTo>
                  <a:pt x="538" y="227"/>
                  <a:pt x="529" y="243"/>
                  <a:pt x="517" y="257"/>
                </a:cubicBezTo>
                <a:cubicBezTo>
                  <a:pt x="505" y="270"/>
                  <a:pt x="491" y="281"/>
                  <a:pt x="474" y="289"/>
                </a:cubicBezTo>
                <a:cubicBezTo>
                  <a:pt x="457" y="297"/>
                  <a:pt x="438" y="301"/>
                  <a:pt x="417" y="301"/>
                </a:cubicBezTo>
                <a:cubicBezTo>
                  <a:pt x="402" y="301"/>
                  <a:pt x="388" y="298"/>
                  <a:pt x="375" y="292"/>
                </a:cubicBezTo>
                <a:cubicBezTo>
                  <a:pt x="362" y="286"/>
                  <a:pt x="350" y="279"/>
                  <a:pt x="340" y="269"/>
                </a:cubicBezTo>
                <a:cubicBezTo>
                  <a:pt x="329" y="259"/>
                  <a:pt x="319" y="248"/>
                  <a:pt x="310" y="235"/>
                </a:cubicBezTo>
                <a:cubicBezTo>
                  <a:pt x="302" y="222"/>
                  <a:pt x="294" y="208"/>
                  <a:pt x="286" y="193"/>
                </a:cubicBezTo>
                <a:cubicBezTo>
                  <a:pt x="276" y="213"/>
                  <a:pt x="266" y="229"/>
                  <a:pt x="255" y="243"/>
                </a:cubicBezTo>
                <a:cubicBezTo>
                  <a:pt x="244" y="256"/>
                  <a:pt x="232" y="267"/>
                  <a:pt x="220" y="276"/>
                </a:cubicBezTo>
                <a:cubicBezTo>
                  <a:pt x="208" y="284"/>
                  <a:pt x="195" y="290"/>
                  <a:pt x="183" y="294"/>
                </a:cubicBezTo>
                <a:cubicBezTo>
                  <a:pt x="170" y="298"/>
                  <a:pt x="157" y="300"/>
                  <a:pt x="145" y="300"/>
                </a:cubicBezTo>
                <a:cubicBezTo>
                  <a:pt x="120" y="300"/>
                  <a:pt x="99" y="296"/>
                  <a:pt x="80" y="287"/>
                </a:cubicBezTo>
                <a:cubicBezTo>
                  <a:pt x="62" y="279"/>
                  <a:pt x="47" y="268"/>
                  <a:pt x="35" y="253"/>
                </a:cubicBezTo>
                <a:cubicBezTo>
                  <a:pt x="23" y="239"/>
                  <a:pt x="15" y="223"/>
                  <a:pt x="9" y="205"/>
                </a:cubicBezTo>
                <a:cubicBezTo>
                  <a:pt x="3" y="187"/>
                  <a:pt x="0" y="168"/>
                  <a:pt x="0" y="148"/>
                </a:cubicBezTo>
                <a:cubicBezTo>
                  <a:pt x="0" y="127"/>
                  <a:pt x="3" y="107"/>
                  <a:pt x="9" y="89"/>
                </a:cubicBezTo>
                <a:cubicBezTo>
                  <a:pt x="16" y="71"/>
                  <a:pt x="25" y="55"/>
                  <a:pt x="36" y="42"/>
                </a:cubicBezTo>
                <a:cubicBezTo>
                  <a:pt x="48" y="29"/>
                  <a:pt x="62" y="18"/>
                  <a:pt x="79" y="11"/>
                </a:cubicBezTo>
                <a:cubicBezTo>
                  <a:pt x="96" y="4"/>
                  <a:pt x="115" y="0"/>
                  <a:pt x="136" y="0"/>
                </a:cubicBez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8" name="Freeform 43"/>
          <p:cNvSpPr>
            <a:spLocks noEditPoints="1"/>
          </p:cNvSpPr>
          <p:nvPr/>
        </p:nvSpPr>
        <p:spPr bwMode="auto">
          <a:xfrm>
            <a:off x="18684875" y="10888663"/>
            <a:ext cx="244475" cy="390525"/>
          </a:xfrm>
          <a:custGeom>
            <a:avLst/>
            <a:gdLst>
              <a:gd name="T0" fmla="*/ 160 w 321"/>
              <a:gd name="T1" fmla="*/ 31 h 511"/>
              <a:gd name="T2" fmla="*/ 118 w 321"/>
              <a:gd name="T3" fmla="*/ 46 h 511"/>
              <a:gd name="T4" fmla="*/ 90 w 321"/>
              <a:gd name="T5" fmla="*/ 89 h 511"/>
              <a:gd name="T6" fmla="*/ 76 w 321"/>
              <a:gd name="T7" fmla="*/ 158 h 511"/>
              <a:gd name="T8" fmla="*/ 71 w 321"/>
              <a:gd name="T9" fmla="*/ 249 h 511"/>
              <a:gd name="T10" fmla="*/ 93 w 321"/>
              <a:gd name="T11" fmla="*/ 424 h 511"/>
              <a:gd name="T12" fmla="*/ 162 w 321"/>
              <a:gd name="T13" fmla="*/ 480 h 511"/>
              <a:gd name="T14" fmla="*/ 228 w 321"/>
              <a:gd name="T15" fmla="*/ 427 h 511"/>
              <a:gd name="T16" fmla="*/ 249 w 321"/>
              <a:gd name="T17" fmla="*/ 265 h 511"/>
              <a:gd name="T18" fmla="*/ 238 w 321"/>
              <a:gd name="T19" fmla="*/ 128 h 511"/>
              <a:gd name="T20" fmla="*/ 208 w 321"/>
              <a:gd name="T21" fmla="*/ 53 h 511"/>
              <a:gd name="T22" fmla="*/ 160 w 321"/>
              <a:gd name="T23" fmla="*/ 31 h 511"/>
              <a:gd name="T24" fmla="*/ 162 w 321"/>
              <a:gd name="T25" fmla="*/ 0 h 511"/>
              <a:gd name="T26" fmla="*/ 281 w 321"/>
              <a:gd name="T27" fmla="*/ 61 h 511"/>
              <a:gd name="T28" fmla="*/ 321 w 321"/>
              <a:gd name="T29" fmla="*/ 249 h 511"/>
              <a:gd name="T30" fmla="*/ 279 w 321"/>
              <a:gd name="T31" fmla="*/ 445 h 511"/>
              <a:gd name="T32" fmla="*/ 156 w 321"/>
              <a:gd name="T33" fmla="*/ 511 h 511"/>
              <a:gd name="T34" fmla="*/ 38 w 321"/>
              <a:gd name="T35" fmla="*/ 449 h 511"/>
              <a:gd name="T36" fmla="*/ 0 w 321"/>
              <a:gd name="T37" fmla="*/ 260 h 511"/>
              <a:gd name="T38" fmla="*/ 12 w 321"/>
              <a:gd name="T39" fmla="*/ 143 h 511"/>
              <a:gd name="T40" fmla="*/ 45 w 321"/>
              <a:gd name="T41" fmla="*/ 62 h 511"/>
              <a:gd name="T42" fmla="*/ 97 w 321"/>
              <a:gd name="T43" fmla="*/ 15 h 511"/>
              <a:gd name="T44" fmla="*/ 162 w 321"/>
              <a:gd name="T45" fmla="*/ 0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21" h="511">
                <a:moveTo>
                  <a:pt x="160" y="31"/>
                </a:moveTo>
                <a:cubicBezTo>
                  <a:pt x="143" y="31"/>
                  <a:pt x="129" y="36"/>
                  <a:pt x="118" y="46"/>
                </a:cubicBezTo>
                <a:cubicBezTo>
                  <a:pt x="107" y="56"/>
                  <a:pt x="97" y="70"/>
                  <a:pt x="90" y="89"/>
                </a:cubicBezTo>
                <a:cubicBezTo>
                  <a:pt x="84" y="108"/>
                  <a:pt x="79" y="131"/>
                  <a:pt x="76" y="158"/>
                </a:cubicBezTo>
                <a:cubicBezTo>
                  <a:pt x="73" y="185"/>
                  <a:pt x="71" y="215"/>
                  <a:pt x="71" y="249"/>
                </a:cubicBezTo>
                <a:cubicBezTo>
                  <a:pt x="71" y="329"/>
                  <a:pt x="79" y="387"/>
                  <a:pt x="93" y="424"/>
                </a:cubicBezTo>
                <a:cubicBezTo>
                  <a:pt x="108" y="461"/>
                  <a:pt x="131" y="480"/>
                  <a:pt x="162" y="480"/>
                </a:cubicBezTo>
                <a:cubicBezTo>
                  <a:pt x="192" y="480"/>
                  <a:pt x="214" y="462"/>
                  <a:pt x="228" y="427"/>
                </a:cubicBezTo>
                <a:cubicBezTo>
                  <a:pt x="242" y="392"/>
                  <a:pt x="249" y="338"/>
                  <a:pt x="249" y="265"/>
                </a:cubicBezTo>
                <a:cubicBezTo>
                  <a:pt x="249" y="209"/>
                  <a:pt x="246" y="163"/>
                  <a:pt x="238" y="128"/>
                </a:cubicBezTo>
                <a:cubicBezTo>
                  <a:pt x="231" y="93"/>
                  <a:pt x="221" y="68"/>
                  <a:pt x="208" y="53"/>
                </a:cubicBezTo>
                <a:cubicBezTo>
                  <a:pt x="195" y="38"/>
                  <a:pt x="179" y="31"/>
                  <a:pt x="160" y="31"/>
                </a:cubicBezTo>
                <a:close/>
                <a:moveTo>
                  <a:pt x="162" y="0"/>
                </a:moveTo>
                <a:cubicBezTo>
                  <a:pt x="216" y="0"/>
                  <a:pt x="255" y="20"/>
                  <a:pt x="281" y="61"/>
                </a:cubicBezTo>
                <a:cubicBezTo>
                  <a:pt x="308" y="103"/>
                  <a:pt x="321" y="165"/>
                  <a:pt x="321" y="249"/>
                </a:cubicBezTo>
                <a:cubicBezTo>
                  <a:pt x="321" y="335"/>
                  <a:pt x="307" y="400"/>
                  <a:pt x="279" y="445"/>
                </a:cubicBezTo>
                <a:cubicBezTo>
                  <a:pt x="251" y="489"/>
                  <a:pt x="210" y="511"/>
                  <a:pt x="156" y="511"/>
                </a:cubicBezTo>
                <a:cubicBezTo>
                  <a:pt x="103" y="511"/>
                  <a:pt x="64" y="490"/>
                  <a:pt x="38" y="449"/>
                </a:cubicBezTo>
                <a:cubicBezTo>
                  <a:pt x="13" y="407"/>
                  <a:pt x="0" y="344"/>
                  <a:pt x="0" y="260"/>
                </a:cubicBezTo>
                <a:cubicBezTo>
                  <a:pt x="0" y="215"/>
                  <a:pt x="4" y="176"/>
                  <a:pt x="12" y="143"/>
                </a:cubicBezTo>
                <a:cubicBezTo>
                  <a:pt x="20" y="111"/>
                  <a:pt x="31" y="84"/>
                  <a:pt x="45" y="62"/>
                </a:cubicBezTo>
                <a:cubicBezTo>
                  <a:pt x="59" y="41"/>
                  <a:pt x="76" y="25"/>
                  <a:pt x="97" y="15"/>
                </a:cubicBezTo>
                <a:cubicBezTo>
                  <a:pt x="117" y="5"/>
                  <a:pt x="138" y="0"/>
                  <a:pt x="162" y="0"/>
                </a:cubicBez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9" name="Freeform 44"/>
          <p:cNvSpPr>
            <a:spLocks noEditPoints="1"/>
          </p:cNvSpPr>
          <p:nvPr/>
        </p:nvSpPr>
        <p:spPr bwMode="auto">
          <a:xfrm>
            <a:off x="21070888" y="10996613"/>
            <a:ext cx="422275" cy="230188"/>
          </a:xfrm>
          <a:custGeom>
            <a:avLst/>
            <a:gdLst>
              <a:gd name="T0" fmla="*/ 384 w 554"/>
              <a:gd name="T1" fmla="*/ 57 h 301"/>
              <a:gd name="T2" fmla="*/ 326 w 554"/>
              <a:gd name="T3" fmla="*/ 118 h 301"/>
              <a:gd name="T4" fmla="*/ 322 w 554"/>
              <a:gd name="T5" fmla="*/ 202 h 301"/>
              <a:gd name="T6" fmla="*/ 379 w 554"/>
              <a:gd name="T7" fmla="*/ 255 h 301"/>
              <a:gd name="T8" fmla="*/ 455 w 554"/>
              <a:gd name="T9" fmla="*/ 254 h 301"/>
              <a:gd name="T10" fmla="*/ 501 w 554"/>
              <a:gd name="T11" fmla="*/ 192 h 301"/>
              <a:gd name="T12" fmla="*/ 502 w 554"/>
              <a:gd name="T13" fmla="*/ 107 h 301"/>
              <a:gd name="T14" fmla="*/ 459 w 554"/>
              <a:gd name="T15" fmla="*/ 55 h 301"/>
              <a:gd name="T16" fmla="*/ 140 w 554"/>
              <a:gd name="T17" fmla="*/ 37 h 301"/>
              <a:gd name="T18" fmla="*/ 75 w 554"/>
              <a:gd name="T19" fmla="*/ 63 h 301"/>
              <a:gd name="T20" fmla="*/ 46 w 554"/>
              <a:gd name="T21" fmla="*/ 145 h 301"/>
              <a:gd name="T22" fmla="*/ 69 w 554"/>
              <a:gd name="T23" fmla="*/ 222 h 301"/>
              <a:gd name="T24" fmla="*/ 138 w 554"/>
              <a:gd name="T25" fmla="*/ 253 h 301"/>
              <a:gd name="T26" fmla="*/ 201 w 554"/>
              <a:gd name="T27" fmla="*/ 221 h 301"/>
              <a:gd name="T28" fmla="*/ 257 w 554"/>
              <a:gd name="T29" fmla="*/ 130 h 301"/>
              <a:gd name="T30" fmla="*/ 140 w 554"/>
              <a:gd name="T31" fmla="*/ 37 h 301"/>
              <a:gd name="T32" fmla="*/ 179 w 554"/>
              <a:gd name="T33" fmla="*/ 7 h 301"/>
              <a:gd name="T34" fmla="*/ 247 w 554"/>
              <a:gd name="T35" fmla="*/ 61 h 301"/>
              <a:gd name="T36" fmla="*/ 305 w 554"/>
              <a:gd name="T37" fmla="*/ 52 h 301"/>
              <a:gd name="T38" fmla="*/ 381 w 554"/>
              <a:gd name="T39" fmla="*/ 4 h 301"/>
              <a:gd name="T40" fmla="*/ 477 w 554"/>
              <a:gd name="T41" fmla="*/ 12 h 301"/>
              <a:gd name="T42" fmla="*/ 544 w 554"/>
              <a:gd name="T43" fmla="*/ 91 h 301"/>
              <a:gd name="T44" fmla="*/ 544 w 554"/>
              <a:gd name="T45" fmla="*/ 208 h 301"/>
              <a:gd name="T46" fmla="*/ 474 w 554"/>
              <a:gd name="T47" fmla="*/ 289 h 301"/>
              <a:gd name="T48" fmla="*/ 375 w 554"/>
              <a:gd name="T49" fmla="*/ 292 h 301"/>
              <a:gd name="T50" fmla="*/ 310 w 554"/>
              <a:gd name="T51" fmla="*/ 235 h 301"/>
              <a:gd name="T52" fmla="*/ 255 w 554"/>
              <a:gd name="T53" fmla="*/ 243 h 301"/>
              <a:gd name="T54" fmla="*/ 183 w 554"/>
              <a:gd name="T55" fmla="*/ 294 h 301"/>
              <a:gd name="T56" fmla="*/ 80 w 554"/>
              <a:gd name="T57" fmla="*/ 287 h 301"/>
              <a:gd name="T58" fmla="*/ 9 w 554"/>
              <a:gd name="T59" fmla="*/ 205 h 301"/>
              <a:gd name="T60" fmla="*/ 9 w 554"/>
              <a:gd name="T61" fmla="*/ 89 h 301"/>
              <a:gd name="T62" fmla="*/ 79 w 554"/>
              <a:gd name="T63" fmla="*/ 11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554" h="301">
                <a:moveTo>
                  <a:pt x="421" y="48"/>
                </a:moveTo>
                <a:cubicBezTo>
                  <a:pt x="407" y="48"/>
                  <a:pt x="395" y="51"/>
                  <a:pt x="384" y="57"/>
                </a:cubicBezTo>
                <a:cubicBezTo>
                  <a:pt x="373" y="63"/>
                  <a:pt x="362" y="71"/>
                  <a:pt x="353" y="81"/>
                </a:cubicBezTo>
                <a:cubicBezTo>
                  <a:pt x="343" y="91"/>
                  <a:pt x="334" y="104"/>
                  <a:pt x="326" y="118"/>
                </a:cubicBezTo>
                <a:cubicBezTo>
                  <a:pt x="318" y="133"/>
                  <a:pt x="310" y="148"/>
                  <a:pt x="303" y="165"/>
                </a:cubicBezTo>
                <a:cubicBezTo>
                  <a:pt x="308" y="178"/>
                  <a:pt x="315" y="190"/>
                  <a:pt x="322" y="202"/>
                </a:cubicBezTo>
                <a:cubicBezTo>
                  <a:pt x="329" y="213"/>
                  <a:pt x="338" y="224"/>
                  <a:pt x="347" y="233"/>
                </a:cubicBezTo>
                <a:cubicBezTo>
                  <a:pt x="357" y="242"/>
                  <a:pt x="367" y="249"/>
                  <a:pt x="379" y="255"/>
                </a:cubicBezTo>
                <a:cubicBezTo>
                  <a:pt x="391" y="260"/>
                  <a:pt x="404" y="263"/>
                  <a:pt x="418" y="263"/>
                </a:cubicBezTo>
                <a:cubicBezTo>
                  <a:pt x="432" y="263"/>
                  <a:pt x="444" y="260"/>
                  <a:pt x="455" y="254"/>
                </a:cubicBezTo>
                <a:cubicBezTo>
                  <a:pt x="466" y="248"/>
                  <a:pt x="476" y="240"/>
                  <a:pt x="483" y="229"/>
                </a:cubicBezTo>
                <a:cubicBezTo>
                  <a:pt x="491" y="219"/>
                  <a:pt x="497" y="206"/>
                  <a:pt x="501" y="192"/>
                </a:cubicBezTo>
                <a:cubicBezTo>
                  <a:pt x="505" y="177"/>
                  <a:pt x="507" y="162"/>
                  <a:pt x="507" y="145"/>
                </a:cubicBezTo>
                <a:cubicBezTo>
                  <a:pt x="507" y="131"/>
                  <a:pt x="505" y="118"/>
                  <a:pt x="502" y="107"/>
                </a:cubicBezTo>
                <a:cubicBezTo>
                  <a:pt x="498" y="95"/>
                  <a:pt x="493" y="85"/>
                  <a:pt x="486" y="76"/>
                </a:cubicBezTo>
                <a:cubicBezTo>
                  <a:pt x="479" y="67"/>
                  <a:pt x="470" y="60"/>
                  <a:pt x="459" y="55"/>
                </a:cubicBezTo>
                <a:cubicBezTo>
                  <a:pt x="448" y="50"/>
                  <a:pt x="436" y="48"/>
                  <a:pt x="421" y="48"/>
                </a:cubicBezTo>
                <a:close/>
                <a:moveTo>
                  <a:pt x="140" y="37"/>
                </a:moveTo>
                <a:cubicBezTo>
                  <a:pt x="128" y="37"/>
                  <a:pt x="116" y="39"/>
                  <a:pt x="105" y="44"/>
                </a:cubicBezTo>
                <a:cubicBezTo>
                  <a:pt x="93" y="48"/>
                  <a:pt x="83" y="54"/>
                  <a:pt x="75" y="63"/>
                </a:cubicBezTo>
                <a:cubicBezTo>
                  <a:pt x="66" y="72"/>
                  <a:pt x="59" y="83"/>
                  <a:pt x="54" y="97"/>
                </a:cubicBezTo>
                <a:cubicBezTo>
                  <a:pt x="49" y="110"/>
                  <a:pt x="46" y="126"/>
                  <a:pt x="46" y="145"/>
                </a:cubicBezTo>
                <a:cubicBezTo>
                  <a:pt x="46" y="160"/>
                  <a:pt x="48" y="174"/>
                  <a:pt x="52" y="187"/>
                </a:cubicBezTo>
                <a:cubicBezTo>
                  <a:pt x="56" y="201"/>
                  <a:pt x="62" y="212"/>
                  <a:pt x="69" y="222"/>
                </a:cubicBezTo>
                <a:cubicBezTo>
                  <a:pt x="77" y="231"/>
                  <a:pt x="86" y="239"/>
                  <a:pt x="98" y="244"/>
                </a:cubicBezTo>
                <a:cubicBezTo>
                  <a:pt x="109" y="250"/>
                  <a:pt x="123" y="253"/>
                  <a:pt x="138" y="253"/>
                </a:cubicBezTo>
                <a:cubicBezTo>
                  <a:pt x="151" y="253"/>
                  <a:pt x="162" y="250"/>
                  <a:pt x="172" y="244"/>
                </a:cubicBezTo>
                <a:cubicBezTo>
                  <a:pt x="182" y="239"/>
                  <a:pt x="192" y="231"/>
                  <a:pt x="201" y="221"/>
                </a:cubicBezTo>
                <a:cubicBezTo>
                  <a:pt x="210" y="210"/>
                  <a:pt x="219" y="197"/>
                  <a:pt x="228" y="182"/>
                </a:cubicBezTo>
                <a:cubicBezTo>
                  <a:pt x="237" y="167"/>
                  <a:pt x="246" y="150"/>
                  <a:pt x="257" y="130"/>
                </a:cubicBezTo>
                <a:cubicBezTo>
                  <a:pt x="242" y="97"/>
                  <a:pt x="225" y="74"/>
                  <a:pt x="205" y="59"/>
                </a:cubicBezTo>
                <a:cubicBezTo>
                  <a:pt x="185" y="44"/>
                  <a:pt x="164" y="37"/>
                  <a:pt x="140" y="37"/>
                </a:cubicBezTo>
                <a:close/>
                <a:moveTo>
                  <a:pt x="136" y="0"/>
                </a:moveTo>
                <a:cubicBezTo>
                  <a:pt x="151" y="0"/>
                  <a:pt x="166" y="2"/>
                  <a:pt x="179" y="7"/>
                </a:cubicBezTo>
                <a:cubicBezTo>
                  <a:pt x="192" y="12"/>
                  <a:pt x="205" y="19"/>
                  <a:pt x="216" y="28"/>
                </a:cubicBezTo>
                <a:cubicBezTo>
                  <a:pt x="227" y="37"/>
                  <a:pt x="237" y="48"/>
                  <a:pt x="247" y="61"/>
                </a:cubicBezTo>
                <a:cubicBezTo>
                  <a:pt x="256" y="73"/>
                  <a:pt x="264" y="87"/>
                  <a:pt x="272" y="102"/>
                </a:cubicBezTo>
                <a:cubicBezTo>
                  <a:pt x="283" y="82"/>
                  <a:pt x="294" y="65"/>
                  <a:pt x="305" y="52"/>
                </a:cubicBezTo>
                <a:cubicBezTo>
                  <a:pt x="317" y="38"/>
                  <a:pt x="329" y="28"/>
                  <a:pt x="342" y="20"/>
                </a:cubicBezTo>
                <a:cubicBezTo>
                  <a:pt x="355" y="13"/>
                  <a:pt x="368" y="7"/>
                  <a:pt x="381" y="4"/>
                </a:cubicBezTo>
                <a:cubicBezTo>
                  <a:pt x="395" y="1"/>
                  <a:pt x="409" y="0"/>
                  <a:pt x="422" y="0"/>
                </a:cubicBezTo>
                <a:cubicBezTo>
                  <a:pt x="442" y="0"/>
                  <a:pt x="461" y="4"/>
                  <a:pt x="477" y="12"/>
                </a:cubicBezTo>
                <a:cubicBezTo>
                  <a:pt x="493" y="19"/>
                  <a:pt x="507" y="30"/>
                  <a:pt x="518" y="44"/>
                </a:cubicBezTo>
                <a:cubicBezTo>
                  <a:pt x="530" y="57"/>
                  <a:pt x="538" y="73"/>
                  <a:pt x="544" y="91"/>
                </a:cubicBezTo>
                <a:cubicBezTo>
                  <a:pt x="550" y="109"/>
                  <a:pt x="554" y="128"/>
                  <a:pt x="554" y="148"/>
                </a:cubicBezTo>
                <a:cubicBezTo>
                  <a:pt x="554" y="170"/>
                  <a:pt x="550" y="190"/>
                  <a:pt x="544" y="208"/>
                </a:cubicBezTo>
                <a:cubicBezTo>
                  <a:pt x="538" y="227"/>
                  <a:pt x="529" y="243"/>
                  <a:pt x="517" y="257"/>
                </a:cubicBezTo>
                <a:cubicBezTo>
                  <a:pt x="505" y="270"/>
                  <a:pt x="491" y="281"/>
                  <a:pt x="474" y="289"/>
                </a:cubicBezTo>
                <a:cubicBezTo>
                  <a:pt x="457" y="297"/>
                  <a:pt x="438" y="301"/>
                  <a:pt x="417" y="301"/>
                </a:cubicBezTo>
                <a:cubicBezTo>
                  <a:pt x="402" y="301"/>
                  <a:pt x="387" y="298"/>
                  <a:pt x="375" y="292"/>
                </a:cubicBezTo>
                <a:cubicBezTo>
                  <a:pt x="362" y="286"/>
                  <a:pt x="350" y="279"/>
                  <a:pt x="339" y="269"/>
                </a:cubicBezTo>
                <a:cubicBezTo>
                  <a:pt x="329" y="259"/>
                  <a:pt x="319" y="248"/>
                  <a:pt x="310" y="235"/>
                </a:cubicBezTo>
                <a:cubicBezTo>
                  <a:pt x="302" y="222"/>
                  <a:pt x="294" y="208"/>
                  <a:pt x="286" y="193"/>
                </a:cubicBezTo>
                <a:cubicBezTo>
                  <a:pt x="276" y="213"/>
                  <a:pt x="266" y="229"/>
                  <a:pt x="255" y="243"/>
                </a:cubicBezTo>
                <a:cubicBezTo>
                  <a:pt x="243" y="256"/>
                  <a:pt x="232" y="267"/>
                  <a:pt x="220" y="276"/>
                </a:cubicBezTo>
                <a:cubicBezTo>
                  <a:pt x="208" y="284"/>
                  <a:pt x="195" y="290"/>
                  <a:pt x="183" y="294"/>
                </a:cubicBezTo>
                <a:cubicBezTo>
                  <a:pt x="170" y="298"/>
                  <a:pt x="157" y="300"/>
                  <a:pt x="144" y="300"/>
                </a:cubicBezTo>
                <a:cubicBezTo>
                  <a:pt x="120" y="300"/>
                  <a:pt x="98" y="296"/>
                  <a:pt x="80" y="287"/>
                </a:cubicBezTo>
                <a:cubicBezTo>
                  <a:pt x="62" y="279"/>
                  <a:pt x="47" y="268"/>
                  <a:pt x="35" y="253"/>
                </a:cubicBezTo>
                <a:cubicBezTo>
                  <a:pt x="23" y="239"/>
                  <a:pt x="14" y="223"/>
                  <a:pt x="9" y="205"/>
                </a:cubicBezTo>
                <a:cubicBezTo>
                  <a:pt x="3" y="187"/>
                  <a:pt x="0" y="168"/>
                  <a:pt x="0" y="148"/>
                </a:cubicBezTo>
                <a:cubicBezTo>
                  <a:pt x="0" y="127"/>
                  <a:pt x="3" y="107"/>
                  <a:pt x="9" y="89"/>
                </a:cubicBezTo>
                <a:cubicBezTo>
                  <a:pt x="16" y="71"/>
                  <a:pt x="25" y="55"/>
                  <a:pt x="36" y="42"/>
                </a:cubicBezTo>
                <a:cubicBezTo>
                  <a:pt x="48" y="29"/>
                  <a:pt x="62" y="18"/>
                  <a:pt x="79" y="11"/>
                </a:cubicBezTo>
                <a:cubicBezTo>
                  <a:pt x="96" y="4"/>
                  <a:pt x="115" y="0"/>
                  <a:pt x="136" y="0"/>
                </a:cubicBez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Rectangle 9"/>
          <p:cNvSpPr>
            <a:spLocks noChangeArrowheads="1"/>
          </p:cNvSpPr>
          <p:nvPr/>
        </p:nvSpPr>
        <p:spPr bwMode="auto">
          <a:xfrm>
            <a:off x="15576550" y="4492625"/>
            <a:ext cx="1252538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Min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62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13" grpId="0"/>
      <p:bldP spid="14" grpId="0" animBg="1"/>
      <p:bldP spid="15" grpId="0"/>
      <p:bldP spid="16" grpId="0"/>
      <p:bldP spid="17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7" grpId="0" animBg="1"/>
      <p:bldP spid="28" grpId="0" animBg="1"/>
      <p:bldP spid="29" grpId="0" animBg="1"/>
      <p:bldP spid="30" grpId="0"/>
      <p:bldP spid="2049" grpId="0"/>
      <p:bldP spid="2050" grpId="0" animBg="1"/>
      <p:bldP spid="2051" grpId="0" animBg="1"/>
      <p:bldP spid="2053" grpId="0" animBg="1"/>
      <p:bldP spid="2054" grpId="0" animBg="1"/>
      <p:bldP spid="2055" grpId="0"/>
      <p:bldP spid="2056" grpId="0" animBg="1"/>
      <p:bldP spid="2057" grpId="0" animBg="1"/>
      <p:bldP spid="2058" grpId="0" animBg="1"/>
      <p:bldP spid="2059" grpId="0" animBg="1"/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123162E-9498-2A4D-26E5-EFA38F72F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3C342FC-1596-5131-A239-073E27D2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1" y="3124200"/>
            <a:ext cx="7010399" cy="1593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491" y="4648200"/>
            <a:ext cx="335426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6048734"/>
            <a:ext cx="3962400" cy="1032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736" y="7081733"/>
            <a:ext cx="4377017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8148534"/>
            <a:ext cx="3124200" cy="1474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9623040"/>
            <a:ext cx="3638915" cy="1433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1" y="11056552"/>
            <a:ext cx="5753835" cy="995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Content Placeholder 5">
            <a:extLst>
              <a:ext uri="{FF2B5EF4-FFF2-40B4-BE49-F238E27FC236}">
                <a16:creationId xmlns="" xmlns:a16="http://schemas.microsoft.com/office/drawing/2014/main" id="{2398BC63-86D8-7440-F3F4-2A506FB63D7C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2772" y="4302234"/>
            <a:ext cx="10363200" cy="670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18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7BFA09-D7B1-F76D-AE16-54FFBA0F3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Sigmoid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72E9ED0-0BE5-955C-45B9-A7CFFF254F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properties,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 descr="A graph with a blue line&#10;&#10;AI-generated content may be incorrect.">
            <a:extLst>
              <a:ext uri="{FF2B5EF4-FFF2-40B4-BE49-F238E27FC236}">
                <a16:creationId xmlns="" xmlns:a16="http://schemas.microsoft.com/office/drawing/2014/main" id="{2398BC63-86D8-7440-F3F4-2A506FB63D7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2772" y="4201346"/>
            <a:ext cx="10363200" cy="6908800"/>
          </a:xfr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6D59DEDE-0D1D-79C9-480E-D8F0B9B106DC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rcRect t="625" r="75089" b="72310"/>
          <a:stretch>
            <a:fillRect/>
          </a:stretch>
        </p:blipFill>
        <p:spPr>
          <a:xfrm>
            <a:off x="1676400" y="5153104"/>
            <a:ext cx="2548758" cy="15108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82BE313E-4A5C-6A06-2089-227C78FC57B4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rcRect l="26247" t="81536"/>
          <a:stretch>
            <a:fillRect/>
          </a:stretch>
        </p:blipFill>
        <p:spPr>
          <a:xfrm>
            <a:off x="4225158" y="5368903"/>
            <a:ext cx="7545884" cy="1030732"/>
          </a:xfrm>
          <a:prstGeom prst="rect">
            <a:avLst/>
          </a:prstGeom>
        </p:spPr>
      </p:pic>
      <p:pic>
        <p:nvPicPr>
          <p:cNvPr id="7" name="Content Placeholder 5">
            <a:extLst>
              <a:ext uri="{FF2B5EF4-FFF2-40B4-BE49-F238E27FC236}">
                <a16:creationId xmlns="" xmlns:a16="http://schemas.microsoft.com/office/drawing/2014/main" id="{2398BC63-86D8-7440-F3F4-2A506FB63D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2772" y="4302234"/>
            <a:ext cx="10363200" cy="67070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009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4EAEC53-3150-822D-29E5-053C842BC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472AC8-3222-7D08-3807-532FFDB3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667DCE7C-2714-71BD-8ABF-C2F37EA66A2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How to choose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Maximum Likelihood Estimation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7DCE7C-2714-71BD-8ABF-C2F37EA66A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diagram of a blue and orange triangle&#10;&#10;AI-generated content may be incorrect.">
            <a:extLst>
              <a:ext uri="{FF2B5EF4-FFF2-40B4-BE49-F238E27FC236}">
                <a16:creationId xmlns="" xmlns:a16="http://schemas.microsoft.com/office/drawing/2014/main" id="{93A4B206-6D24-7C51-0FE7-1D05358C68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400" y="4116387"/>
            <a:ext cx="10363200" cy="7772400"/>
          </a:xfr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9665BBA-FB8D-F58B-A596-E87D1112F410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rcRect b="57719"/>
          <a:stretch>
            <a:fillRect/>
          </a:stretch>
        </p:blipFill>
        <p:spPr>
          <a:xfrm>
            <a:off x="2428257" y="3651250"/>
            <a:ext cx="8859486" cy="1466128"/>
          </a:xfrm>
          <a:prstGeom prst="rect">
            <a:avLst/>
          </a:prstGeom>
        </p:spPr>
      </p:pic>
      <p:pic>
        <p:nvPicPr>
          <p:cNvPr id="7" name="Content Placeholder 5">
            <a:extLst>
              <a:ext uri="{FF2B5EF4-FFF2-40B4-BE49-F238E27FC236}">
                <a16:creationId xmlns="" xmlns:a16="http://schemas.microsoft.com/office/drawing/2014/main" id="{2398BC63-86D8-7440-F3F4-2A506FB63D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2800" y="914400"/>
            <a:ext cx="5641428" cy="36511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8593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123162E-9498-2A4D-26E5-EFA38F72F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3C342FC-1596-5131-A239-073E27D2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Probability (Recap)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="" xmlns:a16="http://schemas.microsoft.com/office/drawing/2014/main" id="{7D5BC9B1-D534-9EF1-6339-72E2FD7209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 smtClean="0"/>
                  <a:t>Bayes’ Theorem</a:t>
                </a:r>
                <a:endParaRPr lang="en-US" b="1" dirty="0"/>
              </a:p>
              <a:p>
                <a:r>
                  <a:rPr lang="en-US" dirty="0"/>
                  <a:t>Given two events A and B, </a:t>
                </a: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P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P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P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P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and,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P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1">
                              <a:latin typeface="Cambria Math"/>
                            </a:rPr>
                            <m:t>P</m:t>
                          </m:r>
                          <m:d>
                            <m:d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i="1">
                              <a:latin typeface="Cambria Math"/>
                            </a:rPr>
                            <m:t>P</m:t>
                          </m:r>
                          <m:d>
                            <m:d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i="1">
                              <a:latin typeface="Cambria Math"/>
                            </a:rPr>
                            <m:t>P</m:t>
                          </m:r>
                          <m:d>
                            <m:d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xmlns="" id="{7D5BC9B1-D534-9EF1-6339-72E2FD7209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8082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123162E-9498-2A4D-26E5-EFA38F72F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3C342FC-1596-5131-A239-073E27D2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Probability (Recap)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="" xmlns:a16="http://schemas.microsoft.com/office/drawing/2014/main" id="{7D5BC9B1-D534-9EF1-6339-72E2FD7209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 smtClean="0"/>
                  <a:t>Bayes’ Theorem</a:t>
                </a:r>
                <a:endParaRPr lang="en-US" b="1" dirty="0"/>
              </a:p>
              <a:p>
                <a:r>
                  <a:rPr lang="en-US" dirty="0"/>
                  <a:t>Given (training) data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𝐷</m:t>
                    </m:r>
                  </m:oMath>
                </a14:m>
                <a:r>
                  <a:rPr lang="en-US" dirty="0"/>
                  <a:t> and a parameter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𝜃</m:t>
                    </m:r>
                    <m:r>
                      <a:rPr lang="en-US">
                        <a:latin typeface="Cambria Math"/>
                      </a:rPr>
                      <m:t> (</m:t>
                    </m:r>
                    <m:r>
                      <a:rPr lang="en-US">
                        <a:latin typeface="Cambria Math"/>
                      </a:rPr>
                      <m:t>𝑟𝑎𝑛𝑑𝑜𝑚</m:t>
                    </m:r>
                    <m:r>
                      <a:rPr lang="en-US">
                        <a:latin typeface="Cambria Math"/>
                      </a:rPr>
                      <m:t> </m:t>
                    </m:r>
                    <m:r>
                      <a:rPr lang="en-US">
                        <a:latin typeface="Cambria Math"/>
                      </a:rPr>
                      <m:t>𝑣𝑎𝑟𝑖𝑎𝑏𝑙𝑒</m:t>
                    </m:r>
                    <m:r>
                      <a:rPr lang="en-US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</a:p>
              <a:p>
                <a:r>
                  <a:rPr lang="en-US" dirty="0"/>
                  <a:t>Likelihood,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P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𝐷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Prior,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P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Evidence,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P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Posterior,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P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en-US" i="1">
                              <a:latin typeface="Cambria Math"/>
                            </a:rPr>
                            <m:t>𝐷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𝐷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Posterior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US" dirty="0"/>
                  <a:t> Likelihood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Prior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xmlns="" id="{7D5BC9B1-D534-9EF1-6339-72E2FD7209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915" b="-2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2134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61E6F39-FADB-E800-193F-7D8E6507C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4068DD6-8F21-C92D-72A2-DBA4B22EE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BD8B40E-6EE2-1C55-1EE9-97E418E021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assume</a:t>
            </a:r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Or,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="" xmlns:a16="http://schemas.microsoft.com/office/drawing/2014/main" id="{2823C70F-0B3D-5632-5222-22C735E65D8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Likelihood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AEEE7620-732A-4347-7E54-BFD27161484C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2553219" y="5715000"/>
            <a:ext cx="8249802" cy="21720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473FF75B-87A6-642F-6C0B-DCE34CA177A6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2447664" y="8622017"/>
            <a:ext cx="9716856" cy="12384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D6FCBAA2-1939-BB7C-9CAB-EF8909107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7036" y="5409540"/>
            <a:ext cx="11926964" cy="472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347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0A3C844-76D0-3B7D-2208-C50202EBB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69131C-4AF4-9B5E-0D93-FD704D6D9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="" xmlns:a16="http://schemas.microsoft.com/office/drawing/2014/main" id="{32F8DA31-00D5-9B74-F31A-C48C87B62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Likelihood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smtClean="0"/>
              <a:t>Log </a:t>
            </a:r>
            <a:r>
              <a:rPr lang="en-US" dirty="0"/>
              <a:t>Likelihood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4CE50006-659C-CFC8-B3C9-D0EE820C2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346" y="3651250"/>
            <a:ext cx="11926964" cy="47250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928F5B0C-C046-DC72-264B-907968BDF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324" y="9448800"/>
            <a:ext cx="14518126" cy="302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03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123162E-9498-2A4D-26E5-EFA38F72F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3C342FC-1596-5131-A239-073E27D2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="" xmlns:a16="http://schemas.microsoft.com/office/drawing/2014/main" id="{7D5BC9B1-D534-9EF1-6339-72E2FD720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Maximize log likelihood </a:t>
            </a:r>
            <a:r>
              <a:rPr lang="en-US" dirty="0" smtClean="0"/>
              <a:t>with,</a:t>
            </a:r>
          </a:p>
          <a:p>
            <a:pPr lvl="1"/>
            <a:r>
              <a:rPr lang="en-US" dirty="0" smtClean="0"/>
              <a:t>Stochastic Gradient Ascent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Gradient Ascent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7477F963-0D4B-F58F-CCCD-172F2C141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620" y="5867400"/>
            <a:ext cx="13465884" cy="1810014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375" y="9524998"/>
            <a:ext cx="13058980" cy="2625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8140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123162E-9498-2A4D-26E5-EFA38F72F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3C342FC-1596-5131-A239-073E27D2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short detour …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="" xmlns:a16="http://schemas.microsoft.com/office/drawing/2014/main" id="{7D5BC9B1-D534-9EF1-6339-72E2FD720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Parameter Estimation</a:t>
            </a:r>
          </a:p>
          <a:p>
            <a:pPr lvl="1"/>
            <a:r>
              <a:rPr lang="en-US" dirty="0" smtClean="0"/>
              <a:t>Maximum Likelihood Estimation</a:t>
            </a:r>
          </a:p>
          <a:p>
            <a:pPr lvl="1"/>
            <a:r>
              <a:rPr lang="en-US" smtClean="0"/>
              <a:t>Others??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448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123162E-9498-2A4D-26E5-EFA38F72F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3C342FC-1596-5131-A239-073E27D2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Perceptron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="" xmlns:a16="http://schemas.microsoft.com/office/drawing/2014/main" id="{7D5BC9B1-D534-9EF1-6339-72E2FD720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can modify the </a:t>
            </a:r>
            <a:r>
              <a:rPr lang="en-US" dirty="0"/>
              <a:t>logistic regression method to “force” it to output values that are either 0 or 1 or </a:t>
            </a:r>
            <a:r>
              <a:rPr lang="en-US" dirty="0" smtClean="0"/>
              <a:t>exactly.</a:t>
            </a:r>
          </a:p>
          <a:p>
            <a:endParaRPr lang="en-US" dirty="0"/>
          </a:p>
          <a:p>
            <a:r>
              <a:rPr lang="en-US" dirty="0" smtClean="0"/>
              <a:t>Where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With the same update rule,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575" y="7620000"/>
            <a:ext cx="6516688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2944" y="4950664"/>
            <a:ext cx="4933950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7477F963-0D4B-F58F-CCCD-172F2C141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929" y="10896600"/>
            <a:ext cx="10391980" cy="139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34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CS229 Lecture Note</a:t>
            </a:r>
          </a:p>
          <a:p>
            <a:pPr lvl="1"/>
            <a:r>
              <a:rPr lang="en-US" dirty="0" smtClean="0"/>
              <a:t>Section 2.1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010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428</TotalTime>
  <Words>347</Words>
  <Application>Microsoft Office PowerPoint</Application>
  <PresentationFormat>Custom</PresentationFormat>
  <Paragraphs>123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Cambria Math</vt:lpstr>
      <vt:lpstr>Helvetica Neue</vt:lpstr>
      <vt:lpstr>21_BasicWhite</vt:lpstr>
      <vt:lpstr>Logistic Regression</vt:lpstr>
      <vt:lpstr>Linear Regression</vt:lpstr>
      <vt:lpstr>Classification</vt:lpstr>
      <vt:lpstr>Logistic Regression</vt:lpstr>
      <vt:lpstr>Classification with Linear Classifier</vt:lpstr>
      <vt:lpstr>Logistic Regression</vt:lpstr>
      <vt:lpstr>Sigmoid Function</vt:lpstr>
      <vt:lpstr>Logistic Regression</vt:lpstr>
      <vt:lpstr>Probability (Recap)</vt:lpstr>
      <vt:lpstr>Probability (Recap)</vt:lpstr>
      <vt:lpstr>Logistic Regression</vt:lpstr>
      <vt:lpstr>Logistic Regression</vt:lpstr>
      <vt:lpstr>Logistic Regression</vt:lpstr>
      <vt:lpstr>A short detour …</vt:lpstr>
      <vt:lpstr>Perceptron</vt:lpstr>
      <vt:lpstr>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cp:lastModifiedBy>ismail - [2010]</cp:lastModifiedBy>
  <cp:revision>19</cp:revision>
  <dcterms:modified xsi:type="dcterms:W3CDTF">2025-12-08T03:51:54Z</dcterms:modified>
</cp:coreProperties>
</file>