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embeddedFontLst>
    <p:embeddedFont>
      <p:font typeface="Play" charset="0"/>
      <p:regular r:id="rId30"/>
      <p:bold r:id="rId31"/>
    </p:embeddedFont>
    <p:embeddedFont>
      <p:font typeface="Cambria Math" pitchFamily="18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jBPzmAlBSquY8qsxeegfK43TQW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691" y="-3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40102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75f3895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75f38956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b75f38956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5f38956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75f38956e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b75f38956e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75f38956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75f38956e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b75f38956e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75f38956e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75f38956e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b75f38956e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75f38956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75f38956e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b75f38956e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75f38956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75f38956e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b75f38956e_0_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75f38956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75f38956e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b75f38956e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75f38956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75f38956e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b75f38956e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5f38956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75f38956e_0_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b75f38956e_0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75f38956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75f38956e_0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b75f38956e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75f38956e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75f38956e_0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b75f38956e_0_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75f38956e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75f38956e_0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b75f38956e_0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75f38956e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75f38956e_0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b75f38956e_0_1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79b81d2b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79b81d2b1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b79b81d2b1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79b81d2b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79b81d2b1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b79b81d2b1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79b81d2b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79b81d2b1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b79b81d2b1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75f38956e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75f38956e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b75f38956e_0_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79b81d2b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79b81d2b1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b79b81d2b1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79b81d2b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79b81d2b1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b79b81d2b1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79b81d2b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79b81d2b1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b79b81d2b1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79b81d2b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79b81d2b1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b79b81d2b1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79b81d2b1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b79b81d2b1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b79b81d2b1_0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79b81d2b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79b81d2b1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b79b81d2b1_0_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79b81d2b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b79b81d2b1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b79b81d2b1_0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79b81d2b1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79b81d2b1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3b79b81d2b1_0_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79b81d2b1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b79b81d2b1_0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b79b81d2b1_0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dirty="0"/>
              <a:t>Bias-Variance </a:t>
            </a:r>
            <a:r>
              <a:rPr lang="en-US" dirty="0" smtClean="0"/>
              <a:t>Tradeoff 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dirty="0"/>
              <a:t>and 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dirty="0"/>
              <a:t>Regularization</a:t>
            </a:r>
            <a:endParaRPr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75f38956e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Point Estimation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Google Shape;96;g3b75f38956e_0_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8735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SzPts val="2500"/>
                  <a:buChar char="•"/>
                </a:pPr>
                <a:r>
                  <a:rPr lang="en-US" sz="2500" dirty="0" smtClean="0">
                    <a:highlight>
                      <a:srgbClr val="FFFFFF"/>
                    </a:highlight>
                  </a:rPr>
                  <a:t>An attempt to provide the single “best” prediction of some quantity of interest.</a:t>
                </a:r>
              </a:p>
              <a:p>
                <a:pPr marL="45720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500" dirty="0">
                  <a:highlight>
                    <a:srgbClr val="FFFFFF"/>
                  </a:highlight>
                </a:endParaRPr>
              </a:p>
              <a:p>
                <a:pPr lvl="0" indent="-387350">
                  <a:lnSpc>
                    <a:spcPct val="114400"/>
                  </a:lnSpc>
                  <a:spcBef>
                    <a:spcPts val="0"/>
                  </a:spcBef>
                  <a:buSzPts val="2500"/>
                </a:pPr>
                <a:r>
                  <a:rPr lang="en-US" sz="2500" dirty="0">
                    <a:highlight>
                      <a:srgbClr val="FFFFFF"/>
                    </a:highlight>
                  </a:rPr>
                  <a:t>The point estimate of a parameter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highlight>
                          <a:srgbClr val="FFFFFF"/>
                        </a:highlight>
                        <a:latin typeface="Cambria Math"/>
                      </a:rPr>
                      <m:t>𝜃</m:t>
                    </m:r>
                  </m:oMath>
                </a14:m>
                <a:r>
                  <a:rPr lang="en-US" sz="2500" dirty="0" smtClean="0">
                    <a:highlight>
                      <a:srgbClr val="FFFFFF"/>
                    </a:highlight>
                  </a:rPr>
                  <a:t> </a:t>
                </a:r>
                <a:r>
                  <a:rPr lang="en-US" sz="2500" dirty="0">
                    <a:highlight>
                      <a:srgbClr val="FFFFFF"/>
                    </a:highlight>
                  </a:rPr>
                  <a:t>is denoted </a:t>
                </a:r>
                <a:r>
                  <a:rPr lang="en-US" sz="2500" dirty="0" smtClean="0">
                    <a:highlight>
                      <a:srgbClr val="FFFFFF"/>
                    </a:highlight>
                  </a:rPr>
                  <a:t>as </a:t>
                </a:r>
                <a14:m>
                  <m:oMath xmlns:m="http://schemas.openxmlformats.org/officeDocument/2006/math">
                    <m:r>
                      <a:rPr lang="en-US" sz="2500" i="1" dirty="0">
                        <a:highlight>
                          <a:srgbClr val="FFFFFF"/>
                        </a:highlight>
                        <a:latin typeface="Cambria Math"/>
                      </a:rPr>
                      <m:t>𝜃</m:t>
                    </m:r>
                    <m:r>
                      <a:rPr lang="en-US" sz="2500" i="1" dirty="0">
                        <a:highlight>
                          <a:srgbClr val="FFFFFF"/>
                        </a:highlight>
                        <a:latin typeface="Cambria Math"/>
                      </a:rPr>
                      <m:t>̂</m:t>
                    </m:r>
                  </m:oMath>
                </a14:m>
                <a:endParaRPr sz="2500" dirty="0"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96" name="Google Shape;96;g3b75f38956e_0_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 l="-471" t="-700" r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97;g3b75f38956e_0_0"/>
          <p:cNvSpPr/>
          <p:nvPr/>
        </p:nvSpPr>
        <p:spPr>
          <a:xfrm>
            <a:off x="7172100" y="1413500"/>
            <a:ext cx="4065900" cy="37866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98;g3b75f38956e_0_0"/>
          <p:cNvSpPr/>
          <p:nvPr/>
        </p:nvSpPr>
        <p:spPr>
          <a:xfrm>
            <a:off x="7573475" y="1690825"/>
            <a:ext cx="3298200" cy="19236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lnSpc>
                <a:spcPct val="114400"/>
              </a:lnSpc>
            </a:pP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Google Shape;99;g3b75f38956e_0_0"/>
              <p:cNvSpPr txBox="1"/>
              <p:nvPr/>
            </p:nvSpPr>
            <p:spPr>
              <a:xfrm>
                <a:off x="8092531" y="4038169"/>
                <a:ext cx="1880411" cy="623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>
                  <a:lnSpc>
                    <a:spcPct val="114400"/>
                  </a:lnSpc>
                  <a:buClr>
                    <a:schemeClr val="dk1"/>
                  </a:buClr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𝜃</m:t>
                      </m:r>
                      <m:r>
                        <a:rPr lang="en-US" sz="2500" b="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=</m:t>
                      </m:r>
                      <m:r>
                        <a:rPr lang="en-US" sz="2500" b="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𝑔</m:t>
                      </m:r>
                      <m:r>
                        <a:rPr lang="en-US" sz="2500" b="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(</m:t>
                      </m:r>
                      <m:r>
                        <a:rPr lang="en-US" sz="2500" b="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𝑋</m:t>
                      </m:r>
                      <m:r>
                        <a:rPr lang="en-US" sz="2500" b="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>
                  <a:solidFill>
                    <a:schemeClr val="dk1"/>
                  </a:solidFill>
                </a:endParaRPr>
              </a:p>
            </p:txBody>
          </p:sp>
        </mc:Choice>
        <mc:Fallback>
          <p:sp>
            <p:nvSpPr>
              <p:cNvPr id="17" name="Google Shape;99;g3b75f38956e_0_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531" y="4038169"/>
                <a:ext cx="1880411" cy="62321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0825659" y="4880698"/>
                <a:ext cx="6677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∈</m:t>
                      </m:r>
                      <m:r>
                        <a:rPr lang="en-US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659" y="4880698"/>
                <a:ext cx="667747" cy="3077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8231416" y="2214878"/>
                <a:ext cx="21837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>
                          <a:highlight>
                            <a:srgbClr val="FFFFFF"/>
                          </a:highlight>
                          <a:latin typeface="Cambria Math"/>
                        </a:rPr>
                        <m:t>𝜃</m:t>
                      </m:r>
                      <m:r>
                        <a:rPr lang="en-US" sz="1800" i="1" dirty="0">
                          <a:highlight>
                            <a:srgbClr val="FFFFFF"/>
                          </a:highlight>
                          <a:latin typeface="Cambria Math"/>
                        </a:rPr>
                        <m:t>̂</m:t>
                      </m:r>
                      <m:r>
                        <a:rPr lang="en-US" sz="1800" i="1" dirty="0">
                          <a:highlight>
                            <a:srgbClr val="FFFFFF"/>
                          </a:highlight>
                          <a:latin typeface="Cambria Math"/>
                        </a:rPr>
                        <m:t>=</m:t>
                      </m:r>
                      <m:r>
                        <a:rPr lang="en-US" sz="1800" i="1" dirty="0">
                          <a:highlight>
                            <a:srgbClr val="FFFFFF"/>
                          </a:highlight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ar-AE" sz="1800" i="1" dirty="0">
                              <a:highlight>
                                <a:srgbClr val="FFFFFF"/>
                              </a:highlight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800" i="1" dirty="0">
                              <a:highlight>
                                <a:srgbClr val="FFFFFF"/>
                              </a:highlight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1800" i="1" dirty="0">
                              <a:highlight>
                                <a:srgbClr val="FFFFFF"/>
                              </a:highlight>
                              <a:latin typeface="Cambria Math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ar-AE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8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416" y="2214878"/>
                <a:ext cx="2183739" cy="584775"/>
              </a:xfrm>
              <a:prstGeom prst="rect">
                <a:avLst/>
              </a:prstGeom>
              <a:blipFill rotWithShape="1">
                <a:blip r:embed="rId6"/>
                <a:stretch>
                  <a:fillRect t="-75000" r="-22563" b="-8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18" idx="0"/>
            <a:endCxn id="15" idx="5"/>
          </p:cNvCxnSpPr>
          <p:nvPr/>
        </p:nvCxnSpPr>
        <p:spPr>
          <a:xfrm flipH="1" flipV="1">
            <a:off x="10642563" y="4645565"/>
            <a:ext cx="516970" cy="235133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663543" y="3439886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8414657" y="2767179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9972942" y="2990929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335987" y="1937658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10092684" y="4593955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8382000" y="3733984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8860971" y="3110673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859485" y="4419416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0295413" y="3919225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860971" y="4858558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728857" y="2656522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9764486" y="3646714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0901048" y="3439886"/>
            <a:ext cx="130628" cy="174539"/>
          </a:xfrm>
          <a:prstGeom prst="ellipse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/>
      <p:bldP spid="19" grpId="0"/>
      <p:bldP spid="1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75f38956e_0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 Estimation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Google Shape;106;g3b75f38956e_0_2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94215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SzPts val="2608"/>
                  <a:buChar char="•"/>
                </a:pPr>
                <a:r>
                  <a:rPr lang="en-US" sz="2608" dirty="0" smtClean="0">
                    <a:highlight>
                      <a:srgbClr val="FFFFFF"/>
                    </a:highlight>
                  </a:rPr>
                  <a:t>Let’s assume </a:t>
                </a:r>
                <a14:m>
                  <m:oMath xmlns:m="http://schemas.openxmlformats.org/officeDocument/2006/math"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𝑦</m:t>
                    </m:r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 = </m:t>
                    </m:r>
                    <m:sSup>
                      <m:sSupPr>
                        <m:ctrlPr>
                          <a:rPr lang="en-US" sz="2608" b="0" i="1" dirty="0" smtClean="0">
                            <a:highlight>
                              <a:srgbClr val="FFFFFF"/>
                            </a:highlight>
                            <a:latin typeface="Cambria Math"/>
                          </a:rPr>
                        </m:ctrlPr>
                      </m:sSupPr>
                      <m:e>
                        <m:r>
                          <a:rPr lang="en-US" sz="2608" i="1" dirty="0" smtClean="0">
                            <a:highlight>
                              <a:srgbClr val="FFFFFF"/>
                            </a:highlight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sz="2608" b="0" i="1" dirty="0" smtClean="0">
                            <a:highlight>
                              <a:srgbClr val="FFFFFF"/>
                            </a:highlight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(</m:t>
                    </m:r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𝑥</m:t>
                    </m:r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) +</m:t>
                    </m:r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𝜖</m:t>
                    </m:r>
                  </m:oMath>
                </a14:m>
                <a:endParaRPr lang="en-US" sz="2608" dirty="0">
                  <a:highlight>
                    <a:srgbClr val="FFFFFF"/>
                  </a:highlight>
                </a:endParaRPr>
              </a:p>
              <a:p>
                <a:pPr marL="45720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608" dirty="0">
                  <a:highlight>
                    <a:srgbClr val="FFFFFF"/>
                  </a:highlight>
                </a:endParaRPr>
              </a:p>
              <a:p>
                <a:pPr lvl="0" indent="-394215">
                  <a:lnSpc>
                    <a:spcPct val="114400"/>
                  </a:lnSpc>
                  <a:spcBef>
                    <a:spcPts val="0"/>
                  </a:spcBef>
                  <a:buSzPts val="2608"/>
                </a:pPr>
                <a14:m>
                  <m:oMath xmlns:m="http://schemas.openxmlformats.org/officeDocument/2006/math">
                    <m:r>
                      <a:rPr lang="en-US" sz="2608" i="1" dirty="0">
                        <a:highlight>
                          <a:srgbClr val="FFFFFF"/>
                        </a:highlight>
                        <a:latin typeface="Cambria Math"/>
                      </a:rPr>
                      <m:t>𝜖</m:t>
                    </m:r>
                  </m:oMath>
                </a14:m>
                <a:r>
                  <a:rPr lang="en-US" sz="2608" dirty="0">
                    <a:highlight>
                      <a:srgbClr val="FFFFFF"/>
                    </a:highlight>
                  </a:rPr>
                  <a:t> is part of </a:t>
                </a:r>
                <a14:m>
                  <m:oMath xmlns:m="http://schemas.openxmlformats.org/officeDocument/2006/math"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𝑦</m:t>
                    </m:r>
                  </m:oMath>
                </a14:m>
                <a:r>
                  <a:rPr lang="en-US" sz="2608" dirty="0">
                    <a:highlight>
                      <a:srgbClr val="FFFFFF"/>
                    </a:highlight>
                  </a:rPr>
                  <a:t> that is not predictable from </a:t>
                </a:r>
                <a14:m>
                  <m:oMath xmlns:m="http://schemas.openxmlformats.org/officeDocument/2006/math"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𝑥</m:t>
                    </m:r>
                  </m:oMath>
                </a14:m>
                <a:endParaRPr lang="en-US" sz="2608" dirty="0">
                  <a:highlight>
                    <a:srgbClr val="FFFFFF"/>
                  </a:highlight>
                </a:endParaRPr>
              </a:p>
              <a:p>
                <a:pPr marL="45720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608" dirty="0">
                  <a:highlight>
                    <a:srgbClr val="FFFFFF"/>
                  </a:highlight>
                </a:endParaRPr>
              </a:p>
              <a:p>
                <a:pPr marL="457200" marR="0" lvl="0" indent="-394215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SzPts val="2608"/>
                  <a:buChar char="•"/>
                </a:pPr>
                <a:r>
                  <a:rPr lang="en-US" sz="2608" dirty="0">
                    <a:highlight>
                      <a:srgbClr val="FFFFFF"/>
                    </a:highlight>
                  </a:rPr>
                  <a:t>Approximate </a:t>
                </a:r>
                <a14:m>
                  <m:oMath xmlns:m="http://schemas.openxmlformats.org/officeDocument/2006/math"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h</m:t>
                    </m:r>
                  </m:oMath>
                </a14:m>
                <a:r>
                  <a:rPr lang="en-US" sz="2608" dirty="0">
                    <a:highlight>
                      <a:srgbClr val="FFFFFF"/>
                    </a:highlight>
                  </a:rPr>
                  <a:t> with a model or estimate </a:t>
                </a:r>
                <a14:m>
                  <m:oMath xmlns:m="http://schemas.openxmlformats.org/officeDocument/2006/math"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h</m:t>
                    </m:r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’</m:t>
                    </m:r>
                  </m:oMath>
                </a14:m>
                <a:endParaRPr lang="en-US" sz="2608" dirty="0">
                  <a:highlight>
                    <a:srgbClr val="FFFFFF"/>
                  </a:highlight>
                </a:endParaRPr>
              </a:p>
              <a:p>
                <a:pPr marL="457200" marR="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608" dirty="0">
                  <a:highlight>
                    <a:srgbClr val="FFFFFF"/>
                  </a:highlight>
                </a:endParaRPr>
              </a:p>
              <a:p>
                <a:pPr marL="457200" marR="0" lvl="0" indent="-394215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SzPts val="2608"/>
                  <a:buChar char="•"/>
                </a:pPr>
                <a14:m>
                  <m:oMath xmlns:m="http://schemas.openxmlformats.org/officeDocument/2006/math"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h</m:t>
                    </m:r>
                    <m:r>
                      <a:rPr lang="en-US" sz="2608" i="1" dirty="0" smtClean="0">
                        <a:highlight>
                          <a:srgbClr val="FFFFFF"/>
                        </a:highlight>
                        <a:latin typeface="Cambria Math"/>
                      </a:rPr>
                      <m:t>’</m:t>
                    </m:r>
                  </m:oMath>
                </a14:m>
                <a:r>
                  <a:rPr lang="en-US" sz="2608" dirty="0">
                    <a:highlight>
                      <a:srgbClr val="FFFFFF"/>
                    </a:highlight>
                  </a:rPr>
                  <a:t> is a point estimate in the function space</a:t>
                </a:r>
              </a:p>
              <a:p>
                <a:pPr marL="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500" dirty="0">
                  <a:highlight>
                    <a:srgbClr val="FFFFFF"/>
                  </a:highlight>
                </a:endParaRPr>
              </a:p>
              <a:p>
                <a:pPr marL="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500" dirty="0"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106" name="Google Shape;106;g3b75f38956e_0_2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 l="-348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75f38956e_0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Bias and Variance</a:t>
            </a:r>
            <a:endParaRPr/>
          </a:p>
        </p:txBody>
      </p:sp>
      <p:sp>
        <p:nvSpPr>
          <p:cNvPr id="113" name="Google Shape;113;g3b75f38956e_0_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l" rtl="0"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US" sz="2500" dirty="0">
                <a:highlight>
                  <a:srgbClr val="FFFFFF"/>
                </a:highlight>
              </a:rPr>
              <a:t>The bias of an estimator is deﬁned as</a:t>
            </a:r>
            <a:endParaRPr sz="2500" dirty="0"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>
              <a:highlight>
                <a:srgbClr val="FFFFFF"/>
              </a:highlight>
            </a:endParaRPr>
          </a:p>
          <a:p>
            <a:pPr marL="457200" lvl="0" indent="-387350" algn="l" rtl="0"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US" sz="2500" dirty="0">
                <a:highlight>
                  <a:srgbClr val="FFFFFF"/>
                </a:highlight>
              </a:rPr>
              <a:t>The variance of an estimator is simply the variance</a:t>
            </a:r>
            <a:endParaRPr sz="2500" dirty="0"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>
              <a:highlight>
                <a:srgbClr val="FFFFFF"/>
              </a:highlight>
            </a:endParaRPr>
          </a:p>
        </p:txBody>
      </p:sp>
      <p:pic>
        <p:nvPicPr>
          <p:cNvPr id="114" name="Google Shape;114;g3b75f38956e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312" y="2940400"/>
            <a:ext cx="3653374" cy="5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b75f38956e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575" y="5142550"/>
            <a:ext cx="1116850" cy="55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97;g3b75f38956e_0_0"/>
          <p:cNvSpPr/>
          <p:nvPr/>
        </p:nvSpPr>
        <p:spPr>
          <a:xfrm>
            <a:off x="7172100" y="1413500"/>
            <a:ext cx="4065900" cy="37866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98;g3b75f38956e_0_0"/>
          <p:cNvSpPr/>
          <p:nvPr/>
        </p:nvSpPr>
        <p:spPr>
          <a:xfrm>
            <a:off x="9839553" y="1996518"/>
            <a:ext cx="801136" cy="1025049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lnSpc>
                <a:spcPct val="114400"/>
              </a:lnSpc>
            </a:pP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Google Shape;99;g3b75f38956e_0_0"/>
              <p:cNvSpPr txBox="1"/>
              <p:nvPr/>
            </p:nvSpPr>
            <p:spPr>
              <a:xfrm>
                <a:off x="8092531" y="4038169"/>
                <a:ext cx="1880411" cy="623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>
                  <a:lnSpc>
                    <a:spcPct val="114400"/>
                  </a:lnSpc>
                  <a:buClr>
                    <a:schemeClr val="dk1"/>
                  </a:buClr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𝜃</m:t>
                      </m:r>
                      <m:r>
                        <a:rPr lang="en-US" sz="2500" b="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=</m:t>
                      </m:r>
                      <m:r>
                        <a:rPr lang="en-US" sz="2500" b="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𝑔</m:t>
                      </m:r>
                      <m:r>
                        <a:rPr lang="en-US" sz="2500" b="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(</m:t>
                      </m:r>
                      <m:r>
                        <a:rPr lang="en-US" sz="2500" b="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𝑋</m:t>
                      </m:r>
                      <m:r>
                        <a:rPr lang="en-US" sz="2500" b="0" i="1" smtClean="0">
                          <a:highlight>
                            <a:srgbClr val="FFFFFF"/>
                          </a:highlight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>
                  <a:solidFill>
                    <a:schemeClr val="dk1"/>
                  </a:solidFill>
                </a:endParaRPr>
              </a:p>
            </p:txBody>
          </p:sp>
        </mc:Choice>
        <mc:Fallback>
          <p:sp>
            <p:nvSpPr>
              <p:cNvPr id="18" name="Google Shape;99;g3b75f38956e_0_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531" y="4038169"/>
                <a:ext cx="1880411" cy="62321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972942" y="4375318"/>
                <a:ext cx="6677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∈</m:t>
                      </m:r>
                      <m:r>
                        <a:rPr lang="en-US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2942" y="4375318"/>
                <a:ext cx="667747" cy="3077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9903522" y="2129620"/>
                <a:ext cx="673198" cy="5965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dirty="0" smtClean="0">
                              <a:highlight>
                                <a:srgbClr val="FFFFFF"/>
                              </a:highlight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i="1" dirty="0" smtClean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800" b="0" i="1" dirty="0" smtClean="0">
                              <a:highlight>
                                <a:srgbClr val="FFFFFF"/>
                              </a:highlight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sz="18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522" y="2129620"/>
                <a:ext cx="673198" cy="596510"/>
              </a:xfrm>
              <a:prstGeom prst="rect">
                <a:avLst/>
              </a:prstGeom>
              <a:blipFill rotWithShape="1">
                <a:blip r:embed="rId7"/>
                <a:stretch>
                  <a:fillRect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Google Shape;98;g3b75f38956e_0_0"/>
          <p:cNvSpPr/>
          <p:nvPr/>
        </p:nvSpPr>
        <p:spPr>
          <a:xfrm>
            <a:off x="8632168" y="1845228"/>
            <a:ext cx="801136" cy="1025049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lnSpc>
                <a:spcPct val="114400"/>
              </a:lnSpc>
            </a:pP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8696137" y="2059497"/>
                <a:ext cx="594906" cy="5965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dirty="0" smtClean="0">
                              <a:highlight>
                                <a:srgbClr val="FFFFFF"/>
                              </a:highlight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i="1" dirty="0" smtClean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800" b="0" i="1" dirty="0" smtClean="0">
                              <a:highlight>
                                <a:srgbClr val="FFFFFF"/>
                              </a:highlight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18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137" y="2059497"/>
                <a:ext cx="594906" cy="596510"/>
              </a:xfrm>
              <a:prstGeom prst="rect">
                <a:avLst/>
              </a:prstGeom>
              <a:blipFill rotWithShape="1">
                <a:blip r:embed="rId8"/>
                <a:stretch>
                  <a:fillRect t="-4082" r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Google Shape;98;g3b75f38956e_0_0"/>
          <p:cNvSpPr/>
          <p:nvPr/>
        </p:nvSpPr>
        <p:spPr>
          <a:xfrm>
            <a:off x="7691963" y="1997628"/>
            <a:ext cx="801136" cy="1025049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lnSpc>
                <a:spcPct val="114400"/>
              </a:lnSpc>
            </a:pP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7755932" y="2211897"/>
                <a:ext cx="575670" cy="5965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dirty="0" smtClean="0">
                              <a:highlight>
                                <a:srgbClr val="FFFFFF"/>
                              </a:highlight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i="1" dirty="0" smtClean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800" i="1" dirty="0">
                                  <a:highlight>
                                    <a:srgbClr val="FFFFFF"/>
                                  </a:highlight>
                                  <a:latin typeface="Cambria Math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800" b="0" i="1" dirty="0" smtClean="0">
                              <a:highlight>
                                <a:srgbClr val="FFFFFF"/>
                              </a:highlight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sz="18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932" y="2211897"/>
                <a:ext cx="575670" cy="596510"/>
              </a:xfrm>
              <a:prstGeom prst="rect">
                <a:avLst/>
              </a:prstGeom>
              <a:blipFill rotWithShape="1">
                <a:blip r:embed="rId9"/>
                <a:stretch>
                  <a:fillRect t="-4082" r="-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23" grpId="0" animBg="1"/>
      <p:bldP spid="24" grpId="0"/>
      <p:bldP spid="25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75f38956e_0_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Google Shape;125;g3b75f38956e_0_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 smtClean="0"/>
                  <a:t>The input-output relationship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𝑦</m:t>
                    </m:r>
                    <m:r>
                      <a:rPr lang="en-US" i="1" dirty="0" smtClean="0">
                        <a:latin typeface="Cambria Math"/>
                      </a:rPr>
                      <m:t> =</m:t>
                    </m:r>
                    <m:sSup>
                      <m:sSup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+ 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/>
                      </a:rPr>
                      <m:t>ϵ</m:t>
                    </m:r>
                  </m:oMath>
                </a14:m>
                <a:endParaRPr lang="en-US" dirty="0"/>
              </a:p>
              <a:p>
                <a:pPr marL="45720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is a quadratic function</a:t>
                </a:r>
              </a:p>
              <a:p>
                <a:pPr marL="45720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4572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𝜖</m:t>
                    </m:r>
                    <m:r>
                      <a:rPr lang="en-US" i="1" dirty="0" smtClean="0">
                        <a:latin typeface="Cambria Math"/>
                      </a:rPr>
                      <m:t>∼</m:t>
                    </m:r>
                    <m:r>
                      <a:rPr lang="en-US" b="0" i="1" dirty="0" smtClean="0">
                        <a:latin typeface="Cambria Math"/>
                      </a:rPr>
                      <m:t>𝑁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0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125" name="Google Shape;125;g3b75f38956e_0_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 r="-3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6" name="Google Shape;126;g3b75f38956e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2689" y="3545800"/>
            <a:ext cx="4002673" cy="286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b75f38956e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2675" y="469815"/>
            <a:ext cx="4002700" cy="2867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75f38956e_0_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Google Shape;134;g3b75f38956e_0_4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 smtClean="0"/>
                  <a:t>For linear model</a:t>
                </a:r>
              </a:p>
              <a:p>
                <a:pPr marL="45720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 +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4572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endParaRPr lang="en-US" dirty="0" smtClean="0"/>
              </a:p>
              <a:p>
                <a:pPr marL="4572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 smtClean="0"/>
                  <a:t>Cannot </a:t>
                </a:r>
                <a:r>
                  <a:rPr lang="en-US" dirty="0"/>
                  <a:t>predict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well </a:t>
                </a:r>
              </a:p>
              <a:p>
                <a:pPr lvl="0"/>
                <a:r>
                  <a:rPr lang="en-US" dirty="0" smtClean="0"/>
                  <a:t>Any </a:t>
                </a:r>
                <a:r>
                  <a:rPr lang="en-US" dirty="0"/>
                  <a:t>linear model is far away from the true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endParaRPr lang="en-US" dirty="0" smtClean="0"/>
              </a:p>
              <a:p>
                <a:pPr lvl="0"/>
                <a:r>
                  <a:rPr lang="en-US" dirty="0" smtClean="0"/>
                  <a:t>The </a:t>
                </a:r>
                <a:r>
                  <a:rPr lang="en-US" dirty="0"/>
                  <a:t>training error is large </a:t>
                </a:r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Char char="•"/>
                </a:pPr>
                <a:r>
                  <a:rPr lang="en-US" dirty="0" err="1">
                    <a:solidFill>
                      <a:srgbClr val="FF0000"/>
                    </a:solidFill>
                  </a:rPr>
                  <a:t>Underfitting</a:t>
                </a:r>
                <a:endParaRPr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4" name="Google Shape;134;g3b75f38956e_0_4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 r="-2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5" name="Google Shape;135;g3b75f38956e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9854" y="469825"/>
            <a:ext cx="4131045" cy="295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b75f38956e_0_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8250" y="3429000"/>
            <a:ext cx="4002651" cy="2867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75f38956e_0_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</a:t>
            </a:r>
            <a:endParaRPr dirty="0"/>
          </a:p>
        </p:txBody>
      </p:sp>
      <p:sp>
        <p:nvSpPr>
          <p:cNvPr id="152" name="Google Shape;152;g3b75f38956e_0_7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Cannot mitigate the issue with 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large number of samples or 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noiseless samples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53" name="Google Shape;153;g3b75f38956e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9575" y="561800"/>
            <a:ext cx="4002651" cy="28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b75f38956e_0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9575" y="3808250"/>
            <a:ext cx="4002651" cy="279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75f38956e_0_8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Google Shape;161;g3b75f38956e_0_8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/>
                  <a:t>Linear model family is unable to capture the structure in the data</a:t>
                </a:r>
                <a:endParaRPr dirty="0"/>
              </a:p>
              <a:p>
                <a:pPr lvl="1">
                  <a:spcBef>
                    <a:spcPts val="0"/>
                  </a:spcBef>
                </a:pPr>
                <a:r>
                  <a:rPr lang="en-US" dirty="0" smtClean="0"/>
                  <a:t>Linear </a:t>
                </a:r>
                <a:r>
                  <a:rPr lang="en-US" dirty="0"/>
                  <a:t>models cannot represent the true quadratic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dirty="0"/>
              </a:p>
              <a:p>
                <a:pPr marL="4572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/>
                  <a:t>Bias (informal definition)</a:t>
                </a:r>
                <a:endParaRPr dirty="0"/>
              </a:p>
              <a:p>
                <a:pPr marL="914400" lvl="1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 smtClean="0"/>
                  <a:t>The </a:t>
                </a:r>
                <a:r>
                  <a:rPr lang="en-US" dirty="0"/>
                  <a:t>test error even if we were to fit the model with a very (say, infinitely) large training dataset.</a:t>
                </a:r>
                <a:endParaRPr dirty="0"/>
              </a:p>
            </p:txBody>
          </p:sp>
        </mc:Choice>
        <mc:Fallback>
          <p:sp>
            <p:nvSpPr>
              <p:cNvPr id="161" name="Google Shape;161;g3b75f38956e_0_8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 r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2" name="Google Shape;162;g3b75f38956e_0_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9575" y="561800"/>
            <a:ext cx="4002651" cy="28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b75f38956e_0_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9575" y="3808250"/>
            <a:ext cx="4002651" cy="279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75f38956e_0_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Google Shape;170;g3b75f38956e_0_9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 smtClean="0"/>
                  <a:t>Now we fit a 5-th degree polynomial</a:t>
                </a:r>
              </a:p>
              <a:p>
                <a:pPr marL="45720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 +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 + · · · 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4572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/>
                  <a:t>Zero training error, but still has a large test error</a:t>
                </a:r>
              </a:p>
              <a:p>
                <a:pPr marL="457200" lvl="0" indent="0" algn="l" rtl="0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dirty="0"/>
              </a:p>
              <a:p>
                <a:pPr marL="45720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>
          <p:sp>
            <p:nvSpPr>
              <p:cNvPr id="170" name="Google Shape;170;g3b75f38956e_0_9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1" name="Google Shape;171;g3b75f38956e_0_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9578" y="3703550"/>
            <a:ext cx="3904249" cy="279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b75f38956e_0_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9575" y="789332"/>
            <a:ext cx="3904249" cy="2796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75f38956e_0_10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</a:t>
            </a:r>
            <a:endParaRPr dirty="0"/>
          </a:p>
        </p:txBody>
      </p:sp>
      <p:sp>
        <p:nvSpPr>
          <p:cNvPr id="179" name="Google Shape;179;g3b75f38956e_0_10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But huge dataset nearly recovers the ground-truth</a:t>
            </a:r>
            <a:endParaRPr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80" name="Google Shape;180;g3b75f38956e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9550" y="2178157"/>
            <a:ext cx="3904249" cy="279671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b75f38956e_0_103"/>
          <p:cNvSpPr txBox="1"/>
          <p:nvPr/>
        </p:nvSpPr>
        <p:spPr>
          <a:xfrm>
            <a:off x="7839875" y="5863325"/>
            <a:ext cx="3123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0000"/>
                </a:solidFill>
              </a:rPr>
              <a:t>Low Bias</a:t>
            </a:r>
            <a:endParaRPr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75f38956e_0_1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Google Shape;188;g3b75f38956e_0_11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 smtClean="0"/>
                  <a:t>The issue with fitting a high-order polynomial is the </a:t>
                </a:r>
                <a:r>
                  <a:rPr lang="en-US" dirty="0">
                    <a:solidFill>
                      <a:srgbClr val="FF0000"/>
                    </a:solidFill>
                  </a:rPr>
                  <a:t>variance</a:t>
                </a:r>
                <a:r>
                  <a:rPr lang="en-US" dirty="0"/>
                  <a:t> of the model fitting process</a:t>
                </a:r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/>
                  <a:t>Learning </a:t>
                </a:r>
                <a:r>
                  <a:rPr lang="en-US" i="1" dirty="0">
                    <a:solidFill>
                      <a:srgbClr val="FF0000"/>
                    </a:solidFill>
                  </a:rPr>
                  <a:t>“spurious” </a:t>
                </a:r>
                <a:r>
                  <a:rPr lang="en-US" dirty="0"/>
                  <a:t>patterns appearing in the small dataset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𝜖</m:t>
                    </m:r>
                  </m:oMath>
                </a14:m>
                <a:endParaRPr lang="en-US" dirty="0"/>
              </a:p>
              <a:p>
                <a:pPr marL="45720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45720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>
          <p:sp>
            <p:nvSpPr>
              <p:cNvPr id="188" name="Google Shape;188;g3b75f38956e_0_11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 r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9" name="Google Shape;189;g3b75f38956e_0_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50" y="3813225"/>
            <a:ext cx="11534700" cy="292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75f38956e_0_1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</a:t>
            </a:r>
            <a:endParaRPr dirty="0"/>
          </a:p>
        </p:txBody>
      </p:sp>
      <p:sp>
        <p:nvSpPr>
          <p:cNvPr id="196" name="Google Shape;196;g3b75f38956e_0_1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Bias (informal definition)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 smtClean="0"/>
              <a:t>The </a:t>
            </a:r>
            <a:r>
              <a:rPr lang="en-US" dirty="0"/>
              <a:t>test error even if we were to fit the model with a very (say, infinitely) large training dataset.</a:t>
            </a:r>
            <a:endParaRPr dirty="0"/>
          </a:p>
          <a:p>
            <a:pPr marL="1371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Variance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amount of variations across models learnt on multiple different training datasets (drawn from the same underlying distribution)</a:t>
            </a:r>
            <a:endParaRPr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75f38956e_0_1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 </a:t>
            </a:r>
            <a:r>
              <a:rPr lang="en-US" dirty="0"/>
              <a:t>(Mathematical Decomposition)</a:t>
            </a:r>
            <a:endParaRPr dirty="0"/>
          </a:p>
        </p:txBody>
      </p:sp>
      <p:sp>
        <p:nvSpPr>
          <p:cNvPr id="203" name="Google Shape;203;g3b75f38956e_0_1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Given a training dataset,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The Expected Test Error,</a:t>
            </a:r>
            <a:endParaRPr dirty="0"/>
          </a:p>
        </p:txBody>
      </p:sp>
      <p:pic>
        <p:nvPicPr>
          <p:cNvPr id="204" name="Google Shape;204;g3b75f38956e_0_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950" y="2374700"/>
            <a:ext cx="3508100" cy="6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b75f38956e_0_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5398" y="3047572"/>
            <a:ext cx="3101204" cy="6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b75f38956e_0_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5400" y="3668094"/>
            <a:ext cx="3101201" cy="67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b75f38956e_0_1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3275" y="5080075"/>
            <a:ext cx="55054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75f38956e_0_1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 </a:t>
            </a:r>
            <a:r>
              <a:rPr lang="en-US" dirty="0"/>
              <a:t>(Mathematical Decomposition)</a:t>
            </a:r>
            <a:endParaRPr dirty="0"/>
          </a:p>
        </p:txBody>
      </p:sp>
      <p:sp>
        <p:nvSpPr>
          <p:cNvPr id="214" name="Google Shape;214;g3b75f38956e_0_1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Expected Test Error,</a:t>
            </a:r>
            <a:endParaRPr/>
          </a:p>
        </p:txBody>
      </p:sp>
      <p:pic>
        <p:nvPicPr>
          <p:cNvPr id="215" name="Google Shape;215;g3b75f38956e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423525"/>
            <a:ext cx="10515599" cy="37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79b81d2b1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 </a:t>
            </a:r>
            <a:r>
              <a:rPr lang="en-US" dirty="0"/>
              <a:t>(Mathematical Decomposition)</a:t>
            </a:r>
            <a:endParaRPr dirty="0"/>
          </a:p>
        </p:txBody>
      </p:sp>
      <p:sp>
        <p:nvSpPr>
          <p:cNvPr id="222" name="Google Shape;222;g3b79b81d2b1_0_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Let’s define, 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We expand the term as follows,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23" name="Google Shape;223;g3b79b81d2b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1250" y="2434050"/>
            <a:ext cx="3289476" cy="6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b79b81d2b1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7275" y="4038677"/>
            <a:ext cx="8817452" cy="6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79b81d2b1_0_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 </a:t>
            </a:r>
            <a:r>
              <a:rPr lang="en-US" dirty="0"/>
              <a:t>(Mathematical Decomposition)</a:t>
            </a:r>
            <a:endParaRPr dirty="0"/>
          </a:p>
        </p:txBody>
      </p:sp>
      <p:sp>
        <p:nvSpPr>
          <p:cNvPr id="231" name="Google Shape;231;g3b79b81d2b1_0_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50" dirty="0"/>
              <a:t>Expanding the expectation in a similar way we get,</a:t>
            </a:r>
            <a:endParaRPr sz="305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05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Now, 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So, </a:t>
            </a:r>
            <a:endParaRPr dirty="0"/>
          </a:p>
        </p:txBody>
      </p:sp>
      <p:pic>
        <p:nvPicPr>
          <p:cNvPr id="232" name="Google Shape;232;g3b79b81d2b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1" y="3534760"/>
            <a:ext cx="10860499" cy="1230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b79b81d2b1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7275" y="1987477"/>
            <a:ext cx="8817452" cy="6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b79b81d2b1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7275" y="4965925"/>
            <a:ext cx="3355875" cy="5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b79b81d2b1_0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7275" y="5638098"/>
            <a:ext cx="6205957" cy="5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79b81d2b1_0_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 </a:t>
            </a:r>
            <a:r>
              <a:rPr lang="en-US" dirty="0"/>
              <a:t>(Mathematical Decomposition)</a:t>
            </a:r>
            <a:endParaRPr dirty="0"/>
          </a:p>
        </p:txBody>
      </p:sp>
      <p:sp>
        <p:nvSpPr>
          <p:cNvPr id="242" name="Google Shape;242;g3b79b81d2b1_0_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Combining everything,</a:t>
            </a:r>
            <a:endParaRPr/>
          </a:p>
        </p:txBody>
      </p:sp>
      <p:pic>
        <p:nvPicPr>
          <p:cNvPr id="243" name="Google Shape;243;g3b79b81d2b1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477181"/>
            <a:ext cx="10515598" cy="2762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75f38956e_0_1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Bias-Variance </a:t>
            </a:r>
            <a:r>
              <a:rPr lang="en-US" dirty="0" smtClean="0"/>
              <a:t>Tradeoff</a:t>
            </a:r>
            <a:endParaRPr dirty="0"/>
          </a:p>
        </p:txBody>
      </p:sp>
      <p:sp>
        <p:nvSpPr>
          <p:cNvPr id="250" name="Google Shape;250;g3b75f38956e_0_1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1" name="Google Shape;251;g3b75f38956e_0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825613"/>
            <a:ext cx="10515601" cy="4477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79b81d2b1_0_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Regularization</a:t>
            </a:r>
            <a:endParaRPr/>
          </a:p>
        </p:txBody>
      </p:sp>
      <p:sp>
        <p:nvSpPr>
          <p:cNvPr id="258" name="Google Shape;258;g3b79b81d2b1_0_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34975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3250"/>
              <a:buChar char="•"/>
            </a:pPr>
            <a:r>
              <a:rPr lang="en-US" sz="3250" i="1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</a:rPr>
              <a:t>Regularization is any modiﬁcation we make to a</a:t>
            </a:r>
            <a:endParaRPr sz="3250" i="1" dirty="0">
              <a:solidFill>
                <a:schemeClr val="accent2">
                  <a:lumMod val="75000"/>
                </a:schemeClr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 i="1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</a:rPr>
              <a:t>learning algorithm that is intended to reduce its generalization error but not its training error.</a:t>
            </a:r>
            <a:endParaRPr sz="3250" i="1" dirty="0">
              <a:solidFill>
                <a:schemeClr val="accent2">
                  <a:lumMod val="75000"/>
                </a:schemeClr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50" dirty="0"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50" dirty="0">
              <a:highlight>
                <a:srgbClr val="FFFFFF"/>
              </a:highlight>
            </a:endParaRPr>
          </a:p>
          <a:p>
            <a:pPr marL="457200" lvl="0" indent="-434975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3250"/>
              <a:buChar char="•"/>
            </a:pPr>
            <a:r>
              <a:rPr lang="en-US" sz="3250" dirty="0">
                <a:highlight>
                  <a:srgbClr val="FFFFFF"/>
                </a:highlight>
              </a:rPr>
              <a:t>Trade increased bias for reduced variance.</a:t>
            </a:r>
            <a:endParaRPr sz="3250" dirty="0">
              <a:highlight>
                <a:srgbClr val="FFFFFF"/>
              </a:highlight>
            </a:endParaRPr>
          </a:p>
          <a:p>
            <a:pPr marL="457200" lvl="0" indent="-434975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3250"/>
              <a:buChar char="•"/>
            </a:pPr>
            <a:r>
              <a:rPr lang="en-US" sz="3250" dirty="0">
                <a:highlight>
                  <a:srgbClr val="FFFFFF"/>
                </a:highlight>
              </a:rPr>
              <a:t>Take a model from the </a:t>
            </a:r>
            <a:r>
              <a:rPr lang="en-US" sz="3250" dirty="0" err="1">
                <a:highlight>
                  <a:srgbClr val="FFFFFF"/>
                </a:highlight>
              </a:rPr>
              <a:t>overfitting</a:t>
            </a:r>
            <a:r>
              <a:rPr lang="en-US" sz="3250" dirty="0">
                <a:highlight>
                  <a:srgbClr val="FFFFFF"/>
                </a:highlight>
              </a:rPr>
              <a:t> regime into the optimal trade-off regime</a:t>
            </a:r>
            <a:endParaRPr sz="3250" dirty="0"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79b81d2b1_0_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Regularization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5" name="Google Shape;265;g3b79b81d2b1_0_4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434975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SzPts val="3250"/>
                  <a:buChar char="•"/>
                </a:pPr>
                <a:r>
                  <a:rPr lang="en-US" sz="3250" dirty="0" smtClean="0">
                    <a:highlight>
                      <a:srgbClr val="FFFFFF"/>
                    </a:highlight>
                  </a:rPr>
                  <a:t>Typically adds a </a:t>
                </a:r>
                <a:r>
                  <a:rPr lang="en-US" sz="3250" b="1" dirty="0" err="1">
                    <a:solidFill>
                      <a:srgbClr val="980000"/>
                    </a:solidFill>
                    <a:highlight>
                      <a:srgbClr val="FFFFFF"/>
                    </a:highlight>
                  </a:rPr>
                  <a:t>regularizer</a:t>
                </a:r>
                <a:r>
                  <a:rPr lang="en-US" sz="3250" dirty="0">
                    <a:highlight>
                      <a:srgbClr val="FFFFFF"/>
                    </a:highlight>
                  </a:rPr>
                  <a:t> term and denoted by R(θ) here, to the training loss/cost function.</a:t>
                </a:r>
              </a:p>
              <a:p>
                <a:pPr marL="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250" dirty="0">
                  <a:highlight>
                    <a:srgbClr val="FFFFFF"/>
                  </a:highlight>
                </a:endParaRPr>
              </a:p>
              <a:p>
                <a:pPr marL="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250" dirty="0">
                  <a:highlight>
                    <a:srgbClr val="FFFFFF"/>
                  </a:highlight>
                </a:endParaRPr>
              </a:p>
              <a:p>
                <a:pPr marL="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250" dirty="0">
                  <a:highlight>
                    <a:srgbClr val="FFFFFF"/>
                  </a:highlight>
                </a:endParaRPr>
              </a:p>
              <a:p>
                <a:pPr marL="457200" lvl="0" indent="-434975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SzPts val="3250"/>
                  <a:buChar char="•"/>
                </a:pPr>
                <a14:m>
                  <m:oMath xmlns:m="http://schemas.openxmlformats.org/officeDocument/2006/math">
                    <m:r>
                      <a:rPr lang="en-US" sz="3250" i="1" dirty="0" smtClean="0">
                        <a:highlight>
                          <a:srgbClr val="FFFFFF"/>
                        </a:highlight>
                        <a:latin typeface="Cambria Math"/>
                      </a:rPr>
                      <m:t>𝜆</m:t>
                    </m:r>
                    <m:r>
                      <a:rPr lang="en-US" sz="3250" b="0" i="1" dirty="0" smtClean="0">
                        <a:highlight>
                          <a:srgbClr val="FFFFFF"/>
                        </a:highlight>
                        <a:latin typeface="Cambria Math"/>
                      </a:rPr>
                      <m:t>≥</m:t>
                    </m:r>
                    <m:r>
                      <a:rPr lang="en-US" sz="3250" i="1" dirty="0" smtClean="0">
                        <a:highlight>
                          <a:srgbClr val="FFFFFF"/>
                        </a:highlight>
                        <a:latin typeface="Cambria Math"/>
                      </a:rPr>
                      <m:t>0</m:t>
                    </m:r>
                    <m:r>
                      <a:rPr lang="en-US" sz="3250" i="1" dirty="0" smtClean="0">
                        <a:highlight>
                          <a:srgbClr val="FFFFFF"/>
                        </a:highlight>
                        <a:latin typeface="Cambria Math"/>
                      </a:rPr>
                      <m:t> </m:t>
                    </m:r>
                  </m:oMath>
                </a14:m>
                <a:r>
                  <a:rPr lang="en-US" sz="3250" dirty="0">
                    <a:highlight>
                      <a:srgbClr val="FFFFFF"/>
                    </a:highlight>
                  </a:rPr>
                  <a:t>is regularization parameter</a:t>
                </a:r>
              </a:p>
              <a:p>
                <a:pPr marL="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250" dirty="0">
                  <a:highlight>
                    <a:srgbClr val="FFFFFF"/>
                  </a:highlight>
                </a:endParaRPr>
              </a:p>
              <a:p>
                <a:pPr marL="0" lvl="0" indent="0" algn="l" rtl="0">
                  <a:lnSpc>
                    <a:spcPct val="114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50" dirty="0"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265" name="Google Shape;265;g3b79b81d2b1_0_4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 l="-1159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6" name="Google Shape;266;g3b79b81d2b1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5488" y="3139925"/>
            <a:ext cx="3981025" cy="5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79b81d2b1_0_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Regularization</a:t>
            </a:r>
            <a:endParaRPr/>
          </a:p>
        </p:txBody>
      </p:sp>
      <p:sp>
        <p:nvSpPr>
          <p:cNvPr id="273" name="Google Shape;273;g3b79b81d2b1_0_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Goal</a:t>
            </a:r>
            <a:endParaRPr dirty="0"/>
          </a:p>
          <a:p>
            <a:pPr marL="1371600" lvl="1" indent="-34290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Reduce some measure of model complexity</a:t>
            </a:r>
            <a:endParaRPr dirty="0"/>
          </a:p>
          <a:p>
            <a:pPr marL="1371600" lvl="1" indent="-34290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Put constraints on the model parameters</a:t>
            </a:r>
            <a:endParaRPr dirty="0"/>
          </a:p>
          <a:p>
            <a:pPr marL="1371600" lvl="1" indent="-34290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Encode prior knowledge</a:t>
            </a:r>
            <a:endParaRPr dirty="0"/>
          </a:p>
          <a:p>
            <a:pPr marL="1371600" lvl="1" indent="-34290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Prefer simpler models</a:t>
            </a:r>
            <a:endParaRPr dirty="0"/>
          </a:p>
          <a:p>
            <a:pPr marL="1371600" lvl="1" indent="-34290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etc.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79b81d2b1_0_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Parameter Norm Regularizer</a:t>
            </a:r>
            <a:endParaRPr/>
          </a:p>
        </p:txBody>
      </p:sp>
      <p:sp>
        <p:nvSpPr>
          <p:cNvPr id="280" name="Google Shape;280;g3b79b81d2b1_0_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 smtClean="0"/>
              <a:t>L-2 </a:t>
            </a:r>
            <a:r>
              <a:rPr lang="en-US" dirty="0"/>
              <a:t>regularization</a:t>
            </a:r>
            <a:endParaRPr dirty="0"/>
          </a:p>
          <a:p>
            <a:pPr marL="1371600" lvl="1" indent="-34290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Also </a:t>
            </a:r>
            <a:r>
              <a:rPr lang="en-US" dirty="0" smtClean="0"/>
              <a:t>called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weight decay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ridge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regression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L-1 regularization</a:t>
            </a:r>
            <a:endParaRPr dirty="0"/>
          </a:p>
          <a:p>
            <a:pPr marL="1371600" lvl="1" indent="-342900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Also called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Lasso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79b81d2b1_0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L-2 Regularization</a:t>
            </a:r>
            <a:endParaRPr/>
          </a:p>
        </p:txBody>
      </p:sp>
      <p:sp>
        <p:nvSpPr>
          <p:cNvPr id="287" name="Google Shape;287;g3b79b81d2b1_0_6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Add </a:t>
            </a:r>
            <a:r>
              <a:rPr lang="en-US" dirty="0" smtClean="0"/>
              <a:t>a squared </a:t>
            </a:r>
            <a:r>
              <a:rPr lang="en-US" dirty="0"/>
              <a:t>L-2 norm of the parameters as the </a:t>
            </a:r>
            <a:r>
              <a:rPr lang="en-US" dirty="0" err="1"/>
              <a:t>regularizer</a:t>
            </a:r>
            <a:r>
              <a:rPr lang="en-US" dirty="0"/>
              <a:t> to loss/cost function.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We can derive the update equation of gradient descent,</a:t>
            </a:r>
            <a:endParaRPr dirty="0"/>
          </a:p>
        </p:txBody>
      </p:sp>
      <p:pic>
        <p:nvPicPr>
          <p:cNvPr id="288" name="Google Shape;288;g3b79b81d2b1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213" y="2739675"/>
            <a:ext cx="2637574" cy="5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b79b81d2b1_0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8225" y="3342377"/>
            <a:ext cx="3915936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b79b81d2b1_0_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6550" y="5065800"/>
            <a:ext cx="7439275" cy="14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b79b81d2b1_0_63"/>
          <p:cNvSpPr/>
          <p:nvPr/>
        </p:nvSpPr>
        <p:spPr>
          <a:xfrm>
            <a:off x="6142525" y="5863325"/>
            <a:ext cx="1692600" cy="662400"/>
          </a:xfrm>
          <a:prstGeom prst="rect">
            <a:avLst/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;g3b79b81d2b1_0_73"/>
          <p:cNvSpPr txBox="1"/>
          <p:nvPr/>
        </p:nvSpPr>
        <p:spPr>
          <a:xfrm>
            <a:off x="8013532" y="5087808"/>
            <a:ext cx="44148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solidFill>
                  <a:srgbClr val="980000"/>
                </a:solidFill>
              </a:rPr>
              <a:t>Reduces the weight</a:t>
            </a:r>
            <a:endParaRPr sz="2000" dirty="0">
              <a:solidFill>
                <a:srgbClr val="98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79b81d2b1_0_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L-1 Regularization</a:t>
            </a:r>
            <a:endParaRPr/>
          </a:p>
        </p:txBody>
      </p:sp>
      <p:sp>
        <p:nvSpPr>
          <p:cNvPr id="298" name="Google Shape;298;g3b79b81d2b1_0_7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Add L-1 norm of the parameters as the </a:t>
            </a:r>
            <a:r>
              <a:rPr lang="en-US" dirty="0" err="1"/>
              <a:t>regularizer</a:t>
            </a:r>
            <a:r>
              <a:rPr lang="en-US" dirty="0"/>
              <a:t> to loss/cost function.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We can derive the update equation of gradient descent,</a:t>
            </a:r>
            <a:endParaRPr dirty="0"/>
          </a:p>
        </p:txBody>
      </p:sp>
      <p:pic>
        <p:nvPicPr>
          <p:cNvPr id="299" name="Google Shape;299;g3b79b81d2b1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950" y="2669273"/>
            <a:ext cx="2176090" cy="59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3b79b81d2b1_0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750" y="3305602"/>
            <a:ext cx="4186869" cy="6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b79b81d2b1_0_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0175" y="4954825"/>
            <a:ext cx="5611654" cy="6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b79b81d2b1_0_73"/>
          <p:cNvSpPr/>
          <p:nvPr/>
        </p:nvSpPr>
        <p:spPr>
          <a:xfrm>
            <a:off x="5007950" y="5025775"/>
            <a:ext cx="1692600" cy="591300"/>
          </a:xfrm>
          <a:prstGeom prst="rect">
            <a:avLst/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b79b81d2b1_0_73"/>
          <p:cNvSpPr txBox="1"/>
          <p:nvPr/>
        </p:nvSpPr>
        <p:spPr>
          <a:xfrm>
            <a:off x="7486225" y="5968025"/>
            <a:ext cx="4414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980000"/>
                </a:solidFill>
              </a:rPr>
              <a:t>Introduces </a:t>
            </a:r>
            <a:r>
              <a:rPr lang="en-US" sz="2800" dirty="0" err="1">
                <a:solidFill>
                  <a:srgbClr val="980000"/>
                </a:solidFill>
              </a:rPr>
              <a:t>sparsity</a:t>
            </a:r>
            <a:endParaRPr sz="2800" dirty="0">
              <a:solidFill>
                <a:srgbClr val="98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" grpId="0" animBg="1"/>
      <p:bldP spid="30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79b81d2b1_0_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Interesting Facts</a:t>
            </a:r>
            <a:endParaRPr/>
          </a:p>
        </p:txBody>
      </p:sp>
      <p:sp>
        <p:nvSpPr>
          <p:cNvPr id="310" name="Google Shape;310;g3b79b81d2b1_0_8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L2 and L1 regularization corresponds to MAP estimation under a zero-mean Gaussian prior and </a:t>
            </a:r>
            <a:r>
              <a:rPr lang="en-US" dirty="0" err="1"/>
              <a:t>Laplacian</a:t>
            </a:r>
            <a:r>
              <a:rPr lang="en-US" dirty="0"/>
              <a:t> priors respectively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L-1 regularization leads to </a:t>
            </a:r>
            <a:r>
              <a:rPr lang="en-US" dirty="0" err="1"/>
              <a:t>sparsity</a:t>
            </a:r>
            <a:r>
              <a:rPr lang="en-US" dirty="0"/>
              <a:t> of the parameters </a:t>
            </a:r>
            <a:endParaRPr dirty="0"/>
          </a:p>
        </p:txBody>
      </p:sp>
      <p:pic>
        <p:nvPicPr>
          <p:cNvPr id="311" name="Google Shape;311;g3b79b81d2b1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925" y="3668485"/>
            <a:ext cx="6225389" cy="263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b79b81d2b1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4783" y="2628325"/>
            <a:ext cx="4616429" cy="2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b79b81d2b1_0_9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Early Stopping</a:t>
            </a:r>
            <a:endParaRPr/>
          </a:p>
        </p:txBody>
      </p:sp>
      <p:sp>
        <p:nvSpPr>
          <p:cNvPr id="319" name="Google Shape;319;g3b79b81d2b1_0_9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We often observe,</a:t>
            </a:r>
            <a:endParaRPr dirty="0"/>
          </a:p>
          <a:p>
            <a:pPr marL="457200" lvl="0" indent="-325755" algn="l" rtl="0"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lang="en-US" dirty="0"/>
              <a:t>Training error decreasing over time</a:t>
            </a:r>
            <a:endParaRPr dirty="0"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en-US" dirty="0"/>
              <a:t>But validation error begins to rise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6236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-US" sz="2550" dirty="0">
                <a:highlight>
                  <a:srgbClr val="FFFFFF"/>
                </a:highlight>
              </a:rPr>
              <a:t>Store a copy of the model parameters, every time the validations error improves </a:t>
            </a:r>
            <a:endParaRPr sz="2550" dirty="0">
              <a:highlight>
                <a:srgbClr val="FFFFFF"/>
              </a:highlight>
            </a:endParaRPr>
          </a:p>
          <a:p>
            <a:pPr marL="457200" lvl="0" indent="-366236" algn="l" rtl="0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-US" sz="2550" dirty="0">
                <a:highlight>
                  <a:srgbClr val="FFFFFF"/>
                </a:highlight>
              </a:rPr>
              <a:t>Terminate training when validation error hasn’t improved for some pre-speciﬁed number of iterations.</a:t>
            </a:r>
            <a:endParaRPr sz="2550" dirty="0">
              <a:highlight>
                <a:srgbClr val="FFFFFF"/>
              </a:highlight>
            </a:endParaRPr>
          </a:p>
          <a:p>
            <a:pPr marL="457200" lvl="0" indent="-366236" algn="l" rtl="0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-US" sz="2550" dirty="0"/>
              <a:t>Return the model parameters corresponding to the best known validation error</a:t>
            </a:r>
            <a:endParaRPr sz="25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79b81d2b1_0_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27" name="Google Shape;327;g3b79b81d2b1_0_1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CS229 Lecture Note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Section 8.1, 9.1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Deep Learning Book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Section 5.2.2, 5.4.1-5.4.3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Section 7.1.1, 7.1.2, 7.8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D2L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Section 3.6, 3.7, 5.8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818</Words>
  <Application>Microsoft Office PowerPoint</Application>
  <PresentationFormat>Custom</PresentationFormat>
  <Paragraphs>186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Play</vt:lpstr>
      <vt:lpstr>Cambria Math</vt:lpstr>
      <vt:lpstr>Office Theme</vt:lpstr>
      <vt:lpstr>Bias-Variance Tradeoff  and  Regularization</vt:lpstr>
      <vt:lpstr>Point Estimation</vt:lpstr>
      <vt:lpstr>Function Estimation</vt:lpstr>
      <vt:lpstr>Bias and Variance</vt:lpstr>
      <vt:lpstr>Bias-Variance Tradeoff</vt:lpstr>
      <vt:lpstr>Bias-Variance Tradeoff</vt:lpstr>
      <vt:lpstr>Bias-Variance Tradeoff</vt:lpstr>
      <vt:lpstr>Bias-Variance Tradeoff</vt:lpstr>
      <vt:lpstr>Bias-Variance Tradeoff</vt:lpstr>
      <vt:lpstr>Bias-Variance Tradeoff</vt:lpstr>
      <vt:lpstr>Bias-Variance Tradeoff</vt:lpstr>
      <vt:lpstr>Bias-Variance Tradeoff</vt:lpstr>
      <vt:lpstr>Bias-Variance Tradeoff (Mathematical Decomposition)</vt:lpstr>
      <vt:lpstr>Bias-Variance Tradeoff (Mathematical Decomposition)</vt:lpstr>
      <vt:lpstr>Bias-Variance Tradeoff (Mathematical Decomposition)</vt:lpstr>
      <vt:lpstr>Bias-Variance Tradeoff (Mathematical Decomposition)</vt:lpstr>
      <vt:lpstr>Bias-Variance Tradeoff (Mathematical Decomposition)</vt:lpstr>
      <vt:lpstr>Bias-Variance Tradeoff</vt:lpstr>
      <vt:lpstr>Regularization</vt:lpstr>
      <vt:lpstr>Regularization</vt:lpstr>
      <vt:lpstr>Regularization</vt:lpstr>
      <vt:lpstr>Parameter Norm Regularizer</vt:lpstr>
      <vt:lpstr>L-2 Regularization</vt:lpstr>
      <vt:lpstr>L-1 Regularization</vt:lpstr>
      <vt:lpstr>Interesting Facts</vt:lpstr>
      <vt:lpstr>Early Stopping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Bias-Variance Trade-off  and  Regularization</dc:title>
  <dc:creator>Chowdhury Mohammad Rakin Haider</dc:creator>
  <cp:lastModifiedBy>ismail - [2010]</cp:lastModifiedBy>
  <cp:revision>6</cp:revision>
  <dcterms:created xsi:type="dcterms:W3CDTF">2025-06-23T17:00:14Z</dcterms:created>
  <dcterms:modified xsi:type="dcterms:W3CDTF">2026-01-11T03:53:48Z</dcterms:modified>
</cp:coreProperties>
</file>