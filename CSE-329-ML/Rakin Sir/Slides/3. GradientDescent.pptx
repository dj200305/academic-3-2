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58" r:id="rId4"/>
    <p:sldId id="260" r:id="rId5"/>
    <p:sldId id="262" r:id="rId6"/>
    <p:sldId id="261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>
        <p:scale>
          <a:sx n="70" d="100"/>
          <a:sy n="70" d="100"/>
        </p:scale>
        <p:origin x="-518" y="-4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580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90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47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97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48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706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360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932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447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262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35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764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Regression (Recap)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Goal: </a:t>
                </a:r>
              </a:p>
              <a:p>
                <a:pPr marL="800100" lvl="1" indent="-342900">
                  <a:buChar char="•"/>
                </a:pPr>
                <a:r>
                  <a:rPr lang="en-US" dirty="0"/>
                  <a:t>Given a training set, learn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3000" dirty="0"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:pPr marL="780738" lvl="1" indent="-323538">
                  <a:buChar char="•"/>
                  <a:defRPr sz="3000"/>
                </a:pPr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320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ar-AE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ar-AE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is as close as possible to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:pPr>
                  <a:defRPr sz="30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endParaRPr lang="en-US" dirty="0"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:r>
                  <a:rPr lang="en-US" dirty="0"/>
                  <a:t>For a dataset with n samples, minimize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2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2488310" y="4473870"/>
            <a:ext cx="7504025" cy="2092222"/>
            <a:chOff x="2488310" y="4473870"/>
            <a:chExt cx="7504025" cy="2092222"/>
          </a:xfrm>
        </p:grpSpPr>
        <p:pic>
          <p:nvPicPr>
            <p:cNvPr id="4" name="Picture 3" descr="Picture 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6987196" y="5618892"/>
              <a:ext cx="3005139" cy="9472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" name="pasted-movie.png" descr="pasted-movi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861170" y="4473870"/>
              <a:ext cx="4377823" cy="109445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6" name="Straight Arrow Connector 7"/>
            <p:cNvSpPr/>
            <p:nvPr/>
          </p:nvSpPr>
          <p:spPr>
            <a:xfrm flipH="1" flipV="1">
              <a:off x="6453796" y="5344608"/>
              <a:ext cx="533401" cy="760587"/>
            </a:xfrm>
            <a:prstGeom prst="line">
              <a:avLst/>
            </a:prstGeom>
            <a:ln w="25400">
              <a:solidFill>
                <a:srgbClr val="FF0000"/>
              </a:solidFill>
              <a:tailEnd type="triangle"/>
            </a:ln>
          </p:spPr>
          <p:txBody>
            <a:bodyPr lIns="45718" tIns="45718" rIns="45718" bIns="45718"/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1pPr>
              <a:lvl2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2pPr>
              <a:lvl3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3pPr>
              <a:lvl4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4pPr>
              <a:lvl5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5pPr>
              <a:lvl6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6pPr>
              <a:lvl7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7pPr>
              <a:lvl8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8pPr>
              <a:lvl9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9pPr>
            </a:lstStyle>
            <a:p>
              <a:endParaRPr dirty="0"/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2488310" y="5896258"/>
              <a:ext cx="3592372" cy="39246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  </a:ext>
            </a:extLst>
          </p:spPr>
          <p:txBody>
            <a:bodyPr wrap="none" lIns="45718" tIns="45718" rIns="45718" bIns="45718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1pPr>
              <a:lvl2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2pPr>
              <a:lvl3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3pPr>
              <a:lvl4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4pPr>
              <a:lvl5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5pPr>
              <a:lvl6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6pPr>
              <a:lvl7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7pPr>
              <a:lvl8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8pPr>
              <a:lvl9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"/>
                </a:defRPr>
              </a:lvl9pPr>
            </a:lstStyle>
            <a:p>
              <a:r>
                <a:rPr dirty="0"/>
                <a:t>Cost Function/Loss Function</a:t>
              </a:r>
            </a:p>
          </p:txBody>
        </p:sp>
        <p:sp>
          <p:nvSpPr>
            <p:cNvPr id="8" name="Line"/>
            <p:cNvSpPr/>
            <p:nvPr/>
          </p:nvSpPr>
          <p:spPr>
            <a:xfrm flipV="1">
              <a:off x="4298907" y="5108370"/>
              <a:ext cx="2" cy="666041"/>
            </a:xfrm>
            <a:prstGeom prst="line">
              <a:avLst/>
            </a:prstGeom>
            <a:ln w="25400">
              <a:solidFill>
                <a:srgbClr val="FF0000"/>
              </a:solidFill>
              <a:tailEnd type="triangle"/>
            </a:ln>
          </p:spPr>
          <p:txBody>
            <a:bodyPr lIns="45718" tIns="45718" rIns="45718" bIns="45718"/>
            <a:lstStyle/>
            <a:p>
              <a:pPr hangingPunct="0"/>
              <a:endParaRPr dirty="0">
                <a:solidFill>
                  <a:srgbClr val="000000"/>
                </a:solidFill>
              </a:endParaRPr>
            </a:p>
          </p:txBody>
        </p:sp>
      </p:grpSp>
      <p:sp>
        <p:nvSpPr>
          <p:cNvPr id="9" name="Least Mean Squares (LMS)"/>
          <p:cNvSpPr txBox="1"/>
          <p:nvPr/>
        </p:nvSpPr>
        <p:spPr>
          <a:xfrm>
            <a:off x="8078126" y="3463302"/>
            <a:ext cx="3385410" cy="461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txBody>
          <a:bodyPr wrap="none" lIns="45718" tIns="45718" rIns="45718" bIns="45718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r>
              <a:rPr sz="2400" dirty="0">
                <a:solidFill>
                  <a:srgbClr val="FF0000"/>
                </a:solidFill>
              </a:rPr>
              <a:t>Least Mean Squares (LMS)</a:t>
            </a:r>
          </a:p>
        </p:txBody>
      </p:sp>
    </p:spTree>
    <p:extLst>
      <p:ext uri="{BB962C8B-B14F-4D97-AF65-F5344CB8AC3E}">
        <p14:creationId xmlns:p14="http://schemas.microsoft.com/office/powerpoint/2010/main" val="476805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9B1F44A-FF9E-BC3E-3E5A-E5980F7E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AC6CE1-C9B5-C2D8-9909-6D19BFCF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3A2F93F-B482-9832-8B07-594BA81CE9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Goal: Choose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to minimize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600" dirty="0"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ar-A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ar-A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ar-AE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 smtClean="0"/>
                  <a:t>How?</a:t>
                </a:r>
              </a:p>
              <a:p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 smtClean="0">
                    <a:solidFill>
                      <a:schemeClr val="accent6"/>
                    </a:solidFill>
                  </a:rPr>
                  <a:t>Gradient </a:t>
                </a:r>
                <a:r>
                  <a:rPr lang="en-US" dirty="0">
                    <a:solidFill>
                      <a:schemeClr val="accent6"/>
                    </a:solidFill>
                  </a:rPr>
                  <a:t>Descent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3A2F93F-B482-9832-8B07-594BA81CE9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2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393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E56A651-2704-6A33-3A02-C100F8025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3F0BF0-98EC-00CF-AD3F-1B2881771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16C7F7DA-DF11-35D6-D12A-8DA0A041BCB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 smtClean="0"/>
                  <a:t>Start from an initial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Repeatedly update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b="0" dirty="0"/>
                  <a:t> as follows</a:t>
                </a:r>
              </a:p>
              <a:p>
                <a:endParaRPr lang="en-US" dirty="0"/>
              </a:p>
              <a:p>
                <a:endParaRPr lang="en-US" b="0" dirty="0" smtClean="0"/>
              </a:p>
              <a:p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b="0" dirty="0"/>
                  <a:t> corresponds to the coefficient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b="0" dirty="0"/>
                  <a:t> </a:t>
                </a:r>
                <a:endParaRPr lang="en-US" b="0" dirty="0" smtClean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𝛼</m:t>
                    </m:r>
                  </m:oMath>
                </a14:m>
                <a:r>
                  <a:rPr lang="en-US" b="0" dirty="0" smtClean="0"/>
                  <a:t> is called learning rate (hyper-parameter)</a:t>
                </a:r>
              </a:p>
              <a:p>
                <a:pPr lvl="1"/>
                <a:r>
                  <a:rPr lang="en-US" dirty="0" smtClean="0"/>
                  <a:t>Constant</a:t>
                </a:r>
              </a:p>
              <a:p>
                <a:pPr lvl="1"/>
                <a:r>
                  <a:rPr lang="en-US" b="0" dirty="0" smtClean="0"/>
                  <a:t>Decaying</a:t>
                </a:r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6C7F7DA-DF11-35D6-D12A-8DA0A041BC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1244" t="-926" r="-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graph with red dots and numbers&#10;&#10;AI-generated content may be incorrect.">
            <a:extLst>
              <a:ext uri="{FF2B5EF4-FFF2-40B4-BE49-F238E27FC236}">
                <a16:creationId xmlns:a16="http://schemas.microsoft.com/office/drawing/2014/main" xmlns="" id="{05095427-8F30-EAEB-3DC2-671ACA9D244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838" y="2295898"/>
            <a:ext cx="5389562" cy="3709241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AEC2717-C08A-5915-6597-0529D4E03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669" y="1258314"/>
            <a:ext cx="3019335" cy="7396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8335E3D-5F7B-727F-5588-D3FFF3E8B1C7}"/>
              </a:ext>
            </a:extLst>
          </p:cNvPr>
          <p:cNvSpPr txBox="1"/>
          <p:nvPr/>
        </p:nvSpPr>
        <p:spPr>
          <a:xfrm>
            <a:off x="9242481" y="888982"/>
            <a:ext cx="146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Cost Function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CAB3DA0D-8D71-62E7-5C40-BF0C2238B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9359" y="3214853"/>
            <a:ext cx="2645203" cy="8694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31960" y="3214852"/>
            <a:ext cx="1433954" cy="869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E56A651-2704-6A33-3A02-C100F8025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3F0BF0-98EC-00CF-AD3F-1B2881771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16C7F7DA-DF11-35D6-D12A-8DA0A041BC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b="0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AEC2717-C08A-5915-6597-0529D4E03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669" y="1258314"/>
            <a:ext cx="3019335" cy="7396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8335E3D-5F7B-727F-5588-D3FFF3E8B1C7}"/>
              </a:ext>
            </a:extLst>
          </p:cNvPr>
          <p:cNvSpPr txBox="1"/>
          <p:nvPr/>
        </p:nvSpPr>
        <p:spPr>
          <a:xfrm>
            <a:off x="9242481" y="888982"/>
            <a:ext cx="146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Cost Function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CAB3DA0D-8D71-62E7-5C40-BF0C2238B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976" y="1258314"/>
            <a:ext cx="2645203" cy="8694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67577" y="1258314"/>
            <a:ext cx="1433954" cy="869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015" y="2338388"/>
            <a:ext cx="4396014" cy="968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190" y="3304184"/>
            <a:ext cx="4454524" cy="94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189" y="4253639"/>
            <a:ext cx="4593565" cy="98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49" y="5242827"/>
            <a:ext cx="2905794" cy="838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535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AA59D96-6615-9DCA-BB78-B0147F41D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21A590-2591-E709-3493-3222088AF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3E1B48C0-D76F-DD43-A4EC-6624BF34C5A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Start from an initial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1B48C0-D76F-DD43-A4EC-6624BF34C5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graph with red dots and numbers&#10;&#10;AI-generated content may be incorrect.">
            <a:extLst>
              <a:ext uri="{FF2B5EF4-FFF2-40B4-BE49-F238E27FC236}">
                <a16:creationId xmlns:a16="http://schemas.microsoft.com/office/drawing/2014/main" xmlns="" id="{A1A86CEF-8CB2-4881-2D4E-88408AA171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552" y="2218236"/>
            <a:ext cx="4095247" cy="2818459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024F426-E30F-9CE7-3321-CEE90660F45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8763000" y="213347"/>
            <a:ext cx="3019335" cy="7396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AC95E5A-DFD2-CA10-2399-0D4A169D357D}"/>
              </a:ext>
            </a:extLst>
          </p:cNvPr>
          <p:cNvSpPr txBox="1"/>
          <p:nvPr/>
        </p:nvSpPr>
        <p:spPr>
          <a:xfrm>
            <a:off x="9480270" y="888982"/>
            <a:ext cx="1584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Cost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D533AB9-A37A-036B-F6AA-2B16AFA8AAC8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rcRect r="58578" b="86315"/>
          <a:stretch>
            <a:fillRect/>
          </a:stretch>
        </p:blipFill>
        <p:spPr>
          <a:xfrm>
            <a:off x="1226458" y="2457139"/>
            <a:ext cx="2655627" cy="313358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458" y="2883007"/>
            <a:ext cx="5773056" cy="84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8245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Three Flavors of 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Batch Gradient Descent</a:t>
            </a:r>
          </a:p>
          <a:p>
            <a:pPr lvl="1"/>
            <a:r>
              <a:rPr lang="en-US" dirty="0" smtClean="0"/>
              <a:t>Use all n samples to compute the gradient</a:t>
            </a:r>
          </a:p>
          <a:p>
            <a:pPr lvl="1"/>
            <a:r>
              <a:rPr lang="en-US" dirty="0" smtClean="0"/>
              <a:t>Exact gradient</a:t>
            </a:r>
          </a:p>
          <a:p>
            <a:pPr lvl="1"/>
            <a:r>
              <a:rPr lang="en-US" dirty="0" smtClean="0"/>
              <a:t>Stable Updates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Slow, memory intensive</a:t>
            </a:r>
          </a:p>
          <a:p>
            <a:endParaRPr lang="en-US" dirty="0" smtClean="0"/>
          </a:p>
          <a:p>
            <a:r>
              <a:rPr lang="en-US" dirty="0" smtClean="0"/>
              <a:t>Stochastic Gradient Descent</a:t>
            </a:r>
          </a:p>
          <a:p>
            <a:pPr lvl="1"/>
            <a:r>
              <a:rPr lang="en-US" dirty="0"/>
              <a:t>Use </a:t>
            </a:r>
            <a:r>
              <a:rPr lang="en-US" dirty="0" smtClean="0"/>
              <a:t>1 sample </a:t>
            </a:r>
            <a:r>
              <a:rPr lang="en-US" dirty="0"/>
              <a:t>to compute the gradient</a:t>
            </a:r>
          </a:p>
          <a:p>
            <a:pPr lvl="1"/>
            <a:r>
              <a:rPr lang="en-US" dirty="0" smtClean="0"/>
              <a:t>Very fast updates</a:t>
            </a:r>
          </a:p>
          <a:p>
            <a:pPr lvl="1"/>
            <a:r>
              <a:rPr lang="en-US" dirty="0" smtClean="0"/>
              <a:t>Noisy gradient, Convergence issues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Mini-batch Gradient Descent</a:t>
            </a:r>
          </a:p>
          <a:p>
            <a:pPr lvl="1"/>
            <a:r>
              <a:rPr lang="en-US" dirty="0" smtClean="0"/>
              <a:t>Use a small batch of samples </a:t>
            </a:r>
          </a:p>
          <a:p>
            <a:pPr lvl="1"/>
            <a:r>
              <a:rPr lang="en-US" dirty="0" smtClean="0"/>
              <a:t>Reasonably stable</a:t>
            </a:r>
          </a:p>
          <a:p>
            <a:pPr lvl="1"/>
            <a:r>
              <a:rPr lang="en-US" dirty="0" smtClean="0"/>
              <a:t>Most used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192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Three Flavors of 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Batch Gradient Descent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Stochastic Gradient Descent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Mini-batch Gradient Descent</a:t>
            </a:r>
          </a:p>
          <a:p>
            <a:pPr marL="457200" lvl="1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603171" y="1556657"/>
                <a:ext cx="459151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FF0000"/>
                    </a:solidFill>
                  </a:rPr>
                  <a:t>Let,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𝐽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𝜃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 is the loss from sample (x, y)</a:t>
                </a:r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171" y="1556657"/>
                <a:ext cx="4591513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1328" t="-7576" r="-664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397" y="2777898"/>
            <a:ext cx="5086350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20" y="2619375"/>
            <a:ext cx="5019675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982" y="4608739"/>
            <a:ext cx="363855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7545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Rate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4836886" cy="4525963"/>
          </a:xfrm>
        </p:spPr>
        <p:txBody>
          <a:bodyPr/>
          <a:lstStyle/>
          <a:p>
            <a:r>
              <a:rPr lang="en-US" dirty="0" smtClean="0"/>
              <a:t>Too small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Too Large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5812971" y="1611088"/>
            <a:ext cx="6041572" cy="4525963"/>
          </a:xfrm>
        </p:spPr>
        <p:txBody>
          <a:bodyPr/>
          <a:lstStyle/>
          <a:p>
            <a:r>
              <a:rPr lang="en-US" dirty="0" smtClean="0"/>
              <a:t>Just Right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880" y="2043793"/>
            <a:ext cx="2698634" cy="1711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767" y="4713514"/>
            <a:ext cx="3127795" cy="1717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768" y="2145846"/>
            <a:ext cx="3069089" cy="1820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805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9B1F44A-FF9E-BC3E-3E5A-E5980F7E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AC6CE1-C9B5-C2D8-9909-6D19BFCF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Generalization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63A2F93F-B482-9832-8B07-594BA81CE9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Training Error and Generalization Error</a:t>
                </a:r>
              </a:p>
              <a:p>
                <a:pPr lvl="1"/>
                <a:r>
                  <a:rPr lang="en-US" dirty="0" smtClean="0">
                    <a:solidFill>
                      <a:schemeClr val="tx1"/>
                    </a:solidFill>
                  </a:rPr>
                  <a:t>Let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𝑙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the 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error </a:t>
                </a:r>
                <a:r>
                  <a:rPr lang="en-US" dirty="0">
                    <a:solidFill>
                      <a:schemeClr val="tx1"/>
                    </a:solidFill>
                  </a:rPr>
                  <a:t>from sample (x, y)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lvl="1"/>
                <a:r>
                  <a:rPr lang="en-US" dirty="0" smtClean="0"/>
                  <a:t>Training Error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 smtClean="0"/>
              </a:p>
              <a:p>
                <a:pPr lvl="1"/>
                <a:r>
                  <a:rPr lang="en-US" dirty="0" smtClean="0"/>
                  <a:t>Generalization Error</a:t>
                </a:r>
                <a:endParaRPr lang="en-US" dirty="0"/>
              </a:p>
              <a:p>
                <a:pPr lvl="1"/>
                <a:endParaRPr lang="en-US" dirty="0" smtClean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3A2F93F-B482-9832-8B07-594BA81CE9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2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835" y="3566431"/>
            <a:ext cx="463867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122" y="5353050"/>
            <a:ext cx="384810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433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9B1F44A-FF9E-BC3E-3E5A-E5980F7E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AC6CE1-C9B5-C2D8-9909-6D19BFCF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63A2F93F-B482-9832-8B07-594BA81CE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IID Assumption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training data and the test data </a:t>
            </a:r>
            <a:r>
              <a:rPr lang="en-US" dirty="0" smtClean="0"/>
              <a:t>are drawn </a:t>
            </a:r>
            <a:r>
              <a:rPr lang="en-US" i="1" dirty="0" smtClean="0">
                <a:solidFill>
                  <a:srgbClr val="FF0000"/>
                </a:solidFill>
              </a:rPr>
              <a:t>independently</a:t>
            </a:r>
            <a:r>
              <a:rPr lang="en-US" dirty="0" smtClean="0"/>
              <a:t> from </a:t>
            </a:r>
            <a:r>
              <a:rPr lang="en-US" i="1" dirty="0" smtClean="0">
                <a:solidFill>
                  <a:srgbClr val="FF0000"/>
                </a:solidFill>
              </a:rPr>
              <a:t>identical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distributions.</a:t>
            </a:r>
          </a:p>
          <a:p>
            <a:pPr lvl="1"/>
            <a:endParaRPr lang="en-US" dirty="0"/>
          </a:p>
          <a:p>
            <a:r>
              <a:rPr lang="en-US" dirty="0" smtClean="0"/>
              <a:t>We </a:t>
            </a:r>
            <a:r>
              <a:rPr lang="en-US" dirty="0"/>
              <a:t>cannot sample an infinite stream of data </a:t>
            </a:r>
            <a:r>
              <a:rPr lang="en-US" dirty="0" smtClean="0"/>
              <a:t>points</a:t>
            </a:r>
          </a:p>
          <a:p>
            <a:r>
              <a:rPr lang="en-US" dirty="0" smtClean="0"/>
              <a:t>Estimate </a:t>
            </a:r>
            <a:r>
              <a:rPr lang="en-US" dirty="0"/>
              <a:t>generalization error on </a:t>
            </a:r>
            <a:r>
              <a:rPr lang="en-US" dirty="0" smtClean="0"/>
              <a:t>the test set</a:t>
            </a:r>
          </a:p>
          <a:p>
            <a:pPr lvl="1"/>
            <a:r>
              <a:rPr lang="en-US" dirty="0" smtClean="0"/>
              <a:t>Same formula as training error applied on the samples in the test set.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084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9B1F44A-FF9E-BC3E-3E5A-E5980F7E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AC6CE1-C9B5-C2D8-9909-6D19BFCF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Underfittin</a:t>
            </a:r>
            <a:r>
              <a:rPr lang="en-US" dirty="0" err="1" smtClean="0"/>
              <a:t>g</a:t>
            </a:r>
            <a:r>
              <a:rPr lang="en-US" dirty="0" smtClean="0"/>
              <a:t> or </a:t>
            </a:r>
            <a:r>
              <a:rPr lang="en-US" dirty="0" err="1" smtClean="0"/>
              <a:t>Overfitting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12800" y="1600203"/>
                <a:ext cx="5488324" cy="4525963"/>
              </a:xfrm>
            </p:spPr>
            <p:txBody>
              <a:bodyPr/>
              <a:lstStyle/>
              <a:p>
                <a:r>
                  <a:rPr lang="en-US" dirty="0" smtClean="0"/>
                  <a:t>Polynomial Curve Fitting</a:t>
                </a:r>
              </a:p>
              <a:p>
                <a:pPr lvl="1"/>
                <a:r>
                  <a:rPr lang="en-US" dirty="0" smtClean="0"/>
                  <a:t>Training </a:t>
                </a:r>
                <a:r>
                  <a:rPr lang="en-US" dirty="0"/>
                  <a:t>data consisting of </a:t>
                </a:r>
                <a:endParaRPr lang="en-US" dirty="0" smtClean="0"/>
              </a:p>
              <a:p>
                <a:pPr lvl="2"/>
                <a:r>
                  <a:rPr lang="en-US" dirty="0" smtClean="0"/>
                  <a:t>a </a:t>
                </a:r>
                <a:r>
                  <a:rPr lang="en-US" dirty="0"/>
                  <a:t>single feature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/>
                  <a:t> </a:t>
                </a:r>
                <a:endParaRPr lang="en-US" dirty="0" smtClean="0"/>
              </a:p>
              <a:p>
                <a:pPr lvl="2"/>
                <a:r>
                  <a:rPr lang="en-US" dirty="0" smtClean="0"/>
                  <a:t>corresponding </a:t>
                </a:r>
                <a:r>
                  <a:rPr lang="en-US" dirty="0"/>
                  <a:t>real-valued label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𝑦</m:t>
                    </m:r>
                  </m:oMath>
                </a14:m>
                <a:endParaRPr lang="en-US" dirty="0" smtClean="0"/>
              </a:p>
              <a:p>
                <a:pPr lvl="2"/>
                <a:r>
                  <a:rPr lang="en-US" dirty="0" smtClean="0"/>
                  <a:t>Find </a:t>
                </a:r>
                <a:r>
                  <a:rPr lang="en-US" dirty="0"/>
                  <a:t>the </a:t>
                </a:r>
                <a:r>
                  <a:rPr lang="en-US" dirty="0" smtClean="0"/>
                  <a:t>polynomial of </a:t>
                </a:r>
                <a:r>
                  <a:rPr lang="en-US" dirty="0"/>
                  <a:t>degree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𝑑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12800" y="1600203"/>
                <a:ext cx="5488324" cy="4525963"/>
              </a:xfrm>
              <a:blipFill rotWithShape="1">
                <a:blip r:embed="rId2"/>
                <a:stretch>
                  <a:fillRect l="-1887" t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124" y="2068283"/>
            <a:ext cx="5640505" cy="3848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776" y="3796733"/>
            <a:ext cx="198645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002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xmlns="" id="{E9B1F44A-FF9E-BC3E-3E5A-E5980F7E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AC6CE1-C9B5-C2D8-9909-6D19BFCF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Size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With a fixed model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fewer samples </a:t>
            </a:r>
            <a:r>
              <a:rPr lang="en-US" dirty="0" smtClean="0"/>
              <a:t>in </a:t>
            </a:r>
            <a:r>
              <a:rPr lang="en-US" dirty="0"/>
              <a:t>the training </a:t>
            </a:r>
            <a:r>
              <a:rPr lang="en-US" dirty="0" smtClean="0"/>
              <a:t>dataset, </a:t>
            </a:r>
            <a:r>
              <a:rPr lang="en-US" dirty="0"/>
              <a:t>the more likely </a:t>
            </a:r>
            <a:r>
              <a:rPr lang="en-US" dirty="0" smtClean="0"/>
              <a:t>to </a:t>
            </a:r>
            <a:r>
              <a:rPr lang="en-US" dirty="0" err="1" smtClean="0"/>
              <a:t>overfit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As </a:t>
            </a:r>
            <a:r>
              <a:rPr lang="en-US" dirty="0"/>
              <a:t>we increase the amount of training data, the generalization error typically decreases. </a:t>
            </a:r>
            <a:endParaRPr lang="en-US" dirty="0" smtClean="0"/>
          </a:p>
          <a:p>
            <a:pPr lvl="1"/>
            <a:r>
              <a:rPr lang="en-US" dirty="0" smtClean="0"/>
              <a:t>More </a:t>
            </a:r>
            <a:r>
              <a:rPr lang="en-US" dirty="0"/>
              <a:t>data </a:t>
            </a:r>
            <a:r>
              <a:rPr lang="en-US" dirty="0" smtClean="0"/>
              <a:t>typically helps. </a:t>
            </a:r>
          </a:p>
          <a:p>
            <a:pPr lvl="1"/>
            <a:r>
              <a:rPr lang="en-US" dirty="0" smtClean="0"/>
              <a:t>For </a:t>
            </a:r>
            <a:r>
              <a:rPr lang="en-US" dirty="0"/>
              <a:t>a fixed task and data distribution, </a:t>
            </a:r>
            <a:endParaRPr lang="en-US" dirty="0" smtClean="0"/>
          </a:p>
          <a:p>
            <a:pPr lvl="2"/>
            <a:r>
              <a:rPr lang="en-US" dirty="0" smtClean="0"/>
              <a:t>Given sufficient </a:t>
            </a:r>
            <a:r>
              <a:rPr lang="en-US" dirty="0"/>
              <a:t>data, </a:t>
            </a:r>
            <a:r>
              <a:rPr lang="en-US" dirty="0" smtClean="0"/>
              <a:t>attempt </a:t>
            </a:r>
            <a:r>
              <a:rPr lang="en-US" dirty="0"/>
              <a:t>to fit a more complex model. </a:t>
            </a:r>
            <a:endParaRPr lang="en-US" dirty="0" smtClean="0"/>
          </a:p>
          <a:p>
            <a:pPr lvl="2"/>
            <a:r>
              <a:rPr lang="en-US" dirty="0" smtClean="0"/>
              <a:t>Absent </a:t>
            </a:r>
            <a:r>
              <a:rPr lang="en-US" dirty="0"/>
              <a:t>sufficient data, simpler models may be more difficult to beat.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012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D2l </a:t>
            </a:r>
          </a:p>
          <a:p>
            <a:pPr lvl="1"/>
            <a:r>
              <a:rPr lang="en-US" dirty="0" smtClean="0"/>
              <a:t>Gradient Descent: 12.3 (up to 12.3.2) </a:t>
            </a:r>
          </a:p>
          <a:p>
            <a:pPr lvl="1"/>
            <a:r>
              <a:rPr lang="en-US" dirty="0" smtClean="0"/>
              <a:t>Generalization: </a:t>
            </a:r>
            <a:r>
              <a:rPr lang="en-US" dirty="0" smtClean="0"/>
              <a:t>Section 3.6 (up to 3.6.2.2)</a:t>
            </a:r>
          </a:p>
          <a:p>
            <a:pPr lvl="1"/>
            <a:endParaRPr lang="en-US" dirty="0"/>
          </a:p>
          <a:p>
            <a:r>
              <a:rPr lang="en-US" dirty="0" smtClean="0"/>
              <a:t>Deep Learning</a:t>
            </a:r>
          </a:p>
          <a:p>
            <a:pPr lvl="1"/>
            <a:r>
              <a:rPr lang="en-US" dirty="0" smtClean="0"/>
              <a:t>Section 8.1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439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421</Words>
  <Application>Microsoft Office PowerPoint</Application>
  <PresentationFormat>Custom</PresentationFormat>
  <Paragraphs>99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Gradient Descent</vt:lpstr>
      <vt:lpstr>Linear Regression (Recap)</vt:lpstr>
      <vt:lpstr>Linear Regression</vt:lpstr>
      <vt:lpstr>Gradient Descent</vt:lpstr>
      <vt:lpstr>Gradient Descent</vt:lpstr>
      <vt:lpstr>Gradient Descent</vt:lpstr>
      <vt:lpstr>The Three Flavors of Gradient Descent</vt:lpstr>
      <vt:lpstr>The Three Flavors of Gradient Descent</vt:lpstr>
      <vt:lpstr>Learning Rate</vt:lpstr>
      <vt:lpstr>Generalization</vt:lpstr>
      <vt:lpstr>Generalization</vt:lpstr>
      <vt:lpstr>Underfitting or Overfitting</vt:lpstr>
      <vt:lpstr>Dataset Size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 Descent</dc:title>
  <dc:creator/>
  <cp:lastModifiedBy>ismail - [2010]</cp:lastModifiedBy>
  <cp:revision>14</cp:revision>
  <dcterms:created xsi:type="dcterms:W3CDTF">2025-11-30T12:13:13Z</dcterms:created>
  <dcterms:modified xsi:type="dcterms:W3CDTF">2025-12-07T03:57:23Z</dcterms:modified>
</cp:coreProperties>
</file>