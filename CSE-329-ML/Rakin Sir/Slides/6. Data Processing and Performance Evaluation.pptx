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embeddedFontLst>
    <p:embeddedFont>
      <p:font typeface="Play" charset="0"/>
      <p:regular r:id="rId27"/>
      <p:bold r:id="rId28"/>
    </p:embeddedFont>
    <p:embeddedFont>
      <p:font typeface="Cambria Math" pitchFamily="18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/f8YVHIuyK8vvPKOjbw8GgDZT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4D2B6555-1272-476C-A281-D5D04C894614}">
  <a:tblStyle styleId="{4D2B6555-1272-476C-A281-D5D04C89461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-58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52636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76fbd6b3_0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3b276fbd6b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276fbd6b3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3b276fbd6b3_0_2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3b276fbd6b3_0_2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76fbd6b3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b276fbd6b3_0_2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276fbd6b3_0_2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276fbd6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b276fbd6b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b276fbd6b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276fbd6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b276fbd6b3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b276fbd6b3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276fbd6b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b276fbd6b3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b276fbd6b3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276fbd6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b276fbd6b3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3b276fbd6b3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276fbd6b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b276fbd6b3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3b276fbd6b3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276fbd6b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b276fbd6b3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b276fbd6b3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276fbd6b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b276fbd6b3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3b276fbd6b3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276fbd6b3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b276fbd6b3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3b276fbd6b3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276fbd6b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3b276fbd6b3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3b276fbd6b3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276fbd6b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b276fbd6b3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3b276fbd6b3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276fbd6b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b276fbd6b3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b276fbd6b3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276fbd6b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b276fbd6b3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b276fbd6b3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276fbd6b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3b276fbd6b3_0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g3b276fbd6b3_0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276fbd6b3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3b276fbd6b3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3b276fbd6b3_0_1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276fbd6b3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g3b276fbd6b3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g3b276fbd6b3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276fbd6b3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b276fbd6b3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g3b276fbd6b3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2790d2b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b2790d2b0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b2790d2b0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276fbd6b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b276fbd6b3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3b276fbd6b3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ecision_and_recal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evelopers.google.com/machine-learning/crash-course/classification/roc-and-auc" TargetMode="External"/><Relationship Id="rId4" Type="http://schemas.openxmlformats.org/officeDocument/2006/relationships/hyperlink" Target="https://www.v7labs.com/blog/confusion-matrix-gu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Data Processing and Performance Evaluation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Feature Scaling</a:t>
            </a:r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1885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Example:</a:t>
            </a:r>
            <a:endParaRPr dirty="0"/>
          </a:p>
          <a:p>
            <a:pPr marL="685800" lvl="1" indent="-232409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Temperature (°C) ≈ 15–40</a:t>
            </a:r>
            <a:endParaRPr dirty="0"/>
          </a:p>
          <a:p>
            <a:pPr marL="685800" lvl="1" indent="-232409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dirty="0"/>
              <a:t>Rainfall (mm) ≈ 0–300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endParaRPr dirty="0"/>
          </a:p>
          <a:p>
            <a:pPr marL="228600" lvl="0" indent="-20288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US" dirty="0"/>
              <a:t>The gradient is proportional to the feature value.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endParaRPr dirty="0"/>
          </a:p>
          <a:p>
            <a:pPr marL="228600" lvl="0" indent="-20288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US" dirty="0"/>
              <a:t>Large feature values → Large gradient → Larger weight update</a:t>
            </a:r>
            <a:endParaRPr dirty="0"/>
          </a:p>
          <a:p>
            <a:pPr marL="228600" lvl="0" indent="-202882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US" dirty="0"/>
              <a:t>Learning gets over-reliant on Rainfall</a:t>
            </a:r>
            <a:endParaRPr dirty="0"/>
          </a:p>
        </p:txBody>
      </p:sp>
      <p:sp>
        <p:nvSpPr>
          <p:cNvPr id="96" name="Google Shape;96;p4" descr="pasted-movie.png"/>
          <p:cNvSpPr/>
          <p:nvPr/>
        </p:nvSpPr>
        <p:spPr>
          <a:xfrm>
            <a:off x="155575" y="8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 descr="pasted-movie.png"/>
          <p:cNvSpPr/>
          <p:nvPr/>
        </p:nvSpPr>
        <p:spPr>
          <a:xfrm>
            <a:off x="307975" y="236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 descr="pasted-movie.png"/>
          <p:cNvSpPr/>
          <p:nvPr/>
        </p:nvSpPr>
        <p:spPr>
          <a:xfrm>
            <a:off x="460375" y="388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 descr="pasted-movie.png"/>
          <p:cNvSpPr/>
          <p:nvPr/>
        </p:nvSpPr>
        <p:spPr>
          <a:xfrm>
            <a:off x="612775" y="541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 descr="pasted-movie.png"/>
          <p:cNvSpPr/>
          <p:nvPr/>
        </p:nvSpPr>
        <p:spPr>
          <a:xfrm>
            <a:off x="765175" y="693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 descr="pasted-movie.png"/>
          <p:cNvSpPr/>
          <p:nvPr/>
        </p:nvSpPr>
        <p:spPr>
          <a:xfrm>
            <a:off x="917575" y="846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 descr="pasted-movie.png"/>
          <p:cNvSpPr/>
          <p:nvPr/>
        </p:nvSpPr>
        <p:spPr>
          <a:xfrm>
            <a:off x="1069975" y="998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 descr="pasted-movie.png"/>
          <p:cNvSpPr/>
          <p:nvPr/>
        </p:nvSpPr>
        <p:spPr>
          <a:xfrm>
            <a:off x="1222375" y="1150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 descr="pasted-movie.png"/>
          <p:cNvSpPr/>
          <p:nvPr/>
        </p:nvSpPr>
        <p:spPr>
          <a:xfrm>
            <a:off x="1374775" y="1303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 descr="pasted-movie.png"/>
          <p:cNvSpPr/>
          <p:nvPr/>
        </p:nvSpPr>
        <p:spPr>
          <a:xfrm>
            <a:off x="1527175" y="1455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 descr="pasted-movie.png"/>
          <p:cNvSpPr/>
          <p:nvPr/>
        </p:nvSpPr>
        <p:spPr>
          <a:xfrm>
            <a:off x="1679575" y="1608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 descr="pasted-movie.png"/>
          <p:cNvSpPr/>
          <p:nvPr/>
        </p:nvSpPr>
        <p:spPr>
          <a:xfrm>
            <a:off x="1831975" y="1760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 descr="pasted-movie.png"/>
          <p:cNvSpPr/>
          <p:nvPr/>
        </p:nvSpPr>
        <p:spPr>
          <a:xfrm>
            <a:off x="1984375" y="1912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 descr="pasted-movie.png"/>
          <p:cNvSpPr/>
          <p:nvPr/>
        </p:nvSpPr>
        <p:spPr>
          <a:xfrm>
            <a:off x="2136775" y="2065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 descr="pasted-movie.png"/>
          <p:cNvSpPr/>
          <p:nvPr/>
        </p:nvSpPr>
        <p:spPr>
          <a:xfrm>
            <a:off x="2289175" y="2217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 descr="pasted-movie.png"/>
          <p:cNvSpPr/>
          <p:nvPr/>
        </p:nvSpPr>
        <p:spPr>
          <a:xfrm>
            <a:off x="2441575" y="2370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 descr="pasted-movie.png"/>
          <p:cNvSpPr/>
          <p:nvPr/>
        </p:nvSpPr>
        <p:spPr>
          <a:xfrm>
            <a:off x="2593975" y="2522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 descr="pasted-movie.png"/>
          <p:cNvSpPr/>
          <p:nvPr/>
        </p:nvSpPr>
        <p:spPr>
          <a:xfrm>
            <a:off x="2746375" y="2674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 descr="pasted-movie.png"/>
          <p:cNvSpPr/>
          <p:nvPr/>
        </p:nvSpPr>
        <p:spPr>
          <a:xfrm>
            <a:off x="2898775" y="2827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 descr="pasted-movie.png"/>
          <p:cNvSpPr/>
          <p:nvPr/>
        </p:nvSpPr>
        <p:spPr>
          <a:xfrm>
            <a:off x="3051175" y="2979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 descr="pasted-movie.png"/>
          <p:cNvSpPr/>
          <p:nvPr/>
        </p:nvSpPr>
        <p:spPr>
          <a:xfrm>
            <a:off x="3203575" y="3132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 descr="pasted-movie.png"/>
          <p:cNvSpPr/>
          <p:nvPr/>
        </p:nvSpPr>
        <p:spPr>
          <a:xfrm>
            <a:off x="3355975" y="3284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 descr="pasted-movie.png"/>
          <p:cNvSpPr/>
          <p:nvPr/>
        </p:nvSpPr>
        <p:spPr>
          <a:xfrm>
            <a:off x="3508375" y="343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 descr="pasted-movie.png"/>
          <p:cNvSpPr/>
          <p:nvPr/>
        </p:nvSpPr>
        <p:spPr>
          <a:xfrm>
            <a:off x="3660775" y="3589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 descr="pasted-movie.png"/>
          <p:cNvSpPr/>
          <p:nvPr/>
        </p:nvSpPr>
        <p:spPr>
          <a:xfrm>
            <a:off x="3813175" y="3741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 descr="pasted-movie.png"/>
          <p:cNvSpPr/>
          <p:nvPr/>
        </p:nvSpPr>
        <p:spPr>
          <a:xfrm>
            <a:off x="3965575" y="389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 descr="pasted-movie.png"/>
          <p:cNvSpPr/>
          <p:nvPr/>
        </p:nvSpPr>
        <p:spPr>
          <a:xfrm>
            <a:off x="4117975" y="4046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3750" y="1551000"/>
            <a:ext cx="393318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8188" y="2513025"/>
            <a:ext cx="3244307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9913" y="3741750"/>
            <a:ext cx="4440849" cy="11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276fbd6b3_0_1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Feature Scaling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Google Shape;131;g3b276fbd6b3_0_17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Standardization</a:t>
                </a:r>
              </a:p>
              <a:p>
                <a:pPr marL="22860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228600" lvl="0" indent="-228600">
                  <a:lnSpc>
                    <a:spcPct val="1150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𝜎</m:t>
                    </m:r>
                  </m:oMath>
                </a14:m>
                <a:r>
                  <a:rPr lang="en-US" dirty="0" smtClean="0"/>
                  <a:t> are </a:t>
                </a:r>
                <a:r>
                  <a:rPr lang="en-US" dirty="0"/>
                  <a:t>mean and standard deviation respectively</a:t>
                </a:r>
                <a:endParaRPr dirty="0"/>
              </a:p>
            </p:txBody>
          </p:sp>
        </mc:Choice>
        <mc:Fallback>
          <p:sp>
            <p:nvSpPr>
              <p:cNvPr id="131" name="Google Shape;131;g3b276fbd6b3_0_17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5181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l="-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Google Shape;132;g3b276fbd6b3_0_175" descr="pasted-movie.png"/>
          <p:cNvSpPr/>
          <p:nvPr/>
        </p:nvSpPr>
        <p:spPr>
          <a:xfrm>
            <a:off x="155575" y="8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b276fbd6b3_0_175" descr="pasted-movie.png"/>
          <p:cNvSpPr/>
          <p:nvPr/>
        </p:nvSpPr>
        <p:spPr>
          <a:xfrm>
            <a:off x="307975" y="236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b276fbd6b3_0_175" descr="pasted-movie.png"/>
          <p:cNvSpPr/>
          <p:nvPr/>
        </p:nvSpPr>
        <p:spPr>
          <a:xfrm>
            <a:off x="460375" y="388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276fbd6b3_0_175" descr="pasted-movie.png"/>
          <p:cNvSpPr/>
          <p:nvPr/>
        </p:nvSpPr>
        <p:spPr>
          <a:xfrm>
            <a:off x="612775" y="541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b276fbd6b3_0_175" descr="pasted-movie.png"/>
          <p:cNvSpPr/>
          <p:nvPr/>
        </p:nvSpPr>
        <p:spPr>
          <a:xfrm>
            <a:off x="765175" y="693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b276fbd6b3_0_175" descr="pasted-movie.png"/>
          <p:cNvSpPr/>
          <p:nvPr/>
        </p:nvSpPr>
        <p:spPr>
          <a:xfrm>
            <a:off x="917575" y="846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b276fbd6b3_0_175" descr="pasted-movie.png"/>
          <p:cNvSpPr/>
          <p:nvPr/>
        </p:nvSpPr>
        <p:spPr>
          <a:xfrm>
            <a:off x="1069975" y="998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b276fbd6b3_0_175" descr="pasted-movie.png"/>
          <p:cNvSpPr/>
          <p:nvPr/>
        </p:nvSpPr>
        <p:spPr>
          <a:xfrm>
            <a:off x="1222375" y="1150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b276fbd6b3_0_175" descr="pasted-movie.png"/>
          <p:cNvSpPr/>
          <p:nvPr/>
        </p:nvSpPr>
        <p:spPr>
          <a:xfrm>
            <a:off x="1374775" y="1303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b276fbd6b3_0_175" descr="pasted-movie.png"/>
          <p:cNvSpPr/>
          <p:nvPr/>
        </p:nvSpPr>
        <p:spPr>
          <a:xfrm>
            <a:off x="1527175" y="1455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b276fbd6b3_0_175" descr="pasted-movie.png"/>
          <p:cNvSpPr/>
          <p:nvPr/>
        </p:nvSpPr>
        <p:spPr>
          <a:xfrm>
            <a:off x="1679575" y="1608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b276fbd6b3_0_175" descr="pasted-movie.png"/>
          <p:cNvSpPr/>
          <p:nvPr/>
        </p:nvSpPr>
        <p:spPr>
          <a:xfrm>
            <a:off x="1831975" y="1760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b276fbd6b3_0_175" descr="pasted-movie.png"/>
          <p:cNvSpPr/>
          <p:nvPr/>
        </p:nvSpPr>
        <p:spPr>
          <a:xfrm>
            <a:off x="1984375" y="1912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b276fbd6b3_0_175" descr="pasted-movie.png"/>
          <p:cNvSpPr/>
          <p:nvPr/>
        </p:nvSpPr>
        <p:spPr>
          <a:xfrm>
            <a:off x="2136775" y="2065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b276fbd6b3_0_175" descr="pasted-movie.png"/>
          <p:cNvSpPr/>
          <p:nvPr/>
        </p:nvSpPr>
        <p:spPr>
          <a:xfrm>
            <a:off x="2289175" y="2217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b276fbd6b3_0_175" descr="pasted-movie.png"/>
          <p:cNvSpPr/>
          <p:nvPr/>
        </p:nvSpPr>
        <p:spPr>
          <a:xfrm>
            <a:off x="2441575" y="2370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b276fbd6b3_0_175" descr="pasted-movie.png"/>
          <p:cNvSpPr/>
          <p:nvPr/>
        </p:nvSpPr>
        <p:spPr>
          <a:xfrm>
            <a:off x="2593975" y="2522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276fbd6b3_0_175" descr="pasted-movie.png"/>
          <p:cNvSpPr/>
          <p:nvPr/>
        </p:nvSpPr>
        <p:spPr>
          <a:xfrm>
            <a:off x="2746375" y="2674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b276fbd6b3_0_175" descr="pasted-movie.png"/>
          <p:cNvSpPr/>
          <p:nvPr/>
        </p:nvSpPr>
        <p:spPr>
          <a:xfrm>
            <a:off x="2898775" y="2827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b276fbd6b3_0_175" descr="pasted-movie.png"/>
          <p:cNvSpPr/>
          <p:nvPr/>
        </p:nvSpPr>
        <p:spPr>
          <a:xfrm>
            <a:off x="3051175" y="2979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276fbd6b3_0_175" descr="pasted-movie.png"/>
          <p:cNvSpPr/>
          <p:nvPr/>
        </p:nvSpPr>
        <p:spPr>
          <a:xfrm>
            <a:off x="3203575" y="3132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b276fbd6b3_0_175" descr="pasted-movie.png"/>
          <p:cNvSpPr/>
          <p:nvPr/>
        </p:nvSpPr>
        <p:spPr>
          <a:xfrm>
            <a:off x="3355975" y="3284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276fbd6b3_0_175" descr="pasted-movie.png"/>
          <p:cNvSpPr/>
          <p:nvPr/>
        </p:nvSpPr>
        <p:spPr>
          <a:xfrm>
            <a:off x="3508375" y="3436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b276fbd6b3_0_175" descr="pasted-movie.png"/>
          <p:cNvSpPr/>
          <p:nvPr/>
        </p:nvSpPr>
        <p:spPr>
          <a:xfrm>
            <a:off x="3660775" y="3589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b276fbd6b3_0_175" descr="pasted-movie.png"/>
          <p:cNvSpPr/>
          <p:nvPr/>
        </p:nvSpPr>
        <p:spPr>
          <a:xfrm>
            <a:off x="3813175" y="3741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b276fbd6b3_0_175" descr="pasted-movie.png"/>
          <p:cNvSpPr/>
          <p:nvPr/>
        </p:nvSpPr>
        <p:spPr>
          <a:xfrm>
            <a:off x="3965575" y="3894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b276fbd6b3_0_175" descr="pasted-movie.png"/>
          <p:cNvSpPr/>
          <p:nvPr/>
        </p:nvSpPr>
        <p:spPr>
          <a:xfrm>
            <a:off x="4117975" y="4046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Google Shape;159;g3b276fbd6b3_0_175"/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6172200" y="1825625"/>
                <a:ext cx="5181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Min-Max Scaling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𝑎𝑥</m:t>
                        </m:r>
                      </m:sub>
                    </m:sSub>
                  </m:oMath>
                </a14:m>
                <a:r>
                  <a:rPr lang="en-US" dirty="0"/>
                  <a:t> are minimum and maximum values respectively</a:t>
                </a:r>
                <a:endParaRPr dirty="0"/>
              </a:p>
            </p:txBody>
          </p:sp>
        </mc:Choice>
        <mc:Fallback>
          <p:sp>
            <p:nvSpPr>
              <p:cNvPr id="159" name="Google Shape;159;g3b276fbd6b3_0_17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172200" y="1825625"/>
                <a:ext cx="5181600" cy="4351200"/>
              </a:xfrm>
              <a:prstGeom prst="rect">
                <a:avLst/>
              </a:prstGeom>
              <a:blipFill rotWithShape="1">
                <a:blip r:embed="rId4"/>
                <a:stretch>
                  <a:fillRect r="-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Google Shape;160;g3b276fbd6b3_0_1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57298" y="2464623"/>
            <a:ext cx="2143324" cy="9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b276fbd6b3_0_17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82350" y="2458606"/>
            <a:ext cx="3312683" cy="10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276fbd6b3_0_2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Missing Value Imputation</a:t>
            </a:r>
            <a:endParaRPr/>
          </a:p>
        </p:txBody>
      </p:sp>
      <p:sp>
        <p:nvSpPr>
          <p:cNvPr id="168" name="Google Shape;168;g3b276fbd6b3_0_2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Imputation: Process of turning incomplete samples into complete samples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Replace missing values with 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Mean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Minimum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Median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 err="1"/>
              <a:t>etc</a:t>
            </a:r>
            <a:endParaRPr dirty="0"/>
          </a:p>
        </p:txBody>
      </p:sp>
      <p:sp>
        <p:nvSpPr>
          <p:cNvPr id="169" name="Google Shape;169;g3b276fbd6b3_0_2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ML-based imputation techniques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Train a model to predict missing values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Ex: KNN-Imputer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Iterative imputation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EX: MICE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Many more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276fbd6b3_0_2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Augmentation</a:t>
            </a:r>
            <a:endParaRPr/>
          </a:p>
        </p:txBody>
      </p:sp>
      <p:sp>
        <p:nvSpPr>
          <p:cNvPr id="176" name="Google Shape;176;g3b276fbd6b3_0_2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Noise Addition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Transformation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Rotate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Scale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Translate, </a:t>
            </a:r>
            <a:r>
              <a:rPr lang="en-US" dirty="0" err="1"/>
              <a:t>etc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Synthetic Sample Generation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Handle Imbalance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SMOTE, Generative Modeling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Training, Validation, and Test Split</a:t>
            </a:r>
            <a:endParaRPr/>
          </a:p>
        </p:txBody>
      </p:sp>
      <p:sp>
        <p:nvSpPr>
          <p:cNvPr id="182" name="Google Shape;18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1718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❏"/>
            </a:pPr>
            <a:r>
              <a:rPr lang="en-US" dirty="0"/>
              <a:t>Training Set</a:t>
            </a:r>
            <a:endParaRPr dirty="0"/>
          </a:p>
          <a:p>
            <a:pPr marL="914400" lvl="1" indent="-3171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en-US" dirty="0"/>
              <a:t>Used to train the models</a:t>
            </a:r>
            <a:endParaRPr dirty="0"/>
          </a:p>
          <a:p>
            <a:pPr marL="914400" lvl="1" indent="-3171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en-US" dirty="0"/>
              <a:t>Update model parameters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endParaRPr dirty="0"/>
          </a:p>
          <a:p>
            <a:pPr marL="457200" lvl="0" indent="-31718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❏"/>
            </a:pPr>
            <a:r>
              <a:rPr lang="en-US" dirty="0"/>
              <a:t>Validation Set</a:t>
            </a:r>
            <a:endParaRPr dirty="0"/>
          </a:p>
          <a:p>
            <a:pPr marL="914400" lvl="1" indent="-3171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en-US" dirty="0"/>
              <a:t>Used for model selection and hyper-parameter tuning</a:t>
            </a: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2949"/>
              <a:buNone/>
            </a:pPr>
            <a:endParaRPr dirty="0"/>
          </a:p>
          <a:p>
            <a:pPr marL="457200" lvl="0" indent="-31718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❏"/>
            </a:pPr>
            <a:r>
              <a:rPr lang="en-US" dirty="0"/>
              <a:t>Test Set</a:t>
            </a:r>
            <a:endParaRPr dirty="0"/>
          </a:p>
          <a:p>
            <a:pPr marL="914400" lvl="1" indent="-3171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en-US" dirty="0"/>
              <a:t>Report model performance on test set</a:t>
            </a:r>
            <a:endParaRPr dirty="0"/>
          </a:p>
          <a:p>
            <a:pPr marL="914400" lvl="1" indent="-31718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Char char="■"/>
            </a:pPr>
            <a:r>
              <a:rPr lang="en-US" dirty="0"/>
              <a:t>Generalization error</a:t>
            </a: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6774"/>
              <a:buNone/>
            </a:pPr>
            <a:endParaRPr sz="2400" dirty="0"/>
          </a:p>
          <a:p>
            <a:pPr marL="457200" lvl="0" indent="-31718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❏"/>
            </a:pPr>
            <a:r>
              <a:rPr lang="en-US" dirty="0"/>
              <a:t>Avoid Data </a:t>
            </a:r>
            <a:r>
              <a:rPr lang="en-US" dirty="0" smtClean="0"/>
              <a:t>Leakage</a:t>
            </a:r>
          </a:p>
          <a:p>
            <a:pPr lvl="1" indent="-317182">
              <a:spcBef>
                <a:spcPts val="1000"/>
              </a:spcBef>
              <a:buSzPct val="64285"/>
              <a:buChar char="❏"/>
            </a:pPr>
            <a:r>
              <a:rPr lang="en-US" dirty="0" smtClean="0"/>
              <a:t>Example: Avoid standardization using entire dataset</a:t>
            </a:r>
            <a:endParaRPr dirty="0"/>
          </a:p>
        </p:txBody>
      </p:sp>
      <p:pic>
        <p:nvPicPr>
          <p:cNvPr id="183" name="Google Shape;183;p2" descr="pasted-movi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2680" y="2072640"/>
            <a:ext cx="5532120" cy="3767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276fbd6b3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Google Shape;190;g3b276fbd6b3_0_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❖"/>
                </a:pPr>
                <a:r>
                  <a:rPr lang="en-US" dirty="0" smtClean="0"/>
                  <a:t>Hold-Out Cross Validation</a:t>
                </a:r>
              </a:p>
              <a:p>
                <a:pPr lvl="1">
                  <a:spcBef>
                    <a:spcPts val="0"/>
                  </a:spcBef>
                  <a:buAutoNum type="arabicPeriod"/>
                </a:pPr>
                <a:r>
                  <a:rPr lang="en-US" dirty="0"/>
                  <a:t>Randomly split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𝑣𝑎𝑙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3429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AutoNum type="arabicPeriod"/>
                </a:pPr>
                <a:endParaRPr lang="en-US" dirty="0"/>
              </a:p>
              <a:p>
                <a:pPr lvl="1">
                  <a:spcBef>
                    <a:spcPts val="0"/>
                  </a:spcBef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𝑣𝑎𝑙</m:t>
                        </m:r>
                      </m:sub>
                    </m:sSub>
                  </m:oMath>
                </a14:m>
                <a:r>
                  <a:rPr lang="en-US" dirty="0"/>
                  <a:t> is called the hold-out cross validation </a:t>
                </a:r>
                <a:r>
                  <a:rPr lang="en-US" dirty="0" smtClean="0"/>
                  <a:t>set</a:t>
                </a:r>
                <a:endParaRPr lang="en-US" dirty="0"/>
              </a:p>
              <a:p>
                <a:pPr marL="914400" lvl="1" indent="-3429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AutoNum type="arabicPeriod"/>
                </a:pPr>
                <a:endParaRPr lang="en-US" dirty="0"/>
              </a:p>
              <a:p>
                <a:pPr lvl="1">
                  <a:spcBef>
                    <a:spcPts val="0"/>
                  </a:spcBef>
                  <a:buAutoNum type="arabicPeriod"/>
                </a:pPr>
                <a:r>
                  <a:rPr lang="en-US" dirty="0" smtClean="0"/>
                  <a:t>Train </a:t>
                </a:r>
                <a:r>
                  <a:rPr lang="en-US" dirty="0"/>
                  <a:t>each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n-US" dirty="0"/>
                  <a:t> only, to get some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3429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AutoNum type="arabicPeriod"/>
                </a:pPr>
                <a:endParaRPr lang="en-US" dirty="0"/>
              </a:p>
              <a:p>
                <a:pPr lvl="1">
                  <a:spcBef>
                    <a:spcPts val="0"/>
                  </a:spcBef>
                  <a:buAutoNum type="arabicPeriod"/>
                </a:pPr>
                <a:r>
                  <a:rPr lang="en-US" dirty="0" smtClean="0"/>
                  <a:t>Select </a:t>
                </a:r>
                <a:r>
                  <a:rPr lang="en-US" dirty="0"/>
                  <a:t>the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that had the smallest error on the hold out cross validation set </a:t>
                </a:r>
              </a:p>
              <a:p>
                <a:pPr marL="1371600" lvl="2" indent="-3429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■"/>
                </a:pPr>
                <a:r>
                  <a:rPr lang="en-US" dirty="0"/>
                  <a:t>Also referred to as the validation error</a:t>
                </a:r>
                <a:endParaRPr dirty="0"/>
              </a:p>
            </p:txBody>
          </p:sp>
        </mc:Choice>
        <mc:Fallback>
          <p:sp>
            <p:nvSpPr>
              <p:cNvPr id="190" name="Google Shape;190;g3b276fbd6b3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276fbd6b3_0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p:sp>
        <p:nvSpPr>
          <p:cNvPr id="197" name="Google Shape;197;g3b276fbd6b3_0_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❖"/>
            </a:pPr>
            <a:r>
              <a:rPr lang="en-US" dirty="0"/>
              <a:t>When data is scarce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Cannot hold-out the validation set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❖"/>
            </a:pPr>
            <a:r>
              <a:rPr lang="en-US" dirty="0"/>
              <a:t>k-Fold Cross Validation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b276fbd6b3_0_14" title="grid_search_cross_valida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1690825"/>
            <a:ext cx="5872599" cy="43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276fbd6b3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p:sp>
        <p:nvSpPr>
          <p:cNvPr id="205" name="Google Shape;205;g3b276fbd6b3_0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3432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❖"/>
            </a:pPr>
            <a:r>
              <a:rPr lang="en-US" dirty="0"/>
              <a:t>k-Fold Cross Validation</a:t>
            </a:r>
            <a:endParaRPr dirty="0"/>
          </a:p>
          <a:p>
            <a:pPr marL="914400" lvl="1" indent="-3343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➢"/>
            </a:pPr>
            <a:r>
              <a:rPr lang="en-US" dirty="0"/>
              <a:t>Randomly split D into k disjoint subsets</a:t>
            </a:r>
            <a:endParaRPr dirty="0"/>
          </a:p>
          <a:p>
            <a:pPr marL="914400" lvl="1" indent="-3343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➢"/>
            </a:pPr>
            <a:r>
              <a:rPr lang="en-US" dirty="0"/>
              <a:t>Treat each split as the validation set and the remaining as the train set</a:t>
            </a:r>
            <a:endParaRPr dirty="0"/>
          </a:p>
          <a:p>
            <a:pPr marL="914400" lvl="1" indent="-3343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➢"/>
            </a:pPr>
            <a:r>
              <a:rPr lang="en-US" dirty="0"/>
              <a:t>Pick the model with the lowest estimated generalization error</a:t>
            </a:r>
            <a:endParaRPr dirty="0"/>
          </a:p>
          <a:p>
            <a:pPr marL="914400" lvl="1" indent="-3343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➢"/>
            </a:pPr>
            <a:r>
              <a:rPr lang="en-US" dirty="0"/>
              <a:t>Retrain that model on the entire training set D </a:t>
            </a:r>
            <a:endParaRPr dirty="0"/>
          </a:p>
          <a:p>
            <a:pPr marL="914400" lvl="1" indent="-33432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000"/>
              <a:buChar char="➢"/>
            </a:pPr>
            <a:r>
              <a:rPr lang="en-US" dirty="0"/>
              <a:t>The resulting hypothesis is then output as our final answer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276fbd6b3_0_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Google Shape;212;g3b276fbd6b3_0_2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❖"/>
                </a:pPr>
                <a:r>
                  <a:rPr lang="en-US" dirty="0" smtClean="0"/>
                  <a:t>k-Fold Cross Validation</a:t>
                </a:r>
              </a:p>
              <a:p>
                <a:pPr lvl="1">
                  <a:lnSpc>
                    <a:spcPct val="115000"/>
                  </a:lnSpc>
                  <a:spcBef>
                    <a:spcPts val="0"/>
                  </a:spcBef>
                  <a:buChar char="➢"/>
                </a:pPr>
                <a:r>
                  <a:rPr lang="en-US" dirty="0"/>
                  <a:t>Randomly split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disjoint subsets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</m:t>
                    </m:r>
                    <m:r>
                      <a:rPr lang="en-US" i="1" dirty="0" smtClean="0">
                        <a:latin typeface="Cambria Math"/>
                      </a:rPr>
                      <m:t>/</m:t>
                    </m:r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training examples</a:t>
                </a:r>
              </a:p>
              <a:p>
                <a:pPr lvl="1">
                  <a:lnSpc>
                    <a:spcPct val="115000"/>
                  </a:lnSpc>
                  <a:spcBef>
                    <a:spcPts val="0"/>
                  </a:spcBef>
                  <a:buChar char="➢"/>
                </a:pPr>
                <a:r>
                  <a:rPr lang="en-US" dirty="0"/>
                  <a:t>Let’s call these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914400" lvl="1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➢"/>
                </a:pPr>
                <a:r>
                  <a:rPr lang="en-US" dirty="0"/>
                  <a:t>For each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we evaluate it as follows: </a:t>
                </a:r>
              </a:p>
              <a:p>
                <a:pPr marL="1371600" lvl="2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■"/>
                </a:pPr>
                <a:r>
                  <a:rPr lang="en-US" dirty="0"/>
                  <a:t>For j = 1, . . . , k </a:t>
                </a:r>
              </a:p>
              <a:p>
                <a:pPr lvl="3">
                  <a:lnSpc>
                    <a:spcPct val="115000"/>
                  </a:lnSpc>
                  <a:spcBef>
                    <a:spcPts val="0"/>
                  </a:spcBef>
                  <a:buChar char="●"/>
                </a:pPr>
                <a:r>
                  <a:rPr lang="en-US" dirty="0"/>
                  <a:t>Train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on all the data except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to get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3">
                  <a:lnSpc>
                    <a:spcPct val="115000"/>
                  </a:lnSpc>
                  <a:spcBef>
                    <a:spcPts val="0"/>
                  </a:spcBef>
                  <a:buChar char="●"/>
                </a:pPr>
                <a:r>
                  <a:rPr lang="en-US" dirty="0"/>
                  <a:t>Test the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  <m:r>
                          <a:rPr lang="en-US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, to get the validation error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  <m:r>
                          <a:rPr lang="en-US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3">
                  <a:lnSpc>
                    <a:spcPct val="115000"/>
                  </a:lnSpc>
                  <a:spcBef>
                    <a:spcPts val="0"/>
                  </a:spcBef>
                  <a:buChar char="●"/>
                </a:pPr>
                <a:r>
                  <a:rPr lang="en-US" dirty="0"/>
                  <a:t>The generalization error of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average validation error of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  <m:r>
                          <a:rPr lang="en-US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>
                  <a:lnSpc>
                    <a:spcPct val="115000"/>
                  </a:lnSpc>
                  <a:spcBef>
                    <a:spcPts val="0"/>
                  </a:spcBef>
                  <a:buChar char="➢"/>
                </a:pPr>
                <a:r>
                  <a:rPr lang="en-US" dirty="0"/>
                  <a:t>Pick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the lowest estimated generalization error</a:t>
                </a:r>
              </a:p>
              <a:p>
                <a:pPr marL="914400" lvl="1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➢"/>
                </a:pPr>
                <a:r>
                  <a:rPr lang="en-US" dirty="0"/>
                  <a:t>Retrain that model on the entire training set D. </a:t>
                </a:r>
              </a:p>
              <a:p>
                <a:pPr marL="914400" lvl="1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➢"/>
                </a:pPr>
                <a:r>
                  <a:rPr lang="en-US" dirty="0"/>
                  <a:t>The resulting hypothesis is then output as our final answer.</a:t>
                </a:r>
                <a:endParaRPr dirty="0"/>
              </a:p>
            </p:txBody>
          </p:sp>
        </mc:Choice>
        <mc:Fallback>
          <p:sp>
            <p:nvSpPr>
              <p:cNvPr id="212" name="Google Shape;212;g3b276fbd6b3_0_2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 t="-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276fbd6b3_0_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Google Shape;219;g3b276fbd6b3_0_3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❖"/>
                </a:pPr>
                <a:r>
                  <a:rPr lang="en-US" dirty="0"/>
                  <a:t>Stratified k-Fold Cross Validation</a:t>
                </a:r>
                <a:endParaRPr dirty="0"/>
              </a:p>
              <a:p>
                <a:pPr marL="914400" lvl="1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➢"/>
                </a:pPr>
                <a:r>
                  <a:rPr lang="en-US" dirty="0"/>
                  <a:t>Randomly split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disjoint subsets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𝑁</m:t>
                    </m:r>
                    <m:r>
                      <a:rPr lang="en-US" i="1" dirty="0" smtClean="0">
                        <a:latin typeface="Cambria Math"/>
                      </a:rPr>
                      <m:t>/</m:t>
                    </m:r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training examples</a:t>
                </a:r>
                <a:endParaRPr dirty="0"/>
              </a:p>
              <a:p>
                <a:pPr marL="1371600" lvl="2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■"/>
                </a:pPr>
                <a:r>
                  <a:rPr lang="en-US" dirty="0"/>
                  <a:t>Each fold preserves the class proportions of the full dataset</a:t>
                </a:r>
                <a:endParaRPr dirty="0"/>
              </a:p>
            </p:txBody>
          </p:sp>
        </mc:Choice>
        <mc:Fallback>
          <p:sp>
            <p:nvSpPr>
              <p:cNvPr id="219" name="Google Shape;219;g3b276fbd6b3_0_3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276fbd6b3_0_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Cross Validation</a:t>
            </a:r>
            <a:endParaRPr/>
          </a:p>
        </p:txBody>
      </p:sp>
      <p:sp>
        <p:nvSpPr>
          <p:cNvPr id="226" name="Google Shape;226;g3b276fbd6b3_0_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❖"/>
            </a:pPr>
            <a:r>
              <a:rPr lang="en-US" dirty="0"/>
              <a:t>Leave-One-Out Cross Validation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k-Fold Cross Validation where k=N</a:t>
            </a:r>
            <a:endParaRPr dirty="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Leave one sample out as validation set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276fbd6b3_0_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Google Shape;233;g3b276fbd6b3_0_5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 smtClean="0"/>
                  <a:t>Accuracy</a:t>
                </a:r>
              </a:p>
              <a:p>
                <a:pPr marL="914400" lvl="1" indent="-34290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Proportion of examples for which the model produces correct predictions</a:t>
                </a:r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45720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 is the target attribute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e>
                    </m:acc>
                  </m:oMath>
                </a14:m>
                <a:r>
                  <a:rPr lang="ar-AE" dirty="0" smtClean="0"/>
                  <a:t> </a:t>
                </a:r>
                <a:r>
                  <a:rPr lang="ar-AE" dirty="0"/>
                  <a:t> </a:t>
                </a:r>
                <a:r>
                  <a:rPr lang="en-US" dirty="0"/>
                  <a:t>is the predicted </a:t>
                </a:r>
                <a:r>
                  <a:rPr lang="en-US" dirty="0" smtClean="0"/>
                  <a:t>class,</a:t>
                </a: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en-US" dirty="0"/>
              </a:p>
              <a:p>
                <a:pPr marL="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dirty="0"/>
              </a:p>
            </p:txBody>
          </p:sp>
        </mc:Choice>
        <mc:Fallback>
          <p:sp>
            <p:nvSpPr>
              <p:cNvPr id="233" name="Google Shape;233;g3b276fbd6b3_0_5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2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4" name="Google Shape;234;g3b276fbd6b3_0_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43825" y="4111927"/>
            <a:ext cx="4402151" cy="11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b276fbd6b3_0_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4913" y="5186825"/>
            <a:ext cx="4402167" cy="11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276fbd6b3_0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42" name="Google Shape;242;g3b276fbd6b3_0_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 a binary classification task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Positive and Negative Classes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243" name="Google Shape;243;g3b276fbd6b3_0_63"/>
          <p:cNvGraphicFramePr/>
          <p:nvPr/>
        </p:nvGraphicFramePr>
        <p:xfrm>
          <a:off x="1912275" y="3122175"/>
          <a:ext cx="8227875" cy="1462950"/>
        </p:xfrm>
        <a:graphic>
          <a:graphicData uri="http://schemas.openxmlformats.org/drawingml/2006/table">
            <a:tbl>
              <a:tblPr>
                <a:noFill/>
                <a:tableStyleId>{4D2B6555-1272-476C-A281-D5D04C894614}</a:tableStyleId>
              </a:tblPr>
              <a:tblGrid>
                <a:gridCol w="2794975"/>
                <a:gridCol w="2585575"/>
                <a:gridCol w="284732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-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Originally Positive (1)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Originally Negative (0)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Predicted Positive (1)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8761D"/>
                          </a:solidFill>
                        </a:rPr>
                        <a:t>True Positive (TP)</a:t>
                      </a:r>
                      <a:endParaRPr sz="20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</a:rPr>
                        <a:t>False Positive (FP)</a:t>
                      </a:r>
                      <a:endParaRPr sz="2000" u="none" strike="noStrike" cap="none">
                        <a:solidFill>
                          <a:srgbClr val="CC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Predicted </a:t>
                      </a:r>
                      <a:r>
                        <a:rPr lang="en-US" sz="2000" u="none" strike="noStrike" cap="none"/>
                        <a:t>Negative (0)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CC0000"/>
                          </a:solidFill>
                        </a:rPr>
                        <a:t>False Negative (FN)</a:t>
                      </a:r>
                      <a:endParaRPr sz="2000" u="none" strike="noStrike" cap="none">
                        <a:solidFill>
                          <a:srgbClr val="CC0000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38761D"/>
                          </a:solidFill>
                        </a:rPr>
                        <a:t>True Negative (TN)</a:t>
                      </a:r>
                      <a:endParaRPr sz="20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4" name="Google Shape;244;g3b276fbd6b3_0_63"/>
          <p:cNvSpPr txBox="1"/>
          <p:nvPr/>
        </p:nvSpPr>
        <p:spPr>
          <a:xfrm>
            <a:off x="2300550" y="4763950"/>
            <a:ext cx="7590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276fbd6b3_0_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51" name="Google Shape;251;g3b276fbd6b3_0_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845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30"/>
              <a:buChar char="•"/>
            </a:pPr>
            <a:r>
              <a:rPr lang="en-US" sz="2580" dirty="0"/>
              <a:t>Accuracy</a:t>
            </a:r>
            <a:endParaRPr sz="2580" dirty="0"/>
          </a:p>
          <a:p>
            <a:pPr marL="914400" lvl="1" indent="-3384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30"/>
              <a:buChar char="•"/>
            </a:pPr>
            <a:r>
              <a:rPr lang="en-US" sz="2240" dirty="0"/>
              <a:t>Proportion of examples for which the model produces correct predictions</a:t>
            </a:r>
            <a:endParaRPr sz="2580" dirty="0"/>
          </a:p>
          <a:p>
            <a:pPr marL="9144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580" dirty="0"/>
          </a:p>
          <a:p>
            <a:pPr marL="9144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580" dirty="0"/>
          </a:p>
          <a:p>
            <a:pPr marL="9144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580" dirty="0"/>
          </a:p>
          <a:p>
            <a:pPr marL="914400" lvl="1" indent="-33845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730"/>
              <a:buChar char="•"/>
            </a:pPr>
            <a:r>
              <a:rPr lang="en-US" sz="2240" dirty="0"/>
              <a:t>Does higher accuracy indicate good model?</a:t>
            </a:r>
            <a:endParaRPr sz="2240" dirty="0"/>
          </a:p>
          <a:p>
            <a:pPr marL="1371600" lvl="2" indent="-3384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30"/>
              <a:buChar char="•"/>
            </a:pPr>
            <a:r>
              <a:rPr lang="en-US" sz="1900" dirty="0"/>
              <a:t>Imbalanced Dataset: What if 90% of the samples are positive and only 10% are negative. </a:t>
            </a:r>
            <a:r>
              <a:rPr lang="en-US" sz="1900" dirty="0">
                <a:solidFill>
                  <a:srgbClr val="1155CC"/>
                </a:solidFill>
              </a:rPr>
              <a:t>Example: Spam Email Classification</a:t>
            </a:r>
            <a:endParaRPr sz="1900" dirty="0">
              <a:solidFill>
                <a:srgbClr val="1155CC"/>
              </a:solidFill>
            </a:endParaRPr>
          </a:p>
          <a:p>
            <a:pPr marL="137160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 dirty="0"/>
              <a:t>Prediction Cost: What if the cost of a False Positive is higher/lower than False Negative? </a:t>
            </a:r>
            <a:r>
              <a:rPr lang="en-US" sz="1900" dirty="0">
                <a:solidFill>
                  <a:srgbClr val="1155CC"/>
                </a:solidFill>
              </a:rPr>
              <a:t>Example: Recidivism Prediction, Medical Diagnosis</a:t>
            </a:r>
            <a:endParaRPr sz="1900" dirty="0">
              <a:solidFill>
                <a:srgbClr val="1155C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580" dirty="0"/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2580" dirty="0"/>
          </a:p>
        </p:txBody>
      </p:sp>
      <p:pic>
        <p:nvPicPr>
          <p:cNvPr id="252" name="Google Shape;252;g3b276fbd6b3_0_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8638" y="2766376"/>
            <a:ext cx="5374727" cy="11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276fbd6b3_0_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59" name="Google Shape;259;g3b276fbd6b3_0_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243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80"/>
              <a:buChar char="•"/>
            </a:pPr>
            <a:r>
              <a:rPr lang="en-US" sz="2580"/>
              <a:t>Precision</a:t>
            </a:r>
            <a:endParaRPr sz="2580"/>
          </a:p>
        </p:txBody>
      </p:sp>
      <p:sp>
        <p:nvSpPr>
          <p:cNvPr id="260" name="Google Shape;260;g3b276fbd6b3_0_8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61" name="Google Shape;261;g3b276fbd6b3_0_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5713" y="1508963"/>
            <a:ext cx="4134575" cy="49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b276fbd6b3_0_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900" y="2500350"/>
            <a:ext cx="23622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276fbd6b3_0_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69" name="Google Shape;269;g3b276fbd6b3_0_9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243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80"/>
              <a:buChar char="•"/>
            </a:pPr>
            <a:r>
              <a:rPr lang="en-US" sz="2580"/>
              <a:t>Recall</a:t>
            </a:r>
            <a:endParaRPr sz="2580"/>
          </a:p>
        </p:txBody>
      </p:sp>
      <p:pic>
        <p:nvPicPr>
          <p:cNvPr id="270" name="Google Shape;270;g3b276fbd6b3_0_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95713" y="1508963"/>
            <a:ext cx="4134575" cy="498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b276fbd6b3_0_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7900" y="2667725"/>
            <a:ext cx="23622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b276fbd6b3_0_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7100" y="1491225"/>
            <a:ext cx="7316726" cy="515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b276fbd6b3_0_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78" name="Google Shape;278;g3b276fbd6b3_0_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243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80"/>
              <a:buChar char="•"/>
            </a:pPr>
            <a:r>
              <a:rPr lang="en-US" sz="2580"/>
              <a:t>Precision</a:t>
            </a:r>
            <a:endParaRPr sz="2580"/>
          </a:p>
          <a:p>
            <a:pPr marL="457200" lvl="0" indent="-3924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80"/>
              <a:buChar char="•"/>
            </a:pPr>
            <a:r>
              <a:rPr lang="en-US" sz="2580"/>
              <a:t>Recall</a:t>
            </a:r>
            <a:endParaRPr sz="2580"/>
          </a:p>
        </p:txBody>
      </p:sp>
      <p:sp>
        <p:nvSpPr>
          <p:cNvPr id="280" name="Google Shape;280;g3b276fbd6b3_0_106"/>
          <p:cNvSpPr/>
          <p:nvPr/>
        </p:nvSpPr>
        <p:spPr>
          <a:xfrm>
            <a:off x="5688825" y="4589450"/>
            <a:ext cx="1849800" cy="907500"/>
          </a:xfrm>
          <a:prstGeom prst="rect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b276fbd6b3_0_106"/>
          <p:cNvSpPr/>
          <p:nvPr/>
        </p:nvSpPr>
        <p:spPr>
          <a:xfrm>
            <a:off x="8633300" y="2521500"/>
            <a:ext cx="1714800" cy="1143000"/>
          </a:xfrm>
          <a:prstGeom prst="rect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animBg="1"/>
      <p:bldP spid="28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276fbd6b3_0_1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288" name="Google Shape;288;g3b276fbd6b3_0_1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243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580"/>
              <a:buChar char="•"/>
            </a:pPr>
            <a:r>
              <a:rPr lang="en-US" sz="2580" dirty="0"/>
              <a:t>F1-Score</a:t>
            </a:r>
            <a:endParaRPr sz="2580" dirty="0"/>
          </a:p>
          <a:p>
            <a:pPr marL="914400" lvl="1" indent="-3924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80"/>
              <a:buChar char="•"/>
            </a:pPr>
            <a:r>
              <a:rPr lang="en-US" sz="2580" dirty="0" smtClean="0"/>
              <a:t>Achieve </a:t>
            </a:r>
            <a:r>
              <a:rPr lang="en-US" sz="2580" dirty="0"/>
              <a:t>balance between precision and </a:t>
            </a:r>
            <a:r>
              <a:rPr lang="en-US" sz="2580" dirty="0" smtClean="0"/>
              <a:t>recall</a:t>
            </a:r>
          </a:p>
          <a:p>
            <a:pPr lvl="1" indent="-392430">
              <a:lnSpc>
                <a:spcPct val="115000"/>
              </a:lnSpc>
              <a:spcBef>
                <a:spcPts val="0"/>
              </a:spcBef>
              <a:buSzPts val="2580"/>
            </a:pPr>
            <a:r>
              <a:rPr lang="en-US" sz="2580" dirty="0"/>
              <a:t>Harmonic mean of Precision and </a:t>
            </a:r>
            <a:r>
              <a:rPr lang="en-US" sz="2580" dirty="0" smtClean="0"/>
              <a:t>Recall</a:t>
            </a:r>
            <a:endParaRPr lang="en-US" sz="2580" dirty="0"/>
          </a:p>
        </p:txBody>
      </p:sp>
      <p:pic>
        <p:nvPicPr>
          <p:cNvPr id="289" name="Google Shape;289;g3b276fbd6b3_0_1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8450" y="1613675"/>
            <a:ext cx="4332925" cy="2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b276fbd6b3_0_1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8012" y="4013575"/>
            <a:ext cx="1993800" cy="88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b276fbd6b3_0_1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1813" y="5288900"/>
            <a:ext cx="3526189" cy="8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276fbd6b3_0_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308" name="Google Shape;308;g3b276fbd6b3_0_1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Performance on multi-class classification task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Accuracy</a:t>
            </a:r>
            <a:endParaRPr/>
          </a:p>
        </p:txBody>
      </p:sp>
      <p:sp>
        <p:nvSpPr>
          <p:cNvPr id="309" name="Google Shape;309;g3b276fbd6b3_0_139"/>
          <p:cNvSpPr txBox="1"/>
          <p:nvPr/>
        </p:nvSpPr>
        <p:spPr>
          <a:xfrm>
            <a:off x="6491538" y="5969800"/>
            <a:ext cx="4944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b276fbd6b3_0_139"/>
          <p:cNvPicPr preferRelativeResize="0"/>
          <p:nvPr/>
        </p:nvPicPr>
        <p:blipFill rotWithShape="1">
          <a:blip r:embed="rId3">
            <a:alphaModFix/>
          </a:blip>
          <a:srcRect l="14719" t="4067" r="24903" b="11200"/>
          <a:stretch/>
        </p:blipFill>
        <p:spPr>
          <a:xfrm>
            <a:off x="6491550" y="888202"/>
            <a:ext cx="4944274" cy="50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276fbd6b3_0_1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317" name="Google Shape;317;g3b276fbd6b3_0_1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905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3000" dirty="0"/>
              <a:t>Performance on multi-class classification task</a:t>
            </a:r>
            <a:endParaRPr sz="3000" dirty="0"/>
          </a:p>
          <a:p>
            <a:pPr marL="457200" lvl="0" indent="-33895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7151"/>
              <a:buChar char="•"/>
            </a:pPr>
            <a:r>
              <a:rPr lang="en-US" sz="3044" dirty="0"/>
              <a:t>One-</a:t>
            </a:r>
            <a:r>
              <a:rPr lang="en-US" sz="3044" dirty="0" err="1"/>
              <a:t>vs</a:t>
            </a:r>
            <a:r>
              <a:rPr lang="en-US" sz="3044" dirty="0"/>
              <a:t>-All</a:t>
            </a:r>
            <a:endParaRPr sz="3044" dirty="0"/>
          </a:p>
          <a:p>
            <a:pPr marL="914400" lvl="1" indent="-3389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309"/>
              <a:buChar char="•"/>
            </a:pPr>
            <a:r>
              <a:rPr lang="en-US" sz="2644" dirty="0"/>
              <a:t>One class is considered the positive class</a:t>
            </a:r>
            <a:endParaRPr sz="2644" dirty="0"/>
          </a:p>
          <a:p>
            <a:pPr marL="914400" lvl="1" indent="-3389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309"/>
              <a:buChar char="•"/>
            </a:pPr>
            <a:r>
              <a:rPr lang="en-US" sz="2644" dirty="0"/>
              <a:t>The rest are negative class</a:t>
            </a:r>
            <a:endParaRPr sz="2644" dirty="0"/>
          </a:p>
          <a:p>
            <a:pPr marL="914400" lvl="1" indent="-37134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644" dirty="0"/>
              <a:t>Class-wise</a:t>
            </a:r>
            <a:endParaRPr sz="2644" dirty="0"/>
          </a:p>
          <a:p>
            <a:pPr marL="1371600" lvl="2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•"/>
            </a:pPr>
            <a:r>
              <a:rPr lang="en-US" dirty="0"/>
              <a:t>Accuracy</a:t>
            </a:r>
            <a:endParaRPr dirty="0"/>
          </a:p>
          <a:p>
            <a:pPr marL="1371600" lvl="2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•"/>
            </a:pPr>
            <a:r>
              <a:rPr lang="en-US" dirty="0"/>
              <a:t>Precision</a:t>
            </a:r>
            <a:endParaRPr dirty="0"/>
          </a:p>
          <a:p>
            <a:pPr marL="1371600" lvl="2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•"/>
            </a:pPr>
            <a:r>
              <a:rPr lang="en-US" dirty="0"/>
              <a:t>Recall</a:t>
            </a:r>
            <a:endParaRPr dirty="0"/>
          </a:p>
          <a:p>
            <a:pPr marL="1371600" lvl="2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•"/>
            </a:pPr>
            <a:r>
              <a:rPr lang="en-US" dirty="0"/>
              <a:t>F1-Score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  <p:sp>
        <p:nvSpPr>
          <p:cNvPr id="318" name="Google Shape;318;g3b276fbd6b3_0_149"/>
          <p:cNvSpPr txBox="1"/>
          <p:nvPr/>
        </p:nvSpPr>
        <p:spPr>
          <a:xfrm>
            <a:off x="6471450" y="6048725"/>
            <a:ext cx="4944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g3b276fbd6b3_0_149"/>
          <p:cNvPicPr preferRelativeResize="0"/>
          <p:nvPr/>
        </p:nvPicPr>
        <p:blipFill rotWithShape="1">
          <a:blip r:embed="rId3">
            <a:alphaModFix/>
          </a:blip>
          <a:srcRect t="10478" b="12020"/>
          <a:stretch/>
        </p:blipFill>
        <p:spPr>
          <a:xfrm>
            <a:off x="5695225" y="2361475"/>
            <a:ext cx="6496776" cy="368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276fbd6b3_0_1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Performance Metrics</a:t>
            </a:r>
            <a:endParaRPr/>
          </a:p>
        </p:txBody>
      </p:sp>
      <p:sp>
        <p:nvSpPr>
          <p:cNvPr id="326" name="Google Shape;326;g3b276fbd6b3_0_1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Performance on multi-class classification task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Obtain Global Metric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Micro-Averaging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Macro-Averaging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Weighted-Averaging</a:t>
            </a:r>
            <a:endParaRPr dirty="0"/>
          </a:p>
        </p:txBody>
      </p:sp>
      <p:sp>
        <p:nvSpPr>
          <p:cNvPr id="327" name="Google Shape;327;g3b276fbd6b3_0_158"/>
          <p:cNvSpPr txBox="1"/>
          <p:nvPr/>
        </p:nvSpPr>
        <p:spPr>
          <a:xfrm>
            <a:off x="6471450" y="6048725"/>
            <a:ext cx="4944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b276fbd6b3_0_158"/>
          <p:cNvPicPr preferRelativeResize="0"/>
          <p:nvPr/>
        </p:nvPicPr>
        <p:blipFill rotWithShape="1">
          <a:blip r:embed="rId3">
            <a:alphaModFix/>
          </a:blip>
          <a:srcRect t="10478" b="12020"/>
          <a:stretch/>
        </p:blipFill>
        <p:spPr>
          <a:xfrm>
            <a:off x="5695225" y="2361475"/>
            <a:ext cx="6496776" cy="368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2790d2b03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Area Under Receiver-operating characteristic curve (ROC)</a:t>
            </a:r>
            <a:endParaRPr/>
          </a:p>
        </p:txBody>
      </p:sp>
      <p:sp>
        <p:nvSpPr>
          <p:cNvPr id="335" name="Google Shape;335;g3b2790d2b03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3433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72705"/>
              <a:buChar char="•"/>
            </a:pPr>
            <a:r>
              <a:rPr lang="en-US" sz="3663" dirty="0"/>
              <a:t>A threshold invariant metric</a:t>
            </a:r>
            <a:endParaRPr sz="3663" dirty="0"/>
          </a:p>
          <a:p>
            <a:pPr marL="457200" lvl="0" indent="-33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705"/>
              <a:buChar char="•"/>
            </a:pPr>
            <a:r>
              <a:rPr lang="en-US" sz="3663" dirty="0"/>
              <a:t>Plot the TPR </a:t>
            </a:r>
            <a:r>
              <a:rPr lang="en-US" sz="3663" dirty="0" err="1"/>
              <a:t>vs</a:t>
            </a:r>
            <a:r>
              <a:rPr lang="en-US" sz="3663" dirty="0"/>
              <a:t> FPR curve by varying the prediction threshold</a:t>
            </a:r>
            <a:endParaRPr sz="3663" dirty="0"/>
          </a:p>
          <a:p>
            <a:pPr marL="457200" lvl="0" indent="-334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705"/>
              <a:buChar char="•"/>
            </a:pPr>
            <a:r>
              <a:rPr lang="en-US" sz="3663" dirty="0"/>
              <a:t>Report the Area Under the Curve (AUC)</a:t>
            </a:r>
            <a:endParaRPr sz="3663" dirty="0"/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78624"/>
              <a:buNone/>
            </a:pPr>
            <a:endParaRPr sz="3663" dirty="0"/>
          </a:p>
          <a:p>
            <a:pPr marL="457200" lvl="0" indent="-33433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72705"/>
              <a:buChar char="•"/>
            </a:pPr>
            <a:r>
              <a:rPr lang="en-US" sz="3663" dirty="0"/>
              <a:t>High AUC means the model usually assigns higher scores to positive examples than to negative ones.</a:t>
            </a:r>
            <a:endParaRPr sz="3663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None/>
            </a:pPr>
            <a:endParaRPr dirty="0"/>
          </a:p>
        </p:txBody>
      </p:sp>
      <p:pic>
        <p:nvPicPr>
          <p:cNvPr id="336" name="Google Shape;336;g3b2790d2b03_0_0"/>
          <p:cNvPicPr preferRelativeResize="0"/>
          <p:nvPr/>
        </p:nvPicPr>
        <p:blipFill rotWithShape="1">
          <a:blip r:embed="rId3">
            <a:alphaModFix/>
          </a:blip>
          <a:srcRect l="4035" t="3815" r="8043" b="11959"/>
          <a:stretch/>
        </p:blipFill>
        <p:spPr>
          <a:xfrm>
            <a:off x="6368825" y="2085025"/>
            <a:ext cx="5462551" cy="38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276fbd6b3_0_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43" name="Google Shape;343;g3b276fbd6b3_0_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CS229 Leture Note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Cross Validation: Section 9.3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Performance Metrics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https://en.wikipedia.org/wiki/Precision_and_recall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https://www.v7labs.com/blog/confusion-matrix-guide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https://developers.google.com/machine-learning/crash-course/classification/roc-and-auc</a:t>
            </a:r>
            <a:r>
              <a:rPr lang="en-US" u="sng">
                <a:solidFill>
                  <a:schemeClr val="hlink"/>
                </a:solidFill>
                <a:hlinkClick r:id="rId5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865</Words>
  <Application>Microsoft Office PowerPoint</Application>
  <PresentationFormat>Custom</PresentationFormat>
  <Paragraphs>196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Play</vt:lpstr>
      <vt:lpstr>Cambria Math</vt:lpstr>
      <vt:lpstr>Office Theme</vt:lpstr>
      <vt:lpstr>Data Processing and Performance Evaluation</vt:lpstr>
      <vt:lpstr>Feature Scaling</vt:lpstr>
      <vt:lpstr>Feature Scaling</vt:lpstr>
      <vt:lpstr>Missing Value Imputation</vt:lpstr>
      <vt:lpstr>Data Augmentation</vt:lpstr>
      <vt:lpstr>Training, Validation, and Test Split</vt:lpstr>
      <vt:lpstr>Cross Validation</vt:lpstr>
      <vt:lpstr>Cross Validation</vt:lpstr>
      <vt:lpstr>Cross Validation</vt:lpstr>
      <vt:lpstr>Cross Validation</vt:lpstr>
      <vt:lpstr>Cross Validation</vt:lpstr>
      <vt:lpstr>Cross Validation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Performance Metrics</vt:lpstr>
      <vt:lpstr>Area Under Receiver-operating characteristic curve (ROC)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Processing and Performance Evaluation</dc:title>
  <dc:creator>Chowdhury Mohammad Rakin Haider</dc:creator>
  <cp:lastModifiedBy>ismail - [2010]</cp:lastModifiedBy>
  <cp:revision>2</cp:revision>
  <dcterms:created xsi:type="dcterms:W3CDTF">2025-06-23T17:00:14Z</dcterms:created>
  <dcterms:modified xsi:type="dcterms:W3CDTF">2026-01-04T22:01:27Z</dcterms:modified>
</cp:coreProperties>
</file>