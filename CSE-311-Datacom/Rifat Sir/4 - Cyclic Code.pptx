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8" r:id="rId2"/>
    <p:sldId id="297" r:id="rId3"/>
    <p:sldId id="298" r:id="rId4"/>
    <p:sldId id="299" r:id="rId5"/>
    <p:sldId id="300" r:id="rId6"/>
    <p:sldId id="320" r:id="rId7"/>
    <p:sldId id="321" r:id="rId8"/>
    <p:sldId id="319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22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9530"/>
            <a:ext cx="118437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39" y="1157605"/>
            <a:ext cx="11905919" cy="4115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rahman007.buet.ac.bd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677108"/>
          </a:xfrm>
        </p:spPr>
        <p:txBody>
          <a:bodyPr/>
          <a:lstStyle/>
          <a:p>
            <a:pPr algn="ctr"/>
            <a:r>
              <a:rPr lang="en-US" sz="4400" u="none" dirty="0"/>
              <a:t>Cyclic Codes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2215991"/>
          </a:xfrm>
        </p:spPr>
        <p:txBody>
          <a:bodyPr/>
          <a:lstStyle/>
          <a:p>
            <a:pPr algn="ctr"/>
            <a:r>
              <a:rPr lang="en-US" dirty="0"/>
              <a:t>Prepared by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Modified by</a:t>
            </a:r>
          </a:p>
          <a:p>
            <a:pPr algn="ctr"/>
            <a:r>
              <a:rPr lang="en-US" dirty="0" err="1"/>
              <a:t>Rifat</a:t>
            </a:r>
            <a:r>
              <a:rPr lang="en-US" dirty="0"/>
              <a:t> </a:t>
            </a:r>
            <a:r>
              <a:rPr lang="en-US" dirty="0" err="1"/>
              <a:t>Rahman</a:t>
            </a:r>
            <a:endParaRPr lang="en-US" dirty="0"/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  <a:p>
            <a:pPr algn="ctr"/>
            <a:r>
              <a:rPr lang="en-US" dirty="0">
                <a:hlinkClick r:id="rId2"/>
              </a:rPr>
              <a:t>https://rrahman007.buet.ac.bd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95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6002" y="-62357"/>
            <a:ext cx="45383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495" dirty="0">
                <a:solidFill>
                  <a:srgbClr val="006600"/>
                </a:solidFill>
                <a:latin typeface="Arial"/>
                <a:cs typeface="Arial"/>
              </a:rPr>
              <a:t>Cyclic</a:t>
            </a:r>
            <a:r>
              <a:rPr sz="6600" u="none" spc="-1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670" dirty="0">
                <a:solidFill>
                  <a:srgbClr val="006600"/>
                </a:solidFill>
                <a:latin typeface="Arial"/>
                <a:cs typeface="Arial"/>
              </a:rPr>
              <a:t>Codes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11804650" cy="3240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Basics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3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Cyclic</a:t>
            </a:r>
            <a:r>
              <a:rPr sz="3200" b="1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Type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Linear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Block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Properties.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Properties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3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Cyclic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5200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Linearity</a:t>
            </a:r>
            <a:r>
              <a:rPr sz="2400" b="1" spc="-10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Property</a:t>
            </a:r>
            <a:endParaRPr sz="2400">
              <a:latin typeface="Calibri"/>
              <a:cs typeface="Calibri"/>
            </a:endParaRPr>
          </a:p>
          <a:p>
            <a:pPr marL="977265" lvl="1" indent="-457200">
              <a:lnSpc>
                <a:spcPct val="100000"/>
              </a:lnSpc>
              <a:buFont typeface="Wingdings"/>
              <a:buChar char=""/>
              <a:tabLst>
                <a:tab pos="977265" algn="l"/>
                <a:tab pos="1289685" algn="l"/>
                <a:tab pos="1803400" algn="l"/>
                <a:tab pos="2545715" algn="l"/>
                <a:tab pos="3175000" algn="l"/>
                <a:tab pos="4016375" algn="l"/>
                <a:tab pos="5571490" algn="l"/>
                <a:tab pos="6499225" algn="l"/>
                <a:tab pos="6935470" algn="l"/>
                <a:tab pos="7658100" algn="l"/>
                <a:tab pos="8400415" algn="l"/>
                <a:tab pos="9069070" algn="l"/>
                <a:tab pos="9740265" algn="l"/>
                <a:tab pos="10342245" algn="l"/>
                <a:tab pos="10991215" algn="l"/>
                <a:tab pos="11640185" algn="l"/>
              </a:tabLst>
            </a:pP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we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have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two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Cyclic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Codewords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spc="3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j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then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their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sum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1800" b="1" spc="3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1800" b="1" spc="3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+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C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j</a:t>
            </a:r>
            <a:r>
              <a:rPr sz="1800" b="1" spc="3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also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R="9438005" algn="r">
              <a:lnSpc>
                <a:spcPct val="100000"/>
              </a:lnSpc>
            </a:pP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Codeword.</a:t>
            </a:r>
            <a:endParaRPr sz="2400">
              <a:latin typeface="Calibri"/>
              <a:cs typeface="Calibri"/>
            </a:endParaRPr>
          </a:p>
          <a:p>
            <a:pPr marL="456565" marR="9394825" indent="-456565" algn="r">
              <a:lnSpc>
                <a:spcPct val="100000"/>
              </a:lnSpc>
              <a:buAutoNum type="arabicPeriod" startAt="2"/>
              <a:tabLst>
                <a:tab pos="4565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Cyclic</a:t>
            </a:r>
            <a:r>
              <a:rPr sz="2400" b="1" spc="-8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Property</a:t>
            </a:r>
            <a:endParaRPr sz="2400">
              <a:latin typeface="Calibri"/>
              <a:cs typeface="Calibri"/>
            </a:endParaRPr>
          </a:p>
          <a:p>
            <a:pPr marL="977265" lvl="1" indent="-457200">
              <a:lnSpc>
                <a:spcPct val="100000"/>
              </a:lnSpc>
              <a:buFont typeface="Wingdings"/>
              <a:buChar char=""/>
              <a:tabLst>
                <a:tab pos="977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After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performing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cyclic</a:t>
            </a:r>
            <a:r>
              <a:rPr sz="24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shift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on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any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codeword,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result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also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valid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772" y="104394"/>
            <a:ext cx="7482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u="none" dirty="0">
                <a:solidFill>
                  <a:srgbClr val="6F2F9F"/>
                </a:solidFill>
              </a:rPr>
              <a:t>Example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1:</a:t>
            </a:r>
            <a:r>
              <a:rPr sz="2400" u="none" spc="-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[0000,</a:t>
            </a:r>
            <a:r>
              <a:rPr sz="2400" u="none" spc="-3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0110,</a:t>
            </a:r>
            <a:r>
              <a:rPr sz="2400" u="none" spc="-3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1001,</a:t>
            </a:r>
            <a:r>
              <a:rPr sz="2400" u="none" spc="-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1111],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Is</a:t>
            </a:r>
            <a:r>
              <a:rPr sz="2400" u="none" spc="-2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it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a</a:t>
            </a:r>
            <a:r>
              <a:rPr sz="2400" u="none" spc="-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Cyclic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spc="-20" dirty="0">
                <a:solidFill>
                  <a:srgbClr val="6F2F9F"/>
                </a:solidFill>
              </a:rPr>
              <a:t>Code?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772" y="104394"/>
            <a:ext cx="7482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u="none" dirty="0">
                <a:solidFill>
                  <a:srgbClr val="6F2F9F"/>
                </a:solidFill>
              </a:rPr>
              <a:t>Example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2:</a:t>
            </a:r>
            <a:r>
              <a:rPr sz="2400" u="none" spc="-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[0000,</a:t>
            </a:r>
            <a:r>
              <a:rPr sz="2400" u="none" spc="-3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0101,</a:t>
            </a:r>
            <a:r>
              <a:rPr sz="2400" u="none" spc="-3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1010,</a:t>
            </a:r>
            <a:r>
              <a:rPr sz="2400" u="none" spc="-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1111],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Is</a:t>
            </a:r>
            <a:r>
              <a:rPr sz="2400" u="none" spc="-2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it</a:t>
            </a:r>
            <a:r>
              <a:rPr sz="2400" u="none" spc="-45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a</a:t>
            </a:r>
            <a:r>
              <a:rPr sz="2400" u="none" spc="-40" dirty="0">
                <a:solidFill>
                  <a:srgbClr val="6F2F9F"/>
                </a:solidFill>
              </a:rPr>
              <a:t> </a:t>
            </a:r>
            <a:r>
              <a:rPr sz="2400" u="none" dirty="0">
                <a:solidFill>
                  <a:srgbClr val="6F2F9F"/>
                </a:solidFill>
              </a:rPr>
              <a:t>Cyclic</a:t>
            </a:r>
            <a:r>
              <a:rPr sz="2400" u="none" spc="-50" dirty="0">
                <a:solidFill>
                  <a:srgbClr val="6F2F9F"/>
                </a:solidFill>
              </a:rPr>
              <a:t> </a:t>
            </a:r>
            <a:r>
              <a:rPr sz="2400" u="none" spc="-20" dirty="0">
                <a:solidFill>
                  <a:srgbClr val="6F2F9F"/>
                </a:solidFill>
              </a:rPr>
              <a:t>Code?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3457" y="-62357"/>
            <a:ext cx="1030224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600" u="none" spc="-50" dirty="0">
                <a:solidFill>
                  <a:srgbClr val="006600"/>
                </a:solidFill>
                <a:latin typeface="Arial"/>
                <a:cs typeface="Arial"/>
              </a:rPr>
              <a:t>Generator Polynomial</a:t>
            </a:r>
            <a:endParaRPr sz="6600" dirty="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10210800" cy="5243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05800" y="655022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3457" y="-62357"/>
            <a:ext cx="1030224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600" u="none" spc="-50" dirty="0">
                <a:solidFill>
                  <a:srgbClr val="006600"/>
                </a:solidFill>
                <a:latin typeface="Arial"/>
                <a:cs typeface="Arial"/>
              </a:rPr>
              <a:t>Generator Polynomial</a:t>
            </a:r>
            <a:endParaRPr sz="6600" dirty="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6681956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3886200" y="990600"/>
            <a:ext cx="0" cy="5791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2895600"/>
            <a:ext cx="87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0" y="2895600"/>
            <a:ext cx="838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469" y="1371600"/>
            <a:ext cx="7038146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305800" y="655022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6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3457" y="-62357"/>
            <a:ext cx="1030224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600" u="none" spc="-50" dirty="0">
                <a:solidFill>
                  <a:srgbClr val="006600"/>
                </a:solidFill>
                <a:latin typeface="Arial"/>
                <a:cs typeface="Arial"/>
              </a:rPr>
              <a:t>Message Polynomial</a:t>
            </a:r>
            <a:endParaRPr sz="6600" dirty="0"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0" y="2895600"/>
            <a:ext cx="838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05800" y="655022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6477000" y="914400"/>
            <a:ext cx="0" cy="5791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" y="1185153"/>
            <a:ext cx="6428258" cy="331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627" y="1219200"/>
            <a:ext cx="5676373" cy="2020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0327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3457" y="-62357"/>
            <a:ext cx="1030224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50" dirty="0">
                <a:solidFill>
                  <a:srgbClr val="006600"/>
                </a:solidFill>
                <a:latin typeface="Arial"/>
                <a:cs typeface="Arial"/>
              </a:rPr>
              <a:t>Non-</a:t>
            </a:r>
            <a:r>
              <a:rPr sz="6600" u="none" spc="-390" dirty="0">
                <a:solidFill>
                  <a:srgbClr val="006600"/>
                </a:solidFill>
                <a:latin typeface="Arial"/>
                <a:cs typeface="Arial"/>
              </a:rPr>
              <a:t>Systematic</a:t>
            </a:r>
            <a:r>
              <a:rPr sz="6600" u="none" spc="-1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95" dirty="0">
                <a:solidFill>
                  <a:srgbClr val="006600"/>
                </a:solidFill>
                <a:latin typeface="Arial"/>
                <a:cs typeface="Arial"/>
              </a:rPr>
              <a:t>Cyclic</a:t>
            </a:r>
            <a:r>
              <a:rPr sz="6600" u="none" spc="-1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75535" y="1431416"/>
            <a:ext cx="391795" cy="282575"/>
          </a:xfrm>
          <a:custGeom>
            <a:avLst/>
            <a:gdLst/>
            <a:ahLst/>
            <a:cxnLst/>
            <a:rect l="l" t="t" r="r" b="b"/>
            <a:pathLst>
              <a:path w="391794" h="282575">
                <a:moveTo>
                  <a:pt x="301498" y="0"/>
                </a:moveTo>
                <a:lnTo>
                  <a:pt x="297434" y="11430"/>
                </a:lnTo>
                <a:lnTo>
                  <a:pt x="313743" y="18577"/>
                </a:lnTo>
                <a:lnTo>
                  <a:pt x="327802" y="28416"/>
                </a:lnTo>
                <a:lnTo>
                  <a:pt x="356383" y="73908"/>
                </a:lnTo>
                <a:lnTo>
                  <a:pt x="364666" y="115341"/>
                </a:lnTo>
                <a:lnTo>
                  <a:pt x="364714" y="115679"/>
                </a:lnTo>
                <a:lnTo>
                  <a:pt x="364712" y="164689"/>
                </a:lnTo>
                <a:lnTo>
                  <a:pt x="356330" y="207603"/>
                </a:lnTo>
                <a:lnTo>
                  <a:pt x="327834" y="253857"/>
                </a:lnTo>
                <a:lnTo>
                  <a:pt x="297815" y="270891"/>
                </a:lnTo>
                <a:lnTo>
                  <a:pt x="301498" y="282321"/>
                </a:lnTo>
                <a:lnTo>
                  <a:pt x="339947" y="264302"/>
                </a:lnTo>
                <a:lnTo>
                  <a:pt x="368300" y="233045"/>
                </a:lnTo>
                <a:lnTo>
                  <a:pt x="385730" y="191134"/>
                </a:lnTo>
                <a:lnTo>
                  <a:pt x="391541" y="141224"/>
                </a:lnTo>
                <a:lnTo>
                  <a:pt x="390087" y="115679"/>
                </a:lnTo>
                <a:lnTo>
                  <a:pt x="378360" y="69482"/>
                </a:lnTo>
                <a:lnTo>
                  <a:pt x="355290" y="32146"/>
                </a:lnTo>
                <a:lnTo>
                  <a:pt x="321952" y="7381"/>
                </a:lnTo>
                <a:lnTo>
                  <a:pt x="301498" y="0"/>
                </a:lnTo>
                <a:close/>
              </a:path>
              <a:path w="391794" h="282575">
                <a:moveTo>
                  <a:pt x="90043" y="0"/>
                </a:moveTo>
                <a:lnTo>
                  <a:pt x="51657" y="18097"/>
                </a:lnTo>
                <a:lnTo>
                  <a:pt x="23368" y="49530"/>
                </a:lnTo>
                <a:lnTo>
                  <a:pt x="5826" y="91424"/>
                </a:lnTo>
                <a:lnTo>
                  <a:pt x="78" y="139827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03"/>
                </a:lnTo>
                <a:lnTo>
                  <a:pt x="26828" y="164689"/>
                </a:lnTo>
                <a:lnTo>
                  <a:pt x="25839" y="141224"/>
                </a:lnTo>
                <a:lnTo>
                  <a:pt x="25781" y="139827"/>
                </a:lnTo>
                <a:lnTo>
                  <a:pt x="29972" y="93710"/>
                </a:lnTo>
                <a:lnTo>
                  <a:pt x="42545" y="56261"/>
                </a:lnTo>
                <a:lnTo>
                  <a:pt x="77817" y="18577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6072" y="965072"/>
            <a:ext cx="11779250" cy="7677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482600" marR="17780" indent="-457200">
              <a:lnSpc>
                <a:spcPct val="102899"/>
              </a:lnSpc>
              <a:spcBef>
                <a:spcPts val="15"/>
              </a:spcBef>
              <a:buFont typeface="Wingdings"/>
              <a:buChar char=""/>
              <a:tabLst>
                <a:tab pos="482600" algn="l"/>
                <a:tab pos="270319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vector for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Non-Systematic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polynomial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𝐆</a:t>
            </a:r>
            <a:r>
              <a:rPr sz="2400" spc="45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=</a:t>
            </a:r>
            <a:r>
              <a:rPr sz="2400" spc="10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𝟑</a:t>
            </a:r>
            <a:r>
              <a:rPr sz="2625" spc="352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400" spc="-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𝟏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 Message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[1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1]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91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75535" y="526033"/>
            <a:ext cx="391795" cy="282575"/>
          </a:xfrm>
          <a:custGeom>
            <a:avLst/>
            <a:gdLst/>
            <a:ahLst/>
            <a:cxnLst/>
            <a:rect l="l" t="t" r="r" b="b"/>
            <a:pathLst>
              <a:path w="391794" h="282575">
                <a:moveTo>
                  <a:pt x="301498" y="0"/>
                </a:moveTo>
                <a:lnTo>
                  <a:pt x="297434" y="11430"/>
                </a:lnTo>
                <a:lnTo>
                  <a:pt x="313743" y="18522"/>
                </a:lnTo>
                <a:lnTo>
                  <a:pt x="327802" y="28352"/>
                </a:lnTo>
                <a:lnTo>
                  <a:pt x="356383" y="73852"/>
                </a:lnTo>
                <a:lnTo>
                  <a:pt x="364673" y="115339"/>
                </a:lnTo>
                <a:lnTo>
                  <a:pt x="364714" y="115623"/>
                </a:lnTo>
                <a:lnTo>
                  <a:pt x="364712" y="164633"/>
                </a:lnTo>
                <a:lnTo>
                  <a:pt x="356330" y="207547"/>
                </a:lnTo>
                <a:lnTo>
                  <a:pt x="327834" y="253793"/>
                </a:lnTo>
                <a:lnTo>
                  <a:pt x="297815" y="270891"/>
                </a:lnTo>
                <a:lnTo>
                  <a:pt x="301498" y="282321"/>
                </a:lnTo>
                <a:lnTo>
                  <a:pt x="339947" y="264239"/>
                </a:lnTo>
                <a:lnTo>
                  <a:pt x="368300" y="232918"/>
                </a:lnTo>
                <a:lnTo>
                  <a:pt x="385730" y="191071"/>
                </a:lnTo>
                <a:lnTo>
                  <a:pt x="391541" y="141224"/>
                </a:lnTo>
                <a:lnTo>
                  <a:pt x="390084" y="115623"/>
                </a:lnTo>
                <a:lnTo>
                  <a:pt x="378360" y="69429"/>
                </a:lnTo>
                <a:lnTo>
                  <a:pt x="355290" y="32093"/>
                </a:lnTo>
                <a:lnTo>
                  <a:pt x="321952" y="7379"/>
                </a:lnTo>
                <a:lnTo>
                  <a:pt x="301498" y="0"/>
                </a:lnTo>
                <a:close/>
              </a:path>
              <a:path w="39179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071"/>
                </a:lnTo>
                <a:lnTo>
                  <a:pt x="23241" y="232918"/>
                </a:lnTo>
                <a:lnTo>
                  <a:pt x="51546" y="264239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845" y="141224"/>
                </a:lnTo>
                <a:lnTo>
                  <a:pt x="25781" y="139700"/>
                </a:lnTo>
                <a:lnTo>
                  <a:pt x="29972" y="93678"/>
                </a:lnTo>
                <a:lnTo>
                  <a:pt x="42545" y="56134"/>
                </a:lnTo>
                <a:lnTo>
                  <a:pt x="77817" y="18522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3372" y="59563"/>
            <a:ext cx="11817350" cy="7677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495300" marR="43180" indent="-457200">
              <a:lnSpc>
                <a:spcPct val="102899"/>
              </a:lnSpc>
              <a:spcBef>
                <a:spcPts val="15"/>
              </a:spcBef>
              <a:buFont typeface="Wingdings"/>
              <a:buChar char=""/>
              <a:tabLst>
                <a:tab pos="495300" algn="l"/>
                <a:tab pos="271589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2: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vector for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Non-Systematic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polynomial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𝐆</a:t>
            </a:r>
            <a:r>
              <a:rPr sz="2400" spc="45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=</a:t>
            </a:r>
            <a:r>
              <a:rPr sz="2400" spc="1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𝟑</a:t>
            </a:r>
            <a:r>
              <a:rPr sz="2625" spc="367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𝟐</a:t>
            </a:r>
            <a:r>
              <a:rPr sz="2625" spc="352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2400" spc="-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 M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[1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0]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1664" y="-62357"/>
            <a:ext cx="840486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390" dirty="0">
                <a:solidFill>
                  <a:srgbClr val="006600"/>
                </a:solidFill>
                <a:latin typeface="Arial"/>
                <a:cs typeface="Arial"/>
              </a:rPr>
              <a:t>Systematic</a:t>
            </a:r>
            <a:r>
              <a:rPr sz="6600" u="none" spc="-1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80" dirty="0">
                <a:solidFill>
                  <a:srgbClr val="006600"/>
                </a:solidFill>
                <a:latin typeface="Arial"/>
                <a:cs typeface="Arial"/>
              </a:rPr>
              <a:t>Cyclic</a:t>
            </a:r>
            <a:r>
              <a:rPr sz="6600" u="none" spc="-1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475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11225"/>
            <a:ext cx="53733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Basics</a:t>
            </a:r>
            <a:r>
              <a:rPr sz="3200" b="1" u="sng" spc="-9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Systematic</a:t>
            </a:r>
            <a:r>
              <a:rPr sz="3200" b="1" u="sng" spc="-9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Cyclic</a:t>
            </a:r>
            <a:r>
              <a:rPr sz="3200" b="1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95804" y="2683891"/>
            <a:ext cx="269875" cy="212090"/>
          </a:xfrm>
          <a:custGeom>
            <a:avLst/>
            <a:gdLst/>
            <a:ahLst/>
            <a:cxnLst/>
            <a:rect l="l" t="t" r="r" b="b"/>
            <a:pathLst>
              <a:path w="269875" h="212089">
                <a:moveTo>
                  <a:pt x="202056" y="0"/>
                </a:moveTo>
                <a:lnTo>
                  <a:pt x="199008" y="8636"/>
                </a:lnTo>
                <a:lnTo>
                  <a:pt x="211294" y="13946"/>
                </a:lnTo>
                <a:lnTo>
                  <a:pt x="221853" y="21304"/>
                </a:lnTo>
                <a:lnTo>
                  <a:pt x="243244" y="55429"/>
                </a:lnTo>
                <a:lnTo>
                  <a:pt x="250316" y="104775"/>
                </a:lnTo>
                <a:lnTo>
                  <a:pt x="249531" y="123517"/>
                </a:lnTo>
                <a:lnTo>
                  <a:pt x="237743" y="169291"/>
                </a:lnTo>
                <a:lnTo>
                  <a:pt x="211437" y="197866"/>
                </a:lnTo>
                <a:lnTo>
                  <a:pt x="199389" y="203200"/>
                </a:lnTo>
                <a:lnTo>
                  <a:pt x="202056" y="211709"/>
                </a:lnTo>
                <a:lnTo>
                  <a:pt x="242526" y="187706"/>
                </a:lnTo>
                <a:lnTo>
                  <a:pt x="265255" y="143335"/>
                </a:lnTo>
                <a:lnTo>
                  <a:pt x="269620" y="105918"/>
                </a:lnTo>
                <a:lnTo>
                  <a:pt x="268536" y="86723"/>
                </a:lnTo>
                <a:lnTo>
                  <a:pt x="252094" y="37084"/>
                </a:lnTo>
                <a:lnTo>
                  <a:pt x="217412" y="5544"/>
                </a:lnTo>
                <a:lnTo>
                  <a:pt x="202056" y="0"/>
                </a:lnTo>
                <a:close/>
              </a:path>
              <a:path w="26987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89" y="123517"/>
                </a:lnTo>
                <a:lnTo>
                  <a:pt x="1093" y="125370"/>
                </a:lnTo>
                <a:lnTo>
                  <a:pt x="17398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44" y="13946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77489" y="2683891"/>
            <a:ext cx="269875" cy="212090"/>
          </a:xfrm>
          <a:custGeom>
            <a:avLst/>
            <a:gdLst/>
            <a:ahLst/>
            <a:cxnLst/>
            <a:rect l="l" t="t" r="r" b="b"/>
            <a:pathLst>
              <a:path w="269875" h="212089">
                <a:moveTo>
                  <a:pt x="202057" y="0"/>
                </a:moveTo>
                <a:lnTo>
                  <a:pt x="199009" y="8636"/>
                </a:lnTo>
                <a:lnTo>
                  <a:pt x="211294" y="13946"/>
                </a:lnTo>
                <a:lnTo>
                  <a:pt x="221853" y="21304"/>
                </a:lnTo>
                <a:lnTo>
                  <a:pt x="243244" y="55429"/>
                </a:lnTo>
                <a:lnTo>
                  <a:pt x="250317" y="104775"/>
                </a:lnTo>
                <a:lnTo>
                  <a:pt x="249531" y="123517"/>
                </a:lnTo>
                <a:lnTo>
                  <a:pt x="237744" y="169291"/>
                </a:lnTo>
                <a:lnTo>
                  <a:pt x="211437" y="197866"/>
                </a:lnTo>
                <a:lnTo>
                  <a:pt x="199390" y="203200"/>
                </a:lnTo>
                <a:lnTo>
                  <a:pt x="202057" y="211709"/>
                </a:lnTo>
                <a:lnTo>
                  <a:pt x="242526" y="187706"/>
                </a:lnTo>
                <a:lnTo>
                  <a:pt x="265255" y="143335"/>
                </a:lnTo>
                <a:lnTo>
                  <a:pt x="269621" y="105918"/>
                </a:lnTo>
                <a:lnTo>
                  <a:pt x="268536" y="86723"/>
                </a:lnTo>
                <a:lnTo>
                  <a:pt x="252095" y="37084"/>
                </a:lnTo>
                <a:lnTo>
                  <a:pt x="217412" y="5544"/>
                </a:lnTo>
                <a:lnTo>
                  <a:pt x="202057" y="0"/>
                </a:lnTo>
                <a:close/>
              </a:path>
              <a:path w="269875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89" y="123517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99865" y="2683891"/>
            <a:ext cx="269875" cy="212090"/>
          </a:xfrm>
          <a:custGeom>
            <a:avLst/>
            <a:gdLst/>
            <a:ahLst/>
            <a:cxnLst/>
            <a:rect l="l" t="t" r="r" b="b"/>
            <a:pathLst>
              <a:path w="269875" h="212089">
                <a:moveTo>
                  <a:pt x="202057" y="0"/>
                </a:moveTo>
                <a:lnTo>
                  <a:pt x="199009" y="8636"/>
                </a:lnTo>
                <a:lnTo>
                  <a:pt x="211294" y="13946"/>
                </a:lnTo>
                <a:lnTo>
                  <a:pt x="221853" y="21304"/>
                </a:lnTo>
                <a:lnTo>
                  <a:pt x="243244" y="55429"/>
                </a:lnTo>
                <a:lnTo>
                  <a:pt x="250317" y="104775"/>
                </a:lnTo>
                <a:lnTo>
                  <a:pt x="249531" y="123517"/>
                </a:lnTo>
                <a:lnTo>
                  <a:pt x="237744" y="169291"/>
                </a:lnTo>
                <a:lnTo>
                  <a:pt x="211437" y="197866"/>
                </a:lnTo>
                <a:lnTo>
                  <a:pt x="199390" y="203200"/>
                </a:lnTo>
                <a:lnTo>
                  <a:pt x="202057" y="211709"/>
                </a:lnTo>
                <a:lnTo>
                  <a:pt x="242526" y="187706"/>
                </a:lnTo>
                <a:lnTo>
                  <a:pt x="265255" y="143335"/>
                </a:lnTo>
                <a:lnTo>
                  <a:pt x="269621" y="105918"/>
                </a:lnTo>
                <a:lnTo>
                  <a:pt x="268536" y="86723"/>
                </a:lnTo>
                <a:lnTo>
                  <a:pt x="252095" y="37084"/>
                </a:lnTo>
                <a:lnTo>
                  <a:pt x="217412" y="5544"/>
                </a:lnTo>
                <a:lnTo>
                  <a:pt x="202057" y="0"/>
                </a:lnTo>
                <a:close/>
              </a:path>
              <a:path w="269875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89" y="123517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51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6639" y="1157605"/>
            <a:ext cx="7950834" cy="175641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507365" indent="-456565">
              <a:lnSpc>
                <a:spcPct val="100000"/>
              </a:lnSpc>
              <a:spcBef>
                <a:spcPts val="1270"/>
              </a:spcBef>
              <a:buFont typeface="Wingdings"/>
              <a:buChar char=""/>
              <a:tabLst>
                <a:tab pos="5073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Format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k)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marL="1321435">
              <a:lnSpc>
                <a:spcPct val="100000"/>
              </a:lnSpc>
              <a:spcBef>
                <a:spcPts val="88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𝐂𝐨𝐝𝐞𝐰𝐨𝐫𝐝</a:t>
            </a:r>
            <a:r>
              <a:rPr sz="1800" spc="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[𝐌𝐞𝐬𝐬𝐚𝐠𝐞 𝐛𝐢𝐭𝐬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(𝐤</a:t>
            </a:r>
            <a:r>
              <a:rPr sz="1800" spc="-10" dirty="0">
                <a:latin typeface="Cambria Math"/>
                <a:cs typeface="Cambria Math"/>
              </a:rPr>
              <a:t> 𝐛𝐢𝐭𝐬),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𝐏𝐚𝐫𝐢𝐭𝐲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𝐛𝐢𝐭𝐬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(𝐧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800" spc="-10" dirty="0">
                <a:latin typeface="Cambria Math"/>
                <a:cs typeface="Cambria Math"/>
              </a:rPr>
              <a:t> 𝐛𝐢𝐭𝐬)]</a:t>
            </a:r>
            <a:endParaRPr sz="1800">
              <a:latin typeface="Cambria Math"/>
              <a:cs typeface="Cambria Math"/>
            </a:endParaRPr>
          </a:p>
          <a:p>
            <a:pPr marL="507365" indent="-456565">
              <a:lnSpc>
                <a:spcPct val="100000"/>
              </a:lnSpc>
              <a:spcBef>
                <a:spcPts val="595"/>
              </a:spcBef>
              <a:buFont typeface="Wingdings"/>
              <a:buChar char=""/>
              <a:tabLst>
                <a:tab pos="5073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marL="1321435">
              <a:lnSpc>
                <a:spcPct val="100000"/>
              </a:lnSpc>
              <a:spcBef>
                <a:spcPts val="900"/>
              </a:spcBef>
              <a:tabLst>
                <a:tab pos="2164080" algn="l"/>
                <a:tab pos="3430904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𝐱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𝐱</a:t>
            </a:r>
            <a:r>
              <a:rPr sz="1950" baseline="27777" dirty="0">
                <a:latin typeface="Cambria Math"/>
                <a:cs typeface="Cambria Math"/>
              </a:rPr>
              <a:t>𝐧−𝐤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41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𝐱</a:t>
            </a:r>
            <a:r>
              <a:rPr sz="1800" dirty="0">
                <a:latin typeface="Cambria Math"/>
                <a:cs typeface="Cambria Math"/>
              </a:rPr>
              <a:t>	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𝐩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𝐱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338" y="3053918"/>
            <a:ext cx="7981950" cy="158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 indent="-514984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94615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C(x)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Codeword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Polynomial</a:t>
            </a:r>
            <a:endParaRPr sz="2400">
              <a:latin typeface="Calibri"/>
              <a:cs typeface="Calibri"/>
            </a:endParaRPr>
          </a:p>
          <a:p>
            <a:pPr marL="946150" indent="-51498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94615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m(x)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Message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Polynomial</a:t>
            </a:r>
            <a:endParaRPr sz="2400">
              <a:latin typeface="Calibri"/>
              <a:cs typeface="Calibri"/>
            </a:endParaRPr>
          </a:p>
          <a:p>
            <a:pPr marL="946150" indent="-514984">
              <a:lnSpc>
                <a:spcPct val="100000"/>
              </a:lnSpc>
              <a:buFont typeface="Wingdings"/>
              <a:buChar char=""/>
              <a:tabLst>
                <a:tab pos="94615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p(x)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Polynomial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5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Polynomial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p(x)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01901" y="4976748"/>
            <a:ext cx="269875" cy="212090"/>
          </a:xfrm>
          <a:custGeom>
            <a:avLst/>
            <a:gdLst/>
            <a:ahLst/>
            <a:cxnLst/>
            <a:rect l="l" t="t" r="r" b="b"/>
            <a:pathLst>
              <a:path w="269875" h="212089">
                <a:moveTo>
                  <a:pt x="202056" y="0"/>
                </a:moveTo>
                <a:lnTo>
                  <a:pt x="199008" y="8636"/>
                </a:lnTo>
                <a:lnTo>
                  <a:pt x="211294" y="13946"/>
                </a:lnTo>
                <a:lnTo>
                  <a:pt x="221853" y="21304"/>
                </a:lnTo>
                <a:lnTo>
                  <a:pt x="243244" y="55429"/>
                </a:lnTo>
                <a:lnTo>
                  <a:pt x="250316" y="104775"/>
                </a:lnTo>
                <a:lnTo>
                  <a:pt x="249531" y="123444"/>
                </a:lnTo>
                <a:lnTo>
                  <a:pt x="237743" y="169164"/>
                </a:lnTo>
                <a:lnTo>
                  <a:pt x="211437" y="197792"/>
                </a:lnTo>
                <a:lnTo>
                  <a:pt x="199389" y="203200"/>
                </a:lnTo>
                <a:lnTo>
                  <a:pt x="202056" y="211709"/>
                </a:lnTo>
                <a:lnTo>
                  <a:pt x="242526" y="187706"/>
                </a:lnTo>
                <a:lnTo>
                  <a:pt x="265255" y="143335"/>
                </a:lnTo>
                <a:lnTo>
                  <a:pt x="269620" y="105918"/>
                </a:lnTo>
                <a:lnTo>
                  <a:pt x="268536" y="86723"/>
                </a:lnTo>
                <a:lnTo>
                  <a:pt x="252094" y="37084"/>
                </a:lnTo>
                <a:lnTo>
                  <a:pt x="217412" y="5544"/>
                </a:lnTo>
                <a:lnTo>
                  <a:pt x="202056" y="0"/>
                </a:lnTo>
                <a:close/>
              </a:path>
              <a:path w="269875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17398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44" y="13946"/>
                </a:lnTo>
                <a:lnTo>
                  <a:pt x="70611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95425" y="4907026"/>
            <a:ext cx="159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979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𝐩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𝐱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𝐑𝐞𝐦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40964" y="4793360"/>
            <a:ext cx="1107440" cy="576580"/>
          </a:xfrm>
          <a:custGeom>
            <a:avLst/>
            <a:gdLst/>
            <a:ahLst/>
            <a:cxnLst/>
            <a:rect l="l" t="t" r="r" b="b"/>
            <a:pathLst>
              <a:path w="1107439" h="576579">
                <a:moveTo>
                  <a:pt x="57404" y="0"/>
                </a:moveTo>
                <a:lnTo>
                  <a:pt x="0" y="0"/>
                </a:lnTo>
                <a:lnTo>
                  <a:pt x="0" y="10160"/>
                </a:lnTo>
                <a:lnTo>
                  <a:pt x="0" y="566420"/>
                </a:lnTo>
                <a:lnTo>
                  <a:pt x="0" y="576580"/>
                </a:lnTo>
                <a:lnTo>
                  <a:pt x="57404" y="576580"/>
                </a:lnTo>
                <a:lnTo>
                  <a:pt x="57404" y="566420"/>
                </a:lnTo>
                <a:lnTo>
                  <a:pt x="21844" y="566420"/>
                </a:lnTo>
                <a:lnTo>
                  <a:pt x="21844" y="10160"/>
                </a:lnTo>
                <a:lnTo>
                  <a:pt x="57404" y="10160"/>
                </a:lnTo>
                <a:lnTo>
                  <a:pt x="57404" y="0"/>
                </a:lnTo>
                <a:close/>
              </a:path>
              <a:path w="1107439" h="576579">
                <a:moveTo>
                  <a:pt x="825881" y="18288"/>
                </a:moveTo>
                <a:lnTo>
                  <a:pt x="822833" y="9652"/>
                </a:lnTo>
                <a:lnTo>
                  <a:pt x="807466" y="15201"/>
                </a:lnTo>
                <a:lnTo>
                  <a:pt x="794004" y="23241"/>
                </a:lnTo>
                <a:lnTo>
                  <a:pt x="765124" y="61760"/>
                </a:lnTo>
                <a:lnTo>
                  <a:pt x="755332" y="114427"/>
                </a:lnTo>
                <a:lnTo>
                  <a:pt x="755269" y="115570"/>
                </a:lnTo>
                <a:lnTo>
                  <a:pt x="756246" y="133096"/>
                </a:lnTo>
                <a:lnTo>
                  <a:pt x="772668" y="184404"/>
                </a:lnTo>
                <a:lnTo>
                  <a:pt x="807415" y="215836"/>
                </a:lnTo>
                <a:lnTo>
                  <a:pt x="822833" y="221361"/>
                </a:lnTo>
                <a:lnTo>
                  <a:pt x="825500" y="212852"/>
                </a:lnTo>
                <a:lnTo>
                  <a:pt x="813447" y="207454"/>
                </a:lnTo>
                <a:lnTo>
                  <a:pt x="803033" y="199986"/>
                </a:lnTo>
                <a:lnTo>
                  <a:pt x="781634" y="165290"/>
                </a:lnTo>
                <a:lnTo>
                  <a:pt x="774611" y="115570"/>
                </a:lnTo>
                <a:lnTo>
                  <a:pt x="774573" y="114427"/>
                </a:lnTo>
                <a:lnTo>
                  <a:pt x="775347" y="96380"/>
                </a:lnTo>
                <a:lnTo>
                  <a:pt x="787146" y="51816"/>
                </a:lnTo>
                <a:lnTo>
                  <a:pt x="813612" y="23609"/>
                </a:lnTo>
                <a:lnTo>
                  <a:pt x="825881" y="18288"/>
                </a:lnTo>
                <a:close/>
              </a:path>
              <a:path w="1107439" h="576579">
                <a:moveTo>
                  <a:pt x="1024890" y="115570"/>
                </a:moveTo>
                <a:lnTo>
                  <a:pt x="1015022" y="61760"/>
                </a:lnTo>
                <a:lnTo>
                  <a:pt x="986155" y="23241"/>
                </a:lnTo>
                <a:lnTo>
                  <a:pt x="957326" y="9652"/>
                </a:lnTo>
                <a:lnTo>
                  <a:pt x="954278" y="18288"/>
                </a:lnTo>
                <a:lnTo>
                  <a:pt x="966558" y="23609"/>
                </a:lnTo>
                <a:lnTo>
                  <a:pt x="977112" y="30962"/>
                </a:lnTo>
                <a:lnTo>
                  <a:pt x="998512" y="65087"/>
                </a:lnTo>
                <a:lnTo>
                  <a:pt x="1005586" y="114427"/>
                </a:lnTo>
                <a:lnTo>
                  <a:pt x="1004798" y="133096"/>
                </a:lnTo>
                <a:lnTo>
                  <a:pt x="993013" y="178816"/>
                </a:lnTo>
                <a:lnTo>
                  <a:pt x="966698" y="207454"/>
                </a:lnTo>
                <a:lnTo>
                  <a:pt x="954659" y="212852"/>
                </a:lnTo>
                <a:lnTo>
                  <a:pt x="957326" y="221361"/>
                </a:lnTo>
                <a:lnTo>
                  <a:pt x="997788" y="197358"/>
                </a:lnTo>
                <a:lnTo>
                  <a:pt x="1020521" y="152996"/>
                </a:lnTo>
                <a:lnTo>
                  <a:pt x="1023785" y="135026"/>
                </a:lnTo>
                <a:lnTo>
                  <a:pt x="1024890" y="115570"/>
                </a:lnTo>
                <a:close/>
              </a:path>
              <a:path w="1107439" h="576579">
                <a:moveTo>
                  <a:pt x="1044575" y="280670"/>
                </a:moveTo>
                <a:lnTo>
                  <a:pt x="63119" y="280670"/>
                </a:lnTo>
                <a:lnTo>
                  <a:pt x="63119" y="295910"/>
                </a:lnTo>
                <a:lnTo>
                  <a:pt x="1044575" y="295910"/>
                </a:lnTo>
                <a:lnTo>
                  <a:pt x="1044575" y="280670"/>
                </a:lnTo>
                <a:close/>
              </a:path>
              <a:path w="1107439" h="576579">
                <a:moveTo>
                  <a:pt x="1106932" y="0"/>
                </a:moveTo>
                <a:lnTo>
                  <a:pt x="1049528" y="0"/>
                </a:lnTo>
                <a:lnTo>
                  <a:pt x="1049528" y="10160"/>
                </a:lnTo>
                <a:lnTo>
                  <a:pt x="1085215" y="10160"/>
                </a:lnTo>
                <a:lnTo>
                  <a:pt x="1085215" y="566420"/>
                </a:lnTo>
                <a:lnTo>
                  <a:pt x="1049528" y="566420"/>
                </a:lnTo>
                <a:lnTo>
                  <a:pt x="1049528" y="576580"/>
                </a:lnTo>
                <a:lnTo>
                  <a:pt x="1106932" y="576580"/>
                </a:lnTo>
                <a:lnTo>
                  <a:pt x="1106932" y="566420"/>
                </a:lnTo>
                <a:lnTo>
                  <a:pt x="1106932" y="10160"/>
                </a:lnTo>
                <a:lnTo>
                  <a:pt x="1106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66236" y="4649470"/>
            <a:ext cx="9632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-20061" dirty="0">
                <a:latin typeface="Cambria Math"/>
                <a:cs typeface="Cambria Math"/>
              </a:rPr>
              <a:t>𝐱</a:t>
            </a:r>
            <a:r>
              <a:rPr sz="1300" dirty="0">
                <a:latin typeface="Cambria Math"/>
                <a:cs typeface="Cambria Math"/>
              </a:rPr>
              <a:t>𝐧−𝐤</a:t>
            </a:r>
            <a:r>
              <a:rPr sz="2700" baseline="-20061" dirty="0">
                <a:latin typeface="Cambria Math"/>
                <a:cs typeface="Cambria Math"/>
              </a:rPr>
              <a:t>𝐦</a:t>
            </a:r>
            <a:r>
              <a:rPr sz="2700" spc="705" baseline="-20061" dirty="0">
                <a:latin typeface="Cambria Math"/>
                <a:cs typeface="Cambria Math"/>
              </a:rPr>
              <a:t> </a:t>
            </a:r>
            <a:r>
              <a:rPr sz="2700" spc="-75" baseline="-20061" dirty="0">
                <a:latin typeface="Cambria Math"/>
                <a:cs typeface="Cambria Math"/>
              </a:rPr>
              <a:t>𝐱</a:t>
            </a:r>
            <a:endParaRPr sz="2700" baseline="-20061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20389" y="5129148"/>
            <a:ext cx="269875" cy="212090"/>
          </a:xfrm>
          <a:custGeom>
            <a:avLst/>
            <a:gdLst/>
            <a:ahLst/>
            <a:cxnLst/>
            <a:rect l="l" t="t" r="r" b="b"/>
            <a:pathLst>
              <a:path w="269875" h="212089">
                <a:moveTo>
                  <a:pt x="202057" y="0"/>
                </a:moveTo>
                <a:lnTo>
                  <a:pt x="199009" y="8636"/>
                </a:lnTo>
                <a:lnTo>
                  <a:pt x="211294" y="13946"/>
                </a:lnTo>
                <a:lnTo>
                  <a:pt x="221853" y="21304"/>
                </a:lnTo>
                <a:lnTo>
                  <a:pt x="243244" y="55429"/>
                </a:lnTo>
                <a:lnTo>
                  <a:pt x="250317" y="104775"/>
                </a:lnTo>
                <a:lnTo>
                  <a:pt x="249531" y="123444"/>
                </a:lnTo>
                <a:lnTo>
                  <a:pt x="237744" y="169164"/>
                </a:lnTo>
                <a:lnTo>
                  <a:pt x="211437" y="197792"/>
                </a:lnTo>
                <a:lnTo>
                  <a:pt x="199390" y="203200"/>
                </a:lnTo>
                <a:lnTo>
                  <a:pt x="202057" y="211709"/>
                </a:lnTo>
                <a:lnTo>
                  <a:pt x="242526" y="187706"/>
                </a:lnTo>
                <a:lnTo>
                  <a:pt x="265255" y="143335"/>
                </a:lnTo>
                <a:lnTo>
                  <a:pt x="269621" y="105918"/>
                </a:lnTo>
                <a:lnTo>
                  <a:pt x="268536" y="86723"/>
                </a:lnTo>
                <a:lnTo>
                  <a:pt x="252095" y="37084"/>
                </a:lnTo>
                <a:lnTo>
                  <a:pt x="217412" y="5544"/>
                </a:lnTo>
                <a:lnTo>
                  <a:pt x="202057" y="0"/>
                </a:lnTo>
                <a:close/>
              </a:path>
              <a:path w="269875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64433" y="5059426"/>
            <a:ext cx="363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𝐠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𝐱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1342" y="5437733"/>
            <a:ext cx="40786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52768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g(x)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Generator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Polynomial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69439" y="526033"/>
            <a:ext cx="360045" cy="282575"/>
          </a:xfrm>
          <a:custGeom>
            <a:avLst/>
            <a:gdLst/>
            <a:ahLst/>
            <a:cxnLst/>
            <a:rect l="l" t="t" r="r" b="b"/>
            <a:pathLst>
              <a:path w="360044" h="282575">
                <a:moveTo>
                  <a:pt x="269494" y="0"/>
                </a:moveTo>
                <a:lnTo>
                  <a:pt x="265430" y="11430"/>
                </a:lnTo>
                <a:lnTo>
                  <a:pt x="281739" y="18522"/>
                </a:lnTo>
                <a:lnTo>
                  <a:pt x="295798" y="28352"/>
                </a:lnTo>
                <a:lnTo>
                  <a:pt x="324379" y="73852"/>
                </a:lnTo>
                <a:lnTo>
                  <a:pt x="332669" y="115339"/>
                </a:lnTo>
                <a:lnTo>
                  <a:pt x="332710" y="115623"/>
                </a:lnTo>
                <a:lnTo>
                  <a:pt x="332708" y="164633"/>
                </a:lnTo>
                <a:lnTo>
                  <a:pt x="324326" y="207547"/>
                </a:lnTo>
                <a:lnTo>
                  <a:pt x="295830" y="253793"/>
                </a:lnTo>
                <a:lnTo>
                  <a:pt x="265811" y="270891"/>
                </a:lnTo>
                <a:lnTo>
                  <a:pt x="269494" y="282321"/>
                </a:lnTo>
                <a:lnTo>
                  <a:pt x="307943" y="264239"/>
                </a:lnTo>
                <a:lnTo>
                  <a:pt x="336295" y="232918"/>
                </a:lnTo>
                <a:lnTo>
                  <a:pt x="353726" y="191071"/>
                </a:lnTo>
                <a:lnTo>
                  <a:pt x="359537" y="141224"/>
                </a:lnTo>
                <a:lnTo>
                  <a:pt x="358080" y="115623"/>
                </a:lnTo>
                <a:lnTo>
                  <a:pt x="346356" y="69429"/>
                </a:lnTo>
                <a:lnTo>
                  <a:pt x="323286" y="32093"/>
                </a:lnTo>
                <a:lnTo>
                  <a:pt x="289948" y="7379"/>
                </a:lnTo>
                <a:lnTo>
                  <a:pt x="269494" y="0"/>
                </a:lnTo>
                <a:close/>
              </a:path>
              <a:path w="360044" h="282575">
                <a:moveTo>
                  <a:pt x="90042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071"/>
                </a:lnTo>
                <a:lnTo>
                  <a:pt x="23240" y="232918"/>
                </a:lnTo>
                <a:lnTo>
                  <a:pt x="51546" y="264239"/>
                </a:lnTo>
                <a:lnTo>
                  <a:pt x="90042" y="282321"/>
                </a:lnTo>
                <a:lnTo>
                  <a:pt x="93598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845" y="141224"/>
                </a:lnTo>
                <a:lnTo>
                  <a:pt x="25780" y="139700"/>
                </a:lnTo>
                <a:lnTo>
                  <a:pt x="29971" y="93678"/>
                </a:lnTo>
                <a:lnTo>
                  <a:pt x="42544" y="56134"/>
                </a:lnTo>
                <a:lnTo>
                  <a:pt x="77817" y="18522"/>
                </a:lnTo>
                <a:lnTo>
                  <a:pt x="94106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3372" y="59563"/>
            <a:ext cx="11817350" cy="7677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495300" marR="43180" indent="-457200">
              <a:lnSpc>
                <a:spcPct val="102899"/>
              </a:lnSpc>
              <a:spcBef>
                <a:spcPts val="15"/>
              </a:spcBef>
              <a:buFont typeface="Wingdings"/>
              <a:buChar char=""/>
              <a:tabLst>
                <a:tab pos="495300" algn="l"/>
                <a:tab pos="267779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3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2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3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3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vector</a:t>
            </a:r>
            <a:r>
              <a:rPr sz="2400" b="1" spc="3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3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3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spc="3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3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3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</a:t>
            </a:r>
            <a:r>
              <a:rPr sz="2400" b="1" spc="3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spc="3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3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Polynomial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𝐆</a:t>
            </a:r>
            <a:r>
              <a:rPr sz="2400" spc="40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=</a:t>
            </a:r>
            <a:r>
              <a:rPr sz="2400" spc="114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𝟑</a:t>
            </a:r>
            <a:r>
              <a:rPr sz="2625" spc="375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𝟐</a:t>
            </a:r>
            <a:r>
              <a:rPr sz="2625" spc="359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 𝟏</a:t>
            </a:r>
            <a:r>
              <a:rPr sz="2400" spc="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[1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0].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405" y="101041"/>
            <a:ext cx="1189926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u="none" spc="-150" dirty="0">
                <a:solidFill>
                  <a:srgbClr val="006600"/>
                </a:solidFill>
                <a:latin typeface="Arial"/>
                <a:cs typeface="Arial"/>
              </a:rPr>
              <a:t>Generator</a:t>
            </a:r>
            <a:r>
              <a:rPr sz="4900" u="none" spc="-19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900" u="none" dirty="0">
                <a:solidFill>
                  <a:srgbClr val="006600"/>
                </a:solidFill>
                <a:latin typeface="Arial"/>
                <a:cs typeface="Arial"/>
              </a:rPr>
              <a:t>Matrix</a:t>
            </a:r>
            <a:r>
              <a:rPr sz="4900" u="none" spc="-2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900" u="none" spc="-135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4900" u="none" spc="-1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900" u="none" spc="-305" dirty="0">
                <a:solidFill>
                  <a:srgbClr val="006600"/>
                </a:solidFill>
                <a:latin typeface="Arial"/>
                <a:cs typeface="Arial"/>
              </a:rPr>
              <a:t>Systematic</a:t>
            </a:r>
            <a:r>
              <a:rPr sz="4900" u="none" spc="-1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900" u="none" spc="-345" dirty="0">
                <a:solidFill>
                  <a:srgbClr val="006600"/>
                </a:solidFill>
                <a:latin typeface="Arial"/>
                <a:cs typeface="Arial"/>
              </a:rPr>
              <a:t>Cyclic</a:t>
            </a:r>
            <a:r>
              <a:rPr sz="4900" u="none" spc="-14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900" u="none" spc="-360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49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67027" y="1852040"/>
            <a:ext cx="260985" cy="213360"/>
          </a:xfrm>
          <a:custGeom>
            <a:avLst/>
            <a:gdLst/>
            <a:ahLst/>
            <a:cxnLst/>
            <a:rect l="l" t="t" r="r" b="b"/>
            <a:pathLst>
              <a:path w="260985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  <a:path w="260985" h="213360">
                <a:moveTo>
                  <a:pt x="260858" y="0"/>
                </a:moveTo>
                <a:lnTo>
                  <a:pt x="211074" y="0"/>
                </a:lnTo>
                <a:lnTo>
                  <a:pt x="211074" y="8890"/>
                </a:lnTo>
                <a:lnTo>
                  <a:pt x="242316" y="8890"/>
                </a:lnTo>
                <a:lnTo>
                  <a:pt x="242316" y="204470"/>
                </a:lnTo>
                <a:lnTo>
                  <a:pt x="211074" y="204470"/>
                </a:lnTo>
                <a:lnTo>
                  <a:pt x="211074" y="213360"/>
                </a:lnTo>
                <a:lnTo>
                  <a:pt x="260858" y="213360"/>
                </a:lnTo>
                <a:lnTo>
                  <a:pt x="260858" y="204470"/>
                </a:lnTo>
                <a:lnTo>
                  <a:pt x="260858" y="8890"/>
                </a:lnTo>
                <a:lnTo>
                  <a:pt x="2608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4142" y="811225"/>
            <a:ext cx="10274935" cy="299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Basics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Generator</a:t>
            </a:r>
            <a:r>
              <a:rPr sz="3200" b="1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Matrix</a:t>
            </a:r>
            <a:r>
              <a:rPr sz="3200" b="1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Systematic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Cyclic</a:t>
            </a:r>
            <a:r>
              <a:rPr sz="3200" b="1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Code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G:</a:t>
            </a:r>
            <a:endParaRPr sz="2400">
              <a:latin typeface="Calibri"/>
              <a:cs typeface="Calibri"/>
            </a:endParaRPr>
          </a:p>
          <a:p>
            <a:pPr marL="1333500">
              <a:lnSpc>
                <a:spcPct val="100000"/>
              </a:lnSpc>
              <a:spcBef>
                <a:spcPts val="875"/>
              </a:spcBef>
              <a:tabLst>
                <a:tab pos="1748155" algn="l"/>
                <a:tab pos="2040889" algn="l"/>
              </a:tabLst>
            </a:pPr>
            <a:r>
              <a:rPr sz="1800" spc="-50" dirty="0">
                <a:latin typeface="Cambria Math"/>
                <a:cs typeface="Cambria Math"/>
              </a:rPr>
              <a:t>⟹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𝐆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[𝐈𝐝𝐞𝐧𝐭𝐢𝐭𝐲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𝐈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(𝐤</a:t>
            </a:r>
            <a:r>
              <a:rPr sz="1800" spc="-10" dirty="0">
                <a:latin typeface="Cambria Math"/>
                <a:cs typeface="Cambria Math"/>
              </a:rPr>
              <a:t> 𝐛𝐢𝐭𝐬),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𝐏𝐚𝐫𝐢𝐭𝐲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𝐏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(𝐧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𝐛𝐢𝐭𝐬)]</a:t>
            </a:r>
            <a:endParaRPr sz="1800">
              <a:latin typeface="Cambria Math"/>
              <a:cs typeface="Cambria Math"/>
            </a:endParaRPr>
          </a:p>
          <a:p>
            <a:pPr marL="520065" indent="-457200">
              <a:lnSpc>
                <a:spcPct val="100000"/>
              </a:lnSpc>
              <a:spcBef>
                <a:spcPts val="59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(n,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k),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Generator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columns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k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rows.</a:t>
            </a:r>
            <a:endParaRPr sz="2400">
              <a:latin typeface="Calibri"/>
              <a:cs typeface="Calibri"/>
            </a:endParaRPr>
          </a:p>
          <a:p>
            <a:pPr marL="990600" lvl="1" indent="-514984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99060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Identity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990600" lvl="1" indent="-514984">
              <a:lnSpc>
                <a:spcPct val="100000"/>
              </a:lnSpc>
              <a:buFont typeface="Wingdings"/>
              <a:buChar char=""/>
              <a:tabLst>
                <a:tab pos="990600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Parity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(n-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k)</a:t>
            </a:r>
            <a:r>
              <a:rPr sz="24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513715" indent="-457200">
              <a:lnSpc>
                <a:spcPct val="100000"/>
              </a:lnSpc>
              <a:spcBef>
                <a:spcPts val="665"/>
              </a:spcBef>
              <a:buFont typeface="Wingdings"/>
              <a:buChar char=""/>
              <a:tabLst>
                <a:tab pos="51371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Row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Parity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Matrix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calculated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5425" y="4041775"/>
            <a:ext cx="2000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𝟏𝐬𝐭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𝐑𝐨𝐰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𝐑𝐞𝐦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46348" y="3928109"/>
            <a:ext cx="589280" cy="576580"/>
          </a:xfrm>
          <a:custGeom>
            <a:avLst/>
            <a:gdLst/>
            <a:ahLst/>
            <a:cxnLst/>
            <a:rect l="l" t="t" r="r" b="b"/>
            <a:pathLst>
              <a:path w="589279" h="576579">
                <a:moveTo>
                  <a:pt x="57404" y="0"/>
                </a:moveTo>
                <a:lnTo>
                  <a:pt x="0" y="0"/>
                </a:lnTo>
                <a:lnTo>
                  <a:pt x="0" y="11430"/>
                </a:lnTo>
                <a:lnTo>
                  <a:pt x="0" y="566420"/>
                </a:lnTo>
                <a:lnTo>
                  <a:pt x="0" y="576580"/>
                </a:lnTo>
                <a:lnTo>
                  <a:pt x="57404" y="576580"/>
                </a:lnTo>
                <a:lnTo>
                  <a:pt x="57404" y="566420"/>
                </a:lnTo>
                <a:lnTo>
                  <a:pt x="21844" y="566420"/>
                </a:lnTo>
                <a:lnTo>
                  <a:pt x="21844" y="11430"/>
                </a:lnTo>
                <a:lnTo>
                  <a:pt x="57404" y="11430"/>
                </a:lnTo>
                <a:lnTo>
                  <a:pt x="57404" y="0"/>
                </a:lnTo>
                <a:close/>
              </a:path>
              <a:path w="589279" h="576579">
                <a:moveTo>
                  <a:pt x="526415" y="280809"/>
                </a:moveTo>
                <a:lnTo>
                  <a:pt x="63119" y="280809"/>
                </a:lnTo>
                <a:lnTo>
                  <a:pt x="63119" y="296037"/>
                </a:lnTo>
                <a:lnTo>
                  <a:pt x="526415" y="296037"/>
                </a:lnTo>
                <a:lnTo>
                  <a:pt x="526415" y="280809"/>
                </a:lnTo>
                <a:close/>
              </a:path>
              <a:path w="589279" h="576579">
                <a:moveTo>
                  <a:pt x="588772" y="0"/>
                </a:moveTo>
                <a:lnTo>
                  <a:pt x="531368" y="0"/>
                </a:lnTo>
                <a:lnTo>
                  <a:pt x="531368" y="11430"/>
                </a:lnTo>
                <a:lnTo>
                  <a:pt x="567055" y="11430"/>
                </a:lnTo>
                <a:lnTo>
                  <a:pt x="567055" y="566420"/>
                </a:lnTo>
                <a:lnTo>
                  <a:pt x="531368" y="566420"/>
                </a:lnTo>
                <a:lnTo>
                  <a:pt x="531368" y="576580"/>
                </a:lnTo>
                <a:lnTo>
                  <a:pt x="588772" y="576580"/>
                </a:lnTo>
                <a:lnTo>
                  <a:pt x="588772" y="566420"/>
                </a:lnTo>
                <a:lnTo>
                  <a:pt x="588772" y="11430"/>
                </a:lnTo>
                <a:lnTo>
                  <a:pt x="588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2002" y="3784219"/>
            <a:ext cx="530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0061" dirty="0">
                <a:latin typeface="Cambria Math"/>
                <a:cs typeface="Cambria Math"/>
              </a:rPr>
              <a:t>𝐱</a:t>
            </a:r>
            <a:r>
              <a:rPr sz="1300" spc="-20" dirty="0">
                <a:latin typeface="Cambria Math"/>
                <a:cs typeface="Cambria Math"/>
              </a:rPr>
              <a:t>𝐧−𝟏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66692" y="4263897"/>
            <a:ext cx="269875" cy="212090"/>
          </a:xfrm>
          <a:custGeom>
            <a:avLst/>
            <a:gdLst/>
            <a:ahLst/>
            <a:cxnLst/>
            <a:rect l="l" t="t" r="r" b="b"/>
            <a:pathLst>
              <a:path w="269875" h="212089">
                <a:moveTo>
                  <a:pt x="202057" y="0"/>
                </a:moveTo>
                <a:lnTo>
                  <a:pt x="199009" y="8636"/>
                </a:lnTo>
                <a:lnTo>
                  <a:pt x="211294" y="13946"/>
                </a:lnTo>
                <a:lnTo>
                  <a:pt x="221853" y="21304"/>
                </a:lnTo>
                <a:lnTo>
                  <a:pt x="243244" y="55449"/>
                </a:lnTo>
                <a:lnTo>
                  <a:pt x="249497" y="86592"/>
                </a:lnTo>
                <a:lnTo>
                  <a:pt x="249531" y="86830"/>
                </a:lnTo>
                <a:lnTo>
                  <a:pt x="250317" y="104902"/>
                </a:lnTo>
                <a:lnTo>
                  <a:pt x="249531" y="123571"/>
                </a:lnTo>
                <a:lnTo>
                  <a:pt x="247173" y="140525"/>
                </a:lnTo>
                <a:lnTo>
                  <a:pt x="230626" y="180911"/>
                </a:lnTo>
                <a:lnTo>
                  <a:pt x="199390" y="203200"/>
                </a:lnTo>
                <a:lnTo>
                  <a:pt x="202057" y="211836"/>
                </a:lnTo>
                <a:lnTo>
                  <a:pt x="242526" y="187779"/>
                </a:lnTo>
                <a:lnTo>
                  <a:pt x="265255" y="143398"/>
                </a:lnTo>
                <a:lnTo>
                  <a:pt x="269621" y="106045"/>
                </a:lnTo>
                <a:lnTo>
                  <a:pt x="268539" y="86830"/>
                </a:lnTo>
                <a:lnTo>
                  <a:pt x="268525" y="86592"/>
                </a:lnTo>
                <a:lnTo>
                  <a:pt x="252095" y="37211"/>
                </a:lnTo>
                <a:lnTo>
                  <a:pt x="217412" y="5599"/>
                </a:lnTo>
                <a:lnTo>
                  <a:pt x="202057" y="0"/>
                </a:lnTo>
                <a:close/>
              </a:path>
              <a:path w="269875" h="212089">
                <a:moveTo>
                  <a:pt x="67564" y="0"/>
                </a:moveTo>
                <a:lnTo>
                  <a:pt x="27166" y="24181"/>
                </a:lnTo>
                <a:lnTo>
                  <a:pt x="4381" y="68627"/>
                </a:lnTo>
                <a:lnTo>
                  <a:pt x="64" y="104902"/>
                </a:lnTo>
                <a:lnTo>
                  <a:pt x="0" y="106045"/>
                </a:lnTo>
                <a:lnTo>
                  <a:pt x="9804" y="159819"/>
                </a:lnTo>
                <a:lnTo>
                  <a:pt x="38671" y="198294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52" y="106045"/>
                </a:lnTo>
                <a:lnTo>
                  <a:pt x="19304" y="104902"/>
                </a:lnTo>
                <a:lnTo>
                  <a:pt x="20089" y="86830"/>
                </a:lnTo>
                <a:lnTo>
                  <a:pt x="31877" y="42164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11117" y="4194175"/>
            <a:ext cx="363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𝐠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𝐱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5425" y="4770501"/>
            <a:ext cx="2085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𝟐𝐧𝐝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𝐑𝐨𝐰</a:t>
            </a:r>
            <a:r>
              <a:rPr sz="1800" spc="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𝐑𝐞𝐦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31692" y="4656708"/>
            <a:ext cx="589280" cy="576580"/>
          </a:xfrm>
          <a:custGeom>
            <a:avLst/>
            <a:gdLst/>
            <a:ahLst/>
            <a:cxnLst/>
            <a:rect l="l" t="t" r="r" b="b"/>
            <a:pathLst>
              <a:path w="589279" h="576579">
                <a:moveTo>
                  <a:pt x="57404" y="0"/>
                </a:moveTo>
                <a:lnTo>
                  <a:pt x="0" y="0"/>
                </a:lnTo>
                <a:lnTo>
                  <a:pt x="0" y="11430"/>
                </a:lnTo>
                <a:lnTo>
                  <a:pt x="0" y="566420"/>
                </a:lnTo>
                <a:lnTo>
                  <a:pt x="0" y="576580"/>
                </a:lnTo>
                <a:lnTo>
                  <a:pt x="57404" y="576580"/>
                </a:lnTo>
                <a:lnTo>
                  <a:pt x="57404" y="566420"/>
                </a:lnTo>
                <a:lnTo>
                  <a:pt x="21844" y="566420"/>
                </a:lnTo>
                <a:lnTo>
                  <a:pt x="21844" y="11430"/>
                </a:lnTo>
                <a:lnTo>
                  <a:pt x="57404" y="11430"/>
                </a:lnTo>
                <a:lnTo>
                  <a:pt x="57404" y="0"/>
                </a:lnTo>
                <a:close/>
              </a:path>
              <a:path w="589279" h="576579">
                <a:moveTo>
                  <a:pt x="526415" y="280797"/>
                </a:moveTo>
                <a:lnTo>
                  <a:pt x="63119" y="280797"/>
                </a:lnTo>
                <a:lnTo>
                  <a:pt x="63119" y="296037"/>
                </a:lnTo>
                <a:lnTo>
                  <a:pt x="526415" y="296037"/>
                </a:lnTo>
                <a:lnTo>
                  <a:pt x="526415" y="280797"/>
                </a:lnTo>
                <a:close/>
              </a:path>
              <a:path w="589279" h="576579">
                <a:moveTo>
                  <a:pt x="588772" y="0"/>
                </a:moveTo>
                <a:lnTo>
                  <a:pt x="531368" y="0"/>
                </a:lnTo>
                <a:lnTo>
                  <a:pt x="531368" y="11430"/>
                </a:lnTo>
                <a:lnTo>
                  <a:pt x="567055" y="11430"/>
                </a:lnTo>
                <a:lnTo>
                  <a:pt x="567055" y="566420"/>
                </a:lnTo>
                <a:lnTo>
                  <a:pt x="531368" y="566420"/>
                </a:lnTo>
                <a:lnTo>
                  <a:pt x="531368" y="576580"/>
                </a:lnTo>
                <a:lnTo>
                  <a:pt x="588772" y="576580"/>
                </a:lnTo>
                <a:lnTo>
                  <a:pt x="588772" y="566420"/>
                </a:lnTo>
                <a:lnTo>
                  <a:pt x="588772" y="11430"/>
                </a:lnTo>
                <a:lnTo>
                  <a:pt x="588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57346" y="4512945"/>
            <a:ext cx="532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0" baseline="-20061" dirty="0">
                <a:latin typeface="Cambria Math"/>
                <a:cs typeface="Cambria Math"/>
              </a:rPr>
              <a:t>𝐱</a:t>
            </a:r>
            <a:r>
              <a:rPr sz="1300" spc="-20" dirty="0">
                <a:latin typeface="Cambria Math"/>
                <a:cs typeface="Cambria Math"/>
              </a:rPr>
              <a:t>𝐧−𝟐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52036" y="4992496"/>
            <a:ext cx="269875" cy="212090"/>
          </a:xfrm>
          <a:custGeom>
            <a:avLst/>
            <a:gdLst/>
            <a:ahLst/>
            <a:cxnLst/>
            <a:rect l="l" t="t" r="r" b="b"/>
            <a:pathLst>
              <a:path w="269875" h="212089">
                <a:moveTo>
                  <a:pt x="202057" y="0"/>
                </a:moveTo>
                <a:lnTo>
                  <a:pt x="199009" y="8636"/>
                </a:lnTo>
                <a:lnTo>
                  <a:pt x="211294" y="13946"/>
                </a:lnTo>
                <a:lnTo>
                  <a:pt x="221853" y="21304"/>
                </a:lnTo>
                <a:lnTo>
                  <a:pt x="243244" y="55449"/>
                </a:lnTo>
                <a:lnTo>
                  <a:pt x="249497" y="86592"/>
                </a:lnTo>
                <a:lnTo>
                  <a:pt x="249531" y="86830"/>
                </a:lnTo>
                <a:lnTo>
                  <a:pt x="250317" y="104902"/>
                </a:lnTo>
                <a:lnTo>
                  <a:pt x="249531" y="123571"/>
                </a:lnTo>
                <a:lnTo>
                  <a:pt x="247173" y="140525"/>
                </a:lnTo>
                <a:lnTo>
                  <a:pt x="230626" y="180911"/>
                </a:lnTo>
                <a:lnTo>
                  <a:pt x="199390" y="203200"/>
                </a:lnTo>
                <a:lnTo>
                  <a:pt x="202057" y="211836"/>
                </a:lnTo>
                <a:lnTo>
                  <a:pt x="242526" y="187779"/>
                </a:lnTo>
                <a:lnTo>
                  <a:pt x="265255" y="143398"/>
                </a:lnTo>
                <a:lnTo>
                  <a:pt x="269621" y="106045"/>
                </a:lnTo>
                <a:lnTo>
                  <a:pt x="268539" y="86830"/>
                </a:lnTo>
                <a:lnTo>
                  <a:pt x="268525" y="86592"/>
                </a:lnTo>
                <a:lnTo>
                  <a:pt x="252095" y="37211"/>
                </a:lnTo>
                <a:lnTo>
                  <a:pt x="217412" y="5599"/>
                </a:lnTo>
                <a:lnTo>
                  <a:pt x="202057" y="0"/>
                </a:lnTo>
                <a:close/>
              </a:path>
              <a:path w="269875" h="212089">
                <a:moveTo>
                  <a:pt x="67564" y="0"/>
                </a:moveTo>
                <a:lnTo>
                  <a:pt x="27166" y="24181"/>
                </a:lnTo>
                <a:lnTo>
                  <a:pt x="4381" y="68627"/>
                </a:lnTo>
                <a:lnTo>
                  <a:pt x="64" y="104902"/>
                </a:lnTo>
                <a:lnTo>
                  <a:pt x="0" y="106045"/>
                </a:lnTo>
                <a:lnTo>
                  <a:pt x="9804" y="159819"/>
                </a:lnTo>
                <a:lnTo>
                  <a:pt x="38671" y="198294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52" y="106045"/>
                </a:lnTo>
                <a:lnTo>
                  <a:pt x="19304" y="104902"/>
                </a:lnTo>
                <a:lnTo>
                  <a:pt x="20089" y="86830"/>
                </a:lnTo>
                <a:lnTo>
                  <a:pt x="31877" y="42164"/>
                </a:lnTo>
                <a:lnTo>
                  <a:pt x="58344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96461" y="4922901"/>
            <a:ext cx="363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𝐠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𝐱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5425" y="5989116"/>
            <a:ext cx="2035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𝐤𝐭𝐡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𝐑𝐨𝐰</a:t>
            </a:r>
            <a:r>
              <a:rPr sz="1800" spc="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𝐑𝐞𝐦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81400" y="5875578"/>
            <a:ext cx="590550" cy="577215"/>
          </a:xfrm>
          <a:custGeom>
            <a:avLst/>
            <a:gdLst/>
            <a:ahLst/>
            <a:cxnLst/>
            <a:rect l="l" t="t" r="r" b="b"/>
            <a:pathLst>
              <a:path w="590550" h="577214">
                <a:moveTo>
                  <a:pt x="57404" y="0"/>
                </a:moveTo>
                <a:lnTo>
                  <a:pt x="0" y="0"/>
                </a:lnTo>
                <a:lnTo>
                  <a:pt x="0" y="10160"/>
                </a:lnTo>
                <a:lnTo>
                  <a:pt x="0" y="566420"/>
                </a:lnTo>
                <a:lnTo>
                  <a:pt x="0" y="576592"/>
                </a:lnTo>
                <a:lnTo>
                  <a:pt x="57404" y="576592"/>
                </a:lnTo>
                <a:lnTo>
                  <a:pt x="57404" y="566420"/>
                </a:lnTo>
                <a:lnTo>
                  <a:pt x="21844" y="566420"/>
                </a:lnTo>
                <a:lnTo>
                  <a:pt x="21844" y="10160"/>
                </a:lnTo>
                <a:lnTo>
                  <a:pt x="57404" y="10160"/>
                </a:lnTo>
                <a:lnTo>
                  <a:pt x="57404" y="0"/>
                </a:lnTo>
                <a:close/>
              </a:path>
              <a:path w="590550" h="577214">
                <a:moveTo>
                  <a:pt x="527939" y="280682"/>
                </a:moveTo>
                <a:lnTo>
                  <a:pt x="63119" y="280682"/>
                </a:lnTo>
                <a:lnTo>
                  <a:pt x="63119" y="295922"/>
                </a:lnTo>
                <a:lnTo>
                  <a:pt x="527939" y="295922"/>
                </a:lnTo>
                <a:lnTo>
                  <a:pt x="527939" y="280682"/>
                </a:lnTo>
                <a:close/>
              </a:path>
              <a:path w="590550" h="577214">
                <a:moveTo>
                  <a:pt x="590296" y="0"/>
                </a:moveTo>
                <a:lnTo>
                  <a:pt x="532892" y="0"/>
                </a:lnTo>
                <a:lnTo>
                  <a:pt x="532892" y="10160"/>
                </a:lnTo>
                <a:lnTo>
                  <a:pt x="568579" y="10160"/>
                </a:lnTo>
                <a:lnTo>
                  <a:pt x="568579" y="566420"/>
                </a:lnTo>
                <a:lnTo>
                  <a:pt x="532892" y="566420"/>
                </a:lnTo>
                <a:lnTo>
                  <a:pt x="532892" y="576592"/>
                </a:lnTo>
                <a:lnTo>
                  <a:pt x="590296" y="576592"/>
                </a:lnTo>
                <a:lnTo>
                  <a:pt x="590296" y="566420"/>
                </a:lnTo>
                <a:lnTo>
                  <a:pt x="590296" y="10160"/>
                </a:lnTo>
                <a:lnTo>
                  <a:pt x="590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40685" y="5269788"/>
            <a:ext cx="1711325" cy="7620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40"/>
              </a:spcBef>
            </a:pPr>
            <a:r>
              <a:rPr sz="1800" spc="-10" dirty="0">
                <a:latin typeface="Calibri"/>
                <a:cs typeface="Calibri"/>
              </a:rPr>
              <a:t>……………</a:t>
            </a:r>
            <a:endParaRPr sz="1800">
              <a:latin typeface="Calibri"/>
              <a:cs typeface="Calibri"/>
            </a:endParaRPr>
          </a:p>
          <a:p>
            <a:pPr marR="43180" algn="r">
              <a:lnSpc>
                <a:spcPct val="100000"/>
              </a:lnSpc>
              <a:spcBef>
                <a:spcPts val="735"/>
              </a:spcBef>
            </a:pPr>
            <a:r>
              <a:rPr sz="2700" spc="-30" baseline="-20061" dirty="0">
                <a:latin typeface="Cambria Math"/>
                <a:cs typeface="Cambria Math"/>
              </a:rPr>
              <a:t>𝐱</a:t>
            </a:r>
            <a:r>
              <a:rPr sz="1300" spc="-20" dirty="0">
                <a:latin typeface="Cambria Math"/>
                <a:cs typeface="Cambria Math"/>
              </a:rPr>
              <a:t>𝐧−𝐤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03269" y="6211379"/>
            <a:ext cx="269875" cy="212090"/>
          </a:xfrm>
          <a:custGeom>
            <a:avLst/>
            <a:gdLst/>
            <a:ahLst/>
            <a:cxnLst/>
            <a:rect l="l" t="t" r="r" b="b"/>
            <a:pathLst>
              <a:path w="269875" h="212089">
                <a:moveTo>
                  <a:pt x="202057" y="0"/>
                </a:moveTo>
                <a:lnTo>
                  <a:pt x="199009" y="8597"/>
                </a:lnTo>
                <a:lnTo>
                  <a:pt x="211294" y="13915"/>
                </a:lnTo>
                <a:lnTo>
                  <a:pt x="221853" y="21277"/>
                </a:lnTo>
                <a:lnTo>
                  <a:pt x="243244" y="55406"/>
                </a:lnTo>
                <a:lnTo>
                  <a:pt x="249498" y="86519"/>
                </a:lnTo>
                <a:lnTo>
                  <a:pt x="249531" y="86744"/>
                </a:lnTo>
                <a:lnTo>
                  <a:pt x="250317" y="104813"/>
                </a:lnTo>
                <a:lnTo>
                  <a:pt x="249531" y="123489"/>
                </a:lnTo>
                <a:lnTo>
                  <a:pt x="247173" y="140447"/>
                </a:lnTo>
                <a:lnTo>
                  <a:pt x="230626" y="180837"/>
                </a:lnTo>
                <a:lnTo>
                  <a:pt x="199390" y="203149"/>
                </a:lnTo>
                <a:lnTo>
                  <a:pt x="202057" y="211747"/>
                </a:lnTo>
                <a:lnTo>
                  <a:pt x="242526" y="187704"/>
                </a:lnTo>
                <a:lnTo>
                  <a:pt x="265255" y="143335"/>
                </a:lnTo>
                <a:lnTo>
                  <a:pt x="269621" y="105930"/>
                </a:lnTo>
                <a:lnTo>
                  <a:pt x="268538" y="86744"/>
                </a:lnTo>
                <a:lnTo>
                  <a:pt x="268525" y="86519"/>
                </a:lnTo>
                <a:lnTo>
                  <a:pt x="252095" y="37109"/>
                </a:lnTo>
                <a:lnTo>
                  <a:pt x="217412" y="5541"/>
                </a:lnTo>
                <a:lnTo>
                  <a:pt x="202057" y="0"/>
                </a:lnTo>
                <a:close/>
              </a:path>
              <a:path w="269875" h="212089">
                <a:moveTo>
                  <a:pt x="67564" y="0"/>
                </a:moveTo>
                <a:lnTo>
                  <a:pt x="27166" y="24095"/>
                </a:lnTo>
                <a:lnTo>
                  <a:pt x="4381" y="68576"/>
                </a:lnTo>
                <a:lnTo>
                  <a:pt x="63" y="104813"/>
                </a:lnTo>
                <a:lnTo>
                  <a:pt x="0" y="105930"/>
                </a:lnTo>
                <a:lnTo>
                  <a:pt x="9804" y="159787"/>
                </a:lnTo>
                <a:lnTo>
                  <a:pt x="38671" y="198196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5"/>
                </a:lnTo>
                <a:lnTo>
                  <a:pt x="47767" y="190368"/>
                </a:lnTo>
                <a:lnTo>
                  <a:pt x="26376" y="155689"/>
                </a:lnTo>
                <a:lnTo>
                  <a:pt x="19351" y="105930"/>
                </a:lnTo>
                <a:lnTo>
                  <a:pt x="19304" y="104813"/>
                </a:lnTo>
                <a:lnTo>
                  <a:pt x="20089" y="86744"/>
                </a:lnTo>
                <a:lnTo>
                  <a:pt x="31877" y="42138"/>
                </a:lnTo>
                <a:lnTo>
                  <a:pt x="58344" y="13915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647694" y="6141516"/>
            <a:ext cx="363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𝐠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𝐱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80067" y="160273"/>
            <a:ext cx="360045" cy="282575"/>
          </a:xfrm>
          <a:custGeom>
            <a:avLst/>
            <a:gdLst/>
            <a:ahLst/>
            <a:cxnLst/>
            <a:rect l="l" t="t" r="r" b="b"/>
            <a:pathLst>
              <a:path w="360045" h="282575">
                <a:moveTo>
                  <a:pt x="269494" y="0"/>
                </a:moveTo>
                <a:lnTo>
                  <a:pt x="265430" y="11430"/>
                </a:lnTo>
                <a:lnTo>
                  <a:pt x="281739" y="18522"/>
                </a:lnTo>
                <a:lnTo>
                  <a:pt x="295798" y="28352"/>
                </a:lnTo>
                <a:lnTo>
                  <a:pt x="324379" y="73852"/>
                </a:lnTo>
                <a:lnTo>
                  <a:pt x="332669" y="115339"/>
                </a:lnTo>
                <a:lnTo>
                  <a:pt x="332710" y="115623"/>
                </a:lnTo>
                <a:lnTo>
                  <a:pt x="332708" y="164633"/>
                </a:lnTo>
                <a:lnTo>
                  <a:pt x="324326" y="207547"/>
                </a:lnTo>
                <a:lnTo>
                  <a:pt x="295830" y="253793"/>
                </a:lnTo>
                <a:lnTo>
                  <a:pt x="265811" y="270891"/>
                </a:lnTo>
                <a:lnTo>
                  <a:pt x="269494" y="282321"/>
                </a:lnTo>
                <a:lnTo>
                  <a:pt x="307943" y="264239"/>
                </a:lnTo>
                <a:lnTo>
                  <a:pt x="336296" y="232918"/>
                </a:lnTo>
                <a:lnTo>
                  <a:pt x="353726" y="191071"/>
                </a:lnTo>
                <a:lnTo>
                  <a:pt x="359537" y="141224"/>
                </a:lnTo>
                <a:lnTo>
                  <a:pt x="358080" y="115623"/>
                </a:lnTo>
                <a:lnTo>
                  <a:pt x="346356" y="69429"/>
                </a:lnTo>
                <a:lnTo>
                  <a:pt x="323286" y="32093"/>
                </a:lnTo>
                <a:lnTo>
                  <a:pt x="289948" y="7379"/>
                </a:lnTo>
                <a:lnTo>
                  <a:pt x="269494" y="0"/>
                </a:lnTo>
                <a:close/>
              </a:path>
              <a:path w="36004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071"/>
                </a:lnTo>
                <a:lnTo>
                  <a:pt x="23241" y="232918"/>
                </a:lnTo>
                <a:lnTo>
                  <a:pt x="51546" y="264239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845" y="141224"/>
                </a:lnTo>
                <a:lnTo>
                  <a:pt x="25781" y="139700"/>
                </a:lnTo>
                <a:lnTo>
                  <a:pt x="29972" y="93678"/>
                </a:lnTo>
                <a:lnTo>
                  <a:pt x="42545" y="56134"/>
                </a:lnTo>
                <a:lnTo>
                  <a:pt x="77817" y="18522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3372" y="70230"/>
            <a:ext cx="11819890" cy="7556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495300" marR="43180" indent="-457200">
              <a:lnSpc>
                <a:spcPts val="2870"/>
              </a:lnSpc>
              <a:spcBef>
                <a:spcPts val="200"/>
              </a:spcBef>
              <a:buFont typeface="Wingdings"/>
              <a:buChar char=""/>
              <a:tabLst>
                <a:tab pos="495300" algn="l"/>
                <a:tab pos="998918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Polynomial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𝐆</a:t>
            </a:r>
            <a:r>
              <a:rPr sz="2400" spc="37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=</a:t>
            </a:r>
            <a:r>
              <a:rPr sz="2400" spc="14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𝟑</a:t>
            </a:r>
            <a:r>
              <a:rPr sz="2625" spc="390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 𝐱</a:t>
            </a:r>
            <a:r>
              <a:rPr sz="2400" spc="2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.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Construct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Matrix.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1041" y="-69392"/>
            <a:ext cx="92475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310" dirty="0">
                <a:solidFill>
                  <a:srgbClr val="006600"/>
                </a:solidFill>
                <a:latin typeface="Arial"/>
                <a:cs typeface="Arial"/>
              </a:rPr>
              <a:t>Designing</a:t>
            </a:r>
            <a:r>
              <a:rPr sz="6000" u="none" spc="-1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165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6000" u="none" spc="-1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20" dirty="0">
                <a:solidFill>
                  <a:srgbClr val="006600"/>
                </a:solidFill>
                <a:latin typeface="Arial"/>
                <a:cs typeface="Arial"/>
              </a:rPr>
              <a:t>Cyclic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25" dirty="0">
                <a:solidFill>
                  <a:srgbClr val="006600"/>
                </a:solidFill>
                <a:latin typeface="Arial"/>
                <a:cs typeface="Arial"/>
              </a:rPr>
              <a:t>Encoder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626727" y="958088"/>
            <a:ext cx="360045" cy="282575"/>
          </a:xfrm>
          <a:custGeom>
            <a:avLst/>
            <a:gdLst/>
            <a:ahLst/>
            <a:cxnLst/>
            <a:rect l="l" t="t" r="r" b="b"/>
            <a:pathLst>
              <a:path w="360045" h="282575">
                <a:moveTo>
                  <a:pt x="269494" y="0"/>
                </a:moveTo>
                <a:lnTo>
                  <a:pt x="265430" y="11430"/>
                </a:lnTo>
                <a:lnTo>
                  <a:pt x="281739" y="18522"/>
                </a:lnTo>
                <a:lnTo>
                  <a:pt x="295798" y="28352"/>
                </a:lnTo>
                <a:lnTo>
                  <a:pt x="324379" y="73852"/>
                </a:lnTo>
                <a:lnTo>
                  <a:pt x="332670" y="115341"/>
                </a:lnTo>
                <a:lnTo>
                  <a:pt x="333756" y="139700"/>
                </a:lnTo>
                <a:lnTo>
                  <a:pt x="332708" y="164635"/>
                </a:lnTo>
                <a:lnTo>
                  <a:pt x="324326" y="207601"/>
                </a:lnTo>
                <a:lnTo>
                  <a:pt x="295830" y="253857"/>
                </a:lnTo>
                <a:lnTo>
                  <a:pt x="265811" y="270891"/>
                </a:lnTo>
                <a:lnTo>
                  <a:pt x="269494" y="282321"/>
                </a:lnTo>
                <a:lnTo>
                  <a:pt x="307943" y="264255"/>
                </a:lnTo>
                <a:lnTo>
                  <a:pt x="336296" y="233045"/>
                </a:lnTo>
                <a:lnTo>
                  <a:pt x="353726" y="191134"/>
                </a:lnTo>
                <a:lnTo>
                  <a:pt x="359537" y="141224"/>
                </a:lnTo>
                <a:lnTo>
                  <a:pt x="358080" y="115623"/>
                </a:lnTo>
                <a:lnTo>
                  <a:pt x="358064" y="115341"/>
                </a:lnTo>
                <a:lnTo>
                  <a:pt x="346356" y="69482"/>
                </a:lnTo>
                <a:lnTo>
                  <a:pt x="323286" y="32146"/>
                </a:lnTo>
                <a:lnTo>
                  <a:pt x="289948" y="7381"/>
                </a:lnTo>
                <a:lnTo>
                  <a:pt x="269494" y="0"/>
                </a:lnTo>
                <a:close/>
              </a:path>
              <a:path w="360045" h="282575">
                <a:moveTo>
                  <a:pt x="90043" y="0"/>
                </a:moveTo>
                <a:lnTo>
                  <a:pt x="51657" y="18097"/>
                </a:lnTo>
                <a:lnTo>
                  <a:pt x="23368" y="49530"/>
                </a:lnTo>
                <a:lnTo>
                  <a:pt x="5826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134"/>
                </a:lnTo>
                <a:lnTo>
                  <a:pt x="23241" y="233045"/>
                </a:lnTo>
                <a:lnTo>
                  <a:pt x="51546" y="264255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01"/>
                </a:lnTo>
                <a:lnTo>
                  <a:pt x="26828" y="164635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6072" y="868171"/>
            <a:ext cx="11728450" cy="1121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6565">
              <a:lnSpc>
                <a:spcPts val="2875"/>
              </a:lnSpc>
              <a:spcBef>
                <a:spcPts val="100"/>
              </a:spcBef>
              <a:buFont typeface="Wingdings"/>
              <a:buChar char=""/>
              <a:tabLst>
                <a:tab pos="481965" algn="l"/>
                <a:tab pos="992314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1: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Polynomial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(7,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𝐆</a:t>
            </a:r>
            <a:r>
              <a:rPr sz="2400" spc="37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=</a:t>
            </a:r>
            <a:r>
              <a:rPr sz="2400" spc="14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𝟑</a:t>
            </a:r>
            <a:r>
              <a:rPr sz="2625" spc="390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 𝐱</a:t>
            </a:r>
            <a:r>
              <a:rPr sz="2400" spc="2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481965" indent="-456565">
              <a:lnSpc>
                <a:spcPts val="2875"/>
              </a:lnSpc>
              <a:buAutoNum type="alphaUcPeriod"/>
              <a:tabLst>
                <a:tab pos="4819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Design</a:t>
            </a:r>
            <a:r>
              <a:rPr sz="2400" b="1" spc="-8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Cyclic</a:t>
            </a:r>
            <a:r>
              <a:rPr sz="2400" b="1" spc="-8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Encoder</a:t>
            </a:r>
            <a:r>
              <a:rPr lang="en-US" sz="2400" b="1" spc="-10" dirty="0">
                <a:solidFill>
                  <a:srgbClr val="7E5F00"/>
                </a:solidFill>
                <a:latin typeface="Calibri"/>
                <a:cs typeface="Calibri"/>
              </a:rPr>
              <a:t> Circuit/Hardware</a:t>
            </a:r>
            <a:endParaRPr sz="2400" dirty="0">
              <a:latin typeface="Calibri"/>
              <a:cs typeface="Calibri"/>
            </a:endParaRPr>
          </a:p>
          <a:p>
            <a:pPr marL="481965" indent="-456565">
              <a:lnSpc>
                <a:spcPct val="100000"/>
              </a:lnSpc>
              <a:buAutoNum type="alphaUcPeriod"/>
              <a:tabLst>
                <a:tab pos="4819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Find</a:t>
            </a:r>
            <a:r>
              <a:rPr sz="24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Codeword</a:t>
            </a:r>
            <a:r>
              <a:rPr sz="2400" b="1" spc="-4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if</a:t>
            </a:r>
            <a:r>
              <a:rPr sz="24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Message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[1</a:t>
            </a:r>
            <a:r>
              <a:rPr sz="24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1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1</a:t>
            </a:r>
            <a:r>
              <a:rPr sz="24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0]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428" y="762000"/>
            <a:ext cx="6521772" cy="5453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5800" y="6550223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934200" y="5867400"/>
            <a:ext cx="4572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71800" y="762000"/>
            <a:ext cx="457200" cy="190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0" y="-62357"/>
            <a:ext cx="121920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sz="4800" spc="-390" dirty="0">
                <a:solidFill>
                  <a:srgbClr val="006600"/>
                </a:solidFill>
                <a:latin typeface="+mn-lt"/>
                <a:cs typeface="Arial"/>
              </a:rPr>
              <a:t>CRC (Linear Feedback Shift Register) Algorithm </a:t>
            </a:r>
            <a:endParaRPr lang="en-US" sz="4800" dirty="0"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1761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013" y="-69392"/>
            <a:ext cx="113163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245" dirty="0">
                <a:solidFill>
                  <a:srgbClr val="006600"/>
                </a:solidFill>
                <a:latin typeface="Arial"/>
                <a:cs typeface="Arial"/>
              </a:rPr>
              <a:t>Complete</a:t>
            </a:r>
            <a:r>
              <a:rPr sz="6000" u="none" spc="-20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210" dirty="0">
                <a:solidFill>
                  <a:srgbClr val="006600"/>
                </a:solidFill>
                <a:latin typeface="Arial"/>
                <a:cs typeface="Arial"/>
              </a:rPr>
              <a:t>Example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190" dirty="0">
                <a:solidFill>
                  <a:srgbClr val="006600"/>
                </a:solidFill>
                <a:latin typeface="Arial"/>
                <a:cs typeface="Arial"/>
              </a:rPr>
              <a:t>of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20" dirty="0">
                <a:solidFill>
                  <a:srgbClr val="006600"/>
                </a:solidFill>
                <a:latin typeface="Arial"/>
                <a:cs typeface="Arial"/>
              </a:rPr>
              <a:t>Cyclic</a:t>
            </a:r>
            <a:r>
              <a:rPr sz="6000" u="none" spc="-1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34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86625" y="1323847"/>
            <a:ext cx="360045" cy="282575"/>
          </a:xfrm>
          <a:custGeom>
            <a:avLst/>
            <a:gdLst/>
            <a:ahLst/>
            <a:cxnLst/>
            <a:rect l="l" t="t" r="r" b="b"/>
            <a:pathLst>
              <a:path w="360044" h="282575">
                <a:moveTo>
                  <a:pt x="269392" y="0"/>
                </a:moveTo>
                <a:lnTo>
                  <a:pt x="265379" y="11430"/>
                </a:lnTo>
                <a:lnTo>
                  <a:pt x="281721" y="18522"/>
                </a:lnTo>
                <a:lnTo>
                  <a:pt x="295775" y="28352"/>
                </a:lnTo>
                <a:lnTo>
                  <a:pt x="324310" y="73852"/>
                </a:lnTo>
                <a:lnTo>
                  <a:pt x="332609" y="115341"/>
                </a:lnTo>
                <a:lnTo>
                  <a:pt x="332649" y="115623"/>
                </a:lnTo>
                <a:lnTo>
                  <a:pt x="332644" y="164635"/>
                </a:lnTo>
                <a:lnTo>
                  <a:pt x="324268" y="207601"/>
                </a:lnTo>
                <a:lnTo>
                  <a:pt x="295792" y="253857"/>
                </a:lnTo>
                <a:lnTo>
                  <a:pt x="265823" y="270891"/>
                </a:lnTo>
                <a:lnTo>
                  <a:pt x="269392" y="282321"/>
                </a:lnTo>
                <a:lnTo>
                  <a:pt x="307901" y="264255"/>
                </a:lnTo>
                <a:lnTo>
                  <a:pt x="336219" y="233045"/>
                </a:lnTo>
                <a:lnTo>
                  <a:pt x="353633" y="191134"/>
                </a:lnTo>
                <a:lnTo>
                  <a:pt x="359435" y="141224"/>
                </a:lnTo>
                <a:lnTo>
                  <a:pt x="357996" y="115623"/>
                </a:lnTo>
                <a:lnTo>
                  <a:pt x="346335" y="69482"/>
                </a:lnTo>
                <a:lnTo>
                  <a:pt x="323236" y="32146"/>
                </a:lnTo>
                <a:lnTo>
                  <a:pt x="289864" y="7381"/>
                </a:lnTo>
                <a:lnTo>
                  <a:pt x="269392" y="0"/>
                </a:lnTo>
                <a:close/>
              </a:path>
              <a:path w="360044" h="282575">
                <a:moveTo>
                  <a:pt x="90043" y="0"/>
                </a:moveTo>
                <a:lnTo>
                  <a:pt x="51628" y="18097"/>
                </a:lnTo>
                <a:lnTo>
                  <a:pt x="23291" y="49530"/>
                </a:lnTo>
                <a:lnTo>
                  <a:pt x="5821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1450" y="167179"/>
                </a:lnTo>
                <a:lnTo>
                  <a:pt x="13056" y="213090"/>
                </a:lnTo>
                <a:lnTo>
                  <a:pt x="36100" y="250281"/>
                </a:lnTo>
                <a:lnTo>
                  <a:pt x="69514" y="274943"/>
                </a:lnTo>
                <a:lnTo>
                  <a:pt x="90043" y="282321"/>
                </a:lnTo>
                <a:lnTo>
                  <a:pt x="93611" y="270891"/>
                </a:lnTo>
                <a:lnTo>
                  <a:pt x="77523" y="263773"/>
                </a:lnTo>
                <a:lnTo>
                  <a:pt x="63642" y="253857"/>
                </a:lnTo>
                <a:lnTo>
                  <a:pt x="35167" y="207601"/>
                </a:lnTo>
                <a:lnTo>
                  <a:pt x="26790" y="164635"/>
                </a:lnTo>
                <a:lnTo>
                  <a:pt x="25742" y="139700"/>
                </a:lnTo>
                <a:lnTo>
                  <a:pt x="26790" y="115623"/>
                </a:lnTo>
                <a:lnTo>
                  <a:pt x="35167" y="73852"/>
                </a:lnTo>
                <a:lnTo>
                  <a:pt x="63755" y="28352"/>
                </a:lnTo>
                <a:lnTo>
                  <a:pt x="94056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0672" y="857503"/>
            <a:ext cx="11840845" cy="296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73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07365" algn="l"/>
                <a:tab pos="1804670" algn="l"/>
                <a:tab pos="2409825" algn="l"/>
                <a:tab pos="3837940" algn="l"/>
                <a:tab pos="5387975" algn="l"/>
                <a:tab pos="5786120" algn="l"/>
                <a:tab pos="6345555" algn="l"/>
                <a:tab pos="7846695" algn="l"/>
                <a:tab pos="8691245" algn="l"/>
                <a:tab pos="9471660" algn="l"/>
                <a:tab pos="9936480" algn="l"/>
                <a:tab pos="10321925" algn="l"/>
                <a:tab pos="10655935" algn="l"/>
                <a:tab pos="1147254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Example: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Polynomial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Systematic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Cyclic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Code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(7,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4)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endParaRPr sz="2400" dirty="0">
              <a:latin typeface="Calibri"/>
              <a:cs typeface="Calibri"/>
            </a:endParaRPr>
          </a:p>
          <a:p>
            <a:pPr marL="508000">
              <a:lnSpc>
                <a:spcPts val="2875"/>
              </a:lnSpc>
              <a:spcBef>
                <a:spcPts val="85"/>
              </a:spcBef>
              <a:tabLst>
                <a:tab pos="1207770" algn="l"/>
              </a:tabLst>
            </a:pP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𝐆</a:t>
            </a:r>
            <a:r>
              <a:rPr sz="2400" spc="44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6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=</a:t>
            </a:r>
            <a:r>
              <a:rPr sz="2400" spc="114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𝟑</a:t>
            </a:r>
            <a:r>
              <a:rPr sz="2625" spc="337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𝐱</a:t>
            </a:r>
            <a:r>
              <a:rPr sz="2400" spc="-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Calculate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 following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Parameters:</a:t>
            </a:r>
            <a:endParaRPr sz="2400" dirty="0">
              <a:latin typeface="Calibri"/>
              <a:cs typeface="Calibri"/>
            </a:endParaRPr>
          </a:p>
          <a:p>
            <a:pPr marL="507365" indent="-456565">
              <a:lnSpc>
                <a:spcPts val="2875"/>
              </a:lnSpc>
              <a:buAutoNum type="alphaUcPeriod"/>
              <a:tabLst>
                <a:tab pos="507365" algn="l"/>
              </a:tabLst>
            </a:pP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Generator</a:t>
            </a:r>
            <a:r>
              <a:rPr sz="2400" b="1" spc="-6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Matrix</a:t>
            </a:r>
            <a:endParaRPr sz="2400" dirty="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Codeword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for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Message</a:t>
            </a:r>
            <a:r>
              <a:rPr sz="24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[1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0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1</a:t>
            </a:r>
            <a:r>
              <a:rPr sz="24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1]</a:t>
            </a:r>
            <a:endParaRPr sz="2400" dirty="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Parity</a:t>
            </a:r>
            <a:r>
              <a:rPr sz="2400" b="1" spc="-8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Check</a:t>
            </a:r>
            <a:r>
              <a:rPr sz="2400" b="1" spc="-8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Matrix</a:t>
            </a:r>
            <a:endParaRPr sz="2400" dirty="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Decoding</a:t>
            </a:r>
            <a:r>
              <a:rPr sz="24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Matrix</a:t>
            </a:r>
            <a:endParaRPr sz="2400" dirty="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Syndrome</a:t>
            </a:r>
            <a:r>
              <a:rPr lang="en-US" sz="2400" b="1" dirty="0">
                <a:solidFill>
                  <a:srgbClr val="7E5F00"/>
                </a:solidFill>
                <a:latin typeface="Calibri"/>
                <a:cs typeface="Calibri"/>
              </a:rPr>
              <a:t> Matrix</a:t>
            </a:r>
            <a:r>
              <a:rPr sz="2400" b="1" spc="-4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if</a:t>
            </a:r>
            <a:r>
              <a:rPr sz="2400" b="1" spc="-2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received</a:t>
            </a:r>
            <a:r>
              <a:rPr sz="2400" b="1" spc="-4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7E5F00"/>
                </a:solidFill>
                <a:latin typeface="Calibri"/>
                <a:cs typeface="Calibri"/>
              </a:rPr>
              <a:t>codeword</a:t>
            </a:r>
            <a:r>
              <a:rPr sz="2400" b="1" spc="-1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[1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1</a:t>
            </a:r>
            <a:r>
              <a:rPr sz="24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0</a:t>
            </a:r>
            <a:r>
              <a:rPr sz="24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1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1</a:t>
            </a:r>
            <a:r>
              <a:rPr sz="24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0</a:t>
            </a:r>
            <a:r>
              <a:rPr sz="24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0]</a:t>
            </a:r>
            <a:endParaRPr sz="2400" dirty="0">
              <a:latin typeface="Calibri"/>
              <a:cs typeface="Calibri"/>
            </a:endParaRPr>
          </a:p>
          <a:p>
            <a:pPr marL="507365" indent="-456565">
              <a:lnSpc>
                <a:spcPct val="100000"/>
              </a:lnSpc>
              <a:spcBef>
                <a:spcPts val="5"/>
              </a:spcBef>
              <a:buAutoNum type="alphaUcPeriod"/>
              <a:tabLst>
                <a:tab pos="5073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Er</a:t>
            </a:r>
            <a:r>
              <a:rPr lang="en-US" sz="2400" b="1" dirty="0">
                <a:solidFill>
                  <a:srgbClr val="7E5F00"/>
                </a:solidFill>
                <a:latin typeface="Calibri"/>
                <a:cs typeface="Calibri"/>
              </a:rPr>
              <a:t>r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or</a:t>
            </a:r>
            <a:r>
              <a:rPr sz="2400" b="1" spc="-9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Correction</a:t>
            </a:r>
            <a:r>
              <a:rPr sz="2400" b="1" spc="-8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with</a:t>
            </a:r>
            <a:r>
              <a:rPr sz="2400" b="1" spc="-8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above</a:t>
            </a:r>
            <a:r>
              <a:rPr sz="2400" b="1" spc="-7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received</a:t>
            </a:r>
            <a:r>
              <a:rPr sz="2400" b="1" spc="-8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7E5F00"/>
                </a:solidFill>
                <a:latin typeface="Calibri"/>
                <a:cs typeface="Calibri"/>
              </a:rPr>
              <a:t>data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7616" y="67132"/>
            <a:ext cx="9178290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u="none" spc="-355" dirty="0">
                <a:solidFill>
                  <a:srgbClr val="006600"/>
                </a:solidFill>
                <a:latin typeface="Arial"/>
                <a:cs typeface="Arial"/>
              </a:rPr>
              <a:t>Cyclic</a:t>
            </a:r>
            <a:r>
              <a:rPr sz="5100" u="none" spc="-1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100" u="none" spc="-254" dirty="0">
                <a:solidFill>
                  <a:srgbClr val="006600"/>
                </a:solidFill>
                <a:latin typeface="Arial"/>
                <a:cs typeface="Arial"/>
              </a:rPr>
              <a:t>Redundancy</a:t>
            </a:r>
            <a:r>
              <a:rPr sz="5100" u="none" spc="-1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100" u="none" spc="-315" dirty="0">
                <a:solidFill>
                  <a:srgbClr val="006600"/>
                </a:solidFill>
                <a:latin typeface="Arial"/>
                <a:cs typeface="Arial"/>
              </a:rPr>
              <a:t>Check</a:t>
            </a:r>
            <a:r>
              <a:rPr sz="5100" u="none" spc="-1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100" u="none" spc="455" dirty="0">
                <a:solidFill>
                  <a:srgbClr val="006600"/>
                </a:solidFill>
                <a:latin typeface="Arial"/>
                <a:cs typeface="Arial"/>
              </a:rPr>
              <a:t>-</a:t>
            </a:r>
            <a:r>
              <a:rPr sz="5100" u="none" spc="-1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5100" u="none" spc="-545" dirty="0">
                <a:solidFill>
                  <a:srgbClr val="006600"/>
                </a:solidFill>
                <a:latin typeface="Arial"/>
                <a:cs typeface="Arial"/>
              </a:rPr>
              <a:t>CRC</a:t>
            </a:r>
            <a:endParaRPr sz="5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3286" y="891920"/>
            <a:ext cx="9900285" cy="2958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0209" indent="-397510">
              <a:lnSpc>
                <a:spcPct val="100000"/>
              </a:lnSpc>
              <a:spcBef>
                <a:spcPts val="105"/>
              </a:spcBef>
              <a:buSzPct val="87500"/>
              <a:buFont typeface="Wingdings"/>
              <a:buChar char=""/>
              <a:tabLst>
                <a:tab pos="410209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Basics</a:t>
            </a:r>
            <a:r>
              <a:rPr sz="3200" b="1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Cyclic</a:t>
            </a:r>
            <a:r>
              <a:rPr sz="32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Redundancy</a:t>
            </a:r>
            <a:r>
              <a:rPr sz="3200" b="1" spc="-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F4E79"/>
                </a:solidFill>
                <a:latin typeface="Calibri"/>
                <a:cs typeface="Calibri"/>
              </a:rPr>
              <a:t>Check</a:t>
            </a:r>
            <a:endParaRPr sz="32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spcBef>
                <a:spcPts val="40"/>
              </a:spcBef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CRC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uses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Divisor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bits.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{Divisor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may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Galois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fields.}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Here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append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–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bits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bits.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Here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perform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binary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division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CRC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generation.</a:t>
            </a:r>
            <a:endParaRPr sz="24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buFont typeface="Wingdings"/>
              <a:buChar char=""/>
              <a:tabLst>
                <a:tab pos="880744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Receiver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Transmitter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should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agreed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upon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same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Divisor.</a:t>
            </a:r>
            <a:endParaRPr sz="2400">
              <a:latin typeface="Calibri"/>
              <a:cs typeface="Calibri"/>
            </a:endParaRPr>
          </a:p>
          <a:p>
            <a:pPr marL="410209" indent="-397510">
              <a:lnSpc>
                <a:spcPct val="100000"/>
              </a:lnSpc>
              <a:spcBef>
                <a:spcPts val="915"/>
              </a:spcBef>
              <a:buSzPct val="87500"/>
              <a:buFont typeface="Wingdings"/>
              <a:buChar char=""/>
              <a:tabLst>
                <a:tab pos="410209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Example</a:t>
            </a:r>
            <a:r>
              <a:rPr sz="3200" b="1" spc="-7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Cyclic</a:t>
            </a:r>
            <a:r>
              <a:rPr sz="3200" b="1" spc="-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Redundancy</a:t>
            </a:r>
            <a:r>
              <a:rPr sz="3200" b="1" spc="-9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F4E79"/>
                </a:solidFill>
                <a:latin typeface="Calibri"/>
                <a:cs typeface="Calibri"/>
              </a:rPr>
              <a:t>Check</a:t>
            </a:r>
            <a:endParaRPr sz="3200">
              <a:latin typeface="Calibri"/>
              <a:cs typeface="Calibri"/>
            </a:endParaRPr>
          </a:p>
          <a:p>
            <a:pPr marL="880744" lvl="1" indent="-410845">
              <a:lnSpc>
                <a:spcPct val="100000"/>
              </a:lnSpc>
              <a:spcBef>
                <a:spcPts val="45"/>
              </a:spcBef>
              <a:buFont typeface="Wingdings"/>
              <a:buChar char=""/>
              <a:tabLst>
                <a:tab pos="880744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01010001,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Divisor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1001.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transmitted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CRC.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742" y="129286"/>
            <a:ext cx="11245215" cy="89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5609" indent="-397510">
              <a:lnSpc>
                <a:spcPct val="100000"/>
              </a:lnSpc>
              <a:spcBef>
                <a:spcPts val="100"/>
              </a:spcBef>
              <a:buSzPct val="87500"/>
              <a:buFont typeface="Wingdings"/>
              <a:buChar char=""/>
              <a:tabLst>
                <a:tab pos="435609" algn="l"/>
              </a:tabLst>
            </a:pP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Example</a:t>
            </a:r>
            <a:r>
              <a:rPr sz="3200" b="1" spc="-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3200" b="1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Cyclic</a:t>
            </a:r>
            <a:r>
              <a:rPr sz="3200" b="1" spc="-8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F4E79"/>
                </a:solidFill>
                <a:latin typeface="Calibri"/>
                <a:cs typeface="Calibri"/>
              </a:rPr>
              <a:t>Redundancy</a:t>
            </a:r>
            <a:r>
              <a:rPr sz="3200" b="1" spc="-9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F4E79"/>
                </a:solidFill>
                <a:latin typeface="Calibri"/>
                <a:cs typeface="Calibri"/>
              </a:rPr>
              <a:t>Check</a:t>
            </a:r>
            <a:endParaRPr sz="3200">
              <a:latin typeface="Calibri"/>
              <a:cs typeface="Calibri"/>
            </a:endParaRPr>
          </a:p>
          <a:p>
            <a:pPr marL="906780" lvl="1" indent="-411480">
              <a:lnSpc>
                <a:spcPct val="100000"/>
              </a:lnSpc>
              <a:spcBef>
                <a:spcPts val="130"/>
              </a:spcBef>
              <a:buFont typeface="Wingdings"/>
              <a:buChar char=""/>
              <a:tabLst>
                <a:tab pos="90678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1110010101,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Divisor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=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𝐗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𝟑</a:t>
            </a:r>
            <a:r>
              <a:rPr sz="2625" spc="330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𝐗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𝟐</a:t>
            </a:r>
            <a:r>
              <a:rPr sz="2625" spc="330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3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Find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transmitted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CRC.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b="1" spc="-260" dirty="0">
                <a:solidFill>
                  <a:srgbClr val="006600"/>
                </a:solidFill>
                <a:latin typeface="Arial"/>
                <a:cs typeface="Arial"/>
              </a:rPr>
              <a:t>Examples</a:t>
            </a:r>
            <a:r>
              <a:rPr sz="4600" b="1" spc="-10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600" b="1" spc="-310" dirty="0">
                <a:solidFill>
                  <a:srgbClr val="006600"/>
                </a:solidFill>
                <a:latin typeface="Arial"/>
                <a:cs typeface="Arial"/>
              </a:rPr>
              <a:t>on</a:t>
            </a:r>
            <a:r>
              <a:rPr sz="4600" b="1" spc="-10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600" b="1" spc="-470" dirty="0">
                <a:solidFill>
                  <a:srgbClr val="006600"/>
                </a:solidFill>
                <a:latin typeface="Arial"/>
                <a:cs typeface="Arial"/>
              </a:rPr>
              <a:t>CRC</a:t>
            </a:r>
            <a:r>
              <a:rPr sz="4600" b="1" spc="-11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600" b="1" spc="254" dirty="0">
                <a:solidFill>
                  <a:srgbClr val="006600"/>
                </a:solidFill>
                <a:latin typeface="Arial"/>
                <a:cs typeface="Arial"/>
              </a:rPr>
              <a:t>–</a:t>
            </a:r>
            <a:r>
              <a:rPr sz="4600" b="1" spc="-1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600" b="1" spc="-345" dirty="0">
                <a:solidFill>
                  <a:srgbClr val="006600"/>
                </a:solidFill>
                <a:latin typeface="Arial"/>
                <a:cs typeface="Arial"/>
              </a:rPr>
              <a:t>Cyclic</a:t>
            </a:r>
            <a:r>
              <a:rPr sz="4600" b="1" spc="-10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600" b="1" spc="-229" dirty="0">
                <a:solidFill>
                  <a:srgbClr val="006600"/>
                </a:solidFill>
                <a:latin typeface="Arial"/>
                <a:cs typeface="Arial"/>
              </a:rPr>
              <a:t>Redundancy</a:t>
            </a:r>
            <a:r>
              <a:rPr sz="4600" b="1" spc="-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4600" b="1" spc="-295" dirty="0">
                <a:solidFill>
                  <a:srgbClr val="006600"/>
                </a:solidFill>
                <a:latin typeface="Arial"/>
                <a:cs typeface="Arial"/>
              </a:rPr>
              <a:t>Check</a:t>
            </a:r>
            <a:endParaRPr sz="4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442" y="728853"/>
            <a:ext cx="1170178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–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11001001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transmitted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CRC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polynomial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𝐗</a:t>
            </a:r>
            <a:r>
              <a:rPr sz="2625" baseline="28571" dirty="0">
                <a:solidFill>
                  <a:srgbClr val="6F2F9F"/>
                </a:solidFill>
                <a:latin typeface="Cambria Math"/>
                <a:cs typeface="Cambria Math"/>
              </a:rPr>
              <a:t>𝟑</a:t>
            </a:r>
            <a:r>
              <a:rPr sz="2625" spc="307" baseline="28571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+</a:t>
            </a:r>
            <a:r>
              <a:rPr sz="2400" spc="-4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2400" spc="-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to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protect</a:t>
            </a:r>
            <a:r>
              <a:rPr sz="2400" b="1" spc="5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5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from</a:t>
            </a:r>
            <a:r>
              <a:rPr sz="2400" b="1" spc="5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errors.</a:t>
            </a:r>
            <a:r>
              <a:rPr sz="2400" b="1" spc="5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5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5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5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should</a:t>
            </a:r>
            <a:r>
              <a:rPr sz="2400" b="1" spc="5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5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transmitted</a:t>
            </a:r>
            <a:r>
              <a:rPr sz="2400" b="1" spc="5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5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………………….</a:t>
            </a:r>
            <a:r>
              <a:rPr sz="2400" b="1" spc="5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5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codeword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receiver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110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1001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011</a:t>
            </a:r>
            <a:r>
              <a:rPr sz="2400" b="1" spc="-6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how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receiver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will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take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decision?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Words>852</Words>
  <Application>Microsoft Office PowerPoint</Application>
  <PresentationFormat>Widescreen</PresentationFormat>
  <Paragraphs>90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Wingdings</vt:lpstr>
      <vt:lpstr>Office Theme</vt:lpstr>
      <vt:lpstr>Cyclic Codes</vt:lpstr>
      <vt:lpstr>Cyclic Codes</vt:lpstr>
      <vt:lpstr>Example 1: [0000, 0110, 1001, 1111], Is it a Cyclic Code?</vt:lpstr>
      <vt:lpstr>Example 2: [0000, 0101, 1010, 1111], Is it a Cyclic Code?</vt:lpstr>
      <vt:lpstr>Generator Polynomial</vt:lpstr>
      <vt:lpstr>Generator Polynomial</vt:lpstr>
      <vt:lpstr>Message Polynomial</vt:lpstr>
      <vt:lpstr>Non-Systematic Cyclic Code</vt:lpstr>
      <vt:lpstr>PowerPoint Presentation</vt:lpstr>
      <vt:lpstr>Systematic Cyclic Code</vt:lpstr>
      <vt:lpstr>PowerPoint Presentation</vt:lpstr>
      <vt:lpstr>Generator Matrix of Systematic Cyclic Code</vt:lpstr>
      <vt:lpstr>PowerPoint Presentation</vt:lpstr>
      <vt:lpstr>PowerPoint Presentation</vt:lpstr>
      <vt:lpstr>Designing of Cyclic Encoder</vt:lpstr>
      <vt:lpstr>PowerPoint Presentation</vt:lpstr>
      <vt:lpstr>PowerPoint Presentation</vt:lpstr>
      <vt:lpstr>Complete Example of Cyclic Code</vt:lpstr>
      <vt:lpstr>PowerPoint Presentation</vt:lpstr>
      <vt:lpstr>PowerPoint Presentation</vt:lpstr>
      <vt:lpstr>PowerPoint Presentation</vt:lpstr>
      <vt:lpstr>PowerPoint Presentation</vt:lpstr>
      <vt:lpstr>Cyclic Redundancy Check - CRC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Code</dc:title>
  <cp:lastModifiedBy>Rifat Rahman</cp:lastModifiedBy>
  <cp:revision>22</cp:revision>
  <dcterms:created xsi:type="dcterms:W3CDTF">2026-02-16T15:48:50Z</dcterms:created>
  <dcterms:modified xsi:type="dcterms:W3CDTF">2026-03-05T17:56:12Z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  <property fmtid="{D5CDD505-2E9C-101B-9397-08002B2CF9AE}" pid="4" name="Producer">
    <vt:lpwstr>3-Heights™ PDF Merge Split Shell 6.12.1.11 (http://www.pdf-tools.com)</vt:lpwstr>
  </property>
</Properties>
</file>