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394" y="-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75260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 smtClean="0"/>
              <a:t>Hamming Code</a:t>
            </a:r>
            <a:endParaRPr lang="en-US" sz="4400" u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938992"/>
          </a:xfrm>
        </p:spPr>
        <p:txBody>
          <a:bodyPr/>
          <a:lstStyle/>
          <a:p>
            <a:pPr algn="ctr"/>
            <a:r>
              <a:rPr lang="en-US" dirty="0" smtClean="0"/>
              <a:t>Prepared by</a:t>
            </a:r>
          </a:p>
          <a:p>
            <a:pPr algn="ctr"/>
            <a:r>
              <a:rPr lang="en-US" dirty="0" smtClean="0"/>
              <a:t>Prof. Hitesh </a:t>
            </a:r>
            <a:r>
              <a:rPr lang="en-US" dirty="0" err="1" smtClean="0"/>
              <a:t>Dholakiya</a:t>
            </a:r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Modified by</a:t>
            </a:r>
          </a:p>
          <a:p>
            <a:pPr algn="ctr"/>
            <a:r>
              <a:rPr lang="en-US" dirty="0" err="1" smtClean="0"/>
              <a:t>Rifat</a:t>
            </a:r>
            <a:r>
              <a:rPr lang="en-US" dirty="0" smtClean="0"/>
              <a:t> </a:t>
            </a:r>
            <a:r>
              <a:rPr lang="en-US" dirty="0" err="1" smtClean="0"/>
              <a:t>Rahman</a:t>
            </a:r>
            <a:endParaRPr lang="en-US" dirty="0" smtClean="0"/>
          </a:p>
          <a:p>
            <a:pPr algn="ctr"/>
            <a:r>
              <a:rPr lang="en-US" dirty="0" smtClean="0"/>
              <a:t>Assistant Professor</a:t>
            </a:r>
          </a:p>
          <a:p>
            <a:pPr algn="ctr"/>
            <a:r>
              <a:rPr lang="en-US" dirty="0" smtClean="0"/>
              <a:t>Institute of Appropriate Technology, BUET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02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1429" y="67132"/>
            <a:ext cx="4550410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u="none" spc="-55" dirty="0">
                <a:solidFill>
                  <a:srgbClr val="006600"/>
                </a:solidFill>
                <a:latin typeface="Arial"/>
                <a:cs typeface="Arial"/>
              </a:rPr>
              <a:t>Hamming</a:t>
            </a:r>
            <a:r>
              <a:rPr sz="51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100" u="none" spc="-3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5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286" y="891920"/>
            <a:ext cx="7564755" cy="271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105"/>
              </a:spcBef>
              <a:buSzPct val="87500"/>
              <a:buFont typeface="Wingdings"/>
              <a:buChar char=""/>
              <a:tabLst>
                <a:tab pos="4102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Basics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RW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(n,k)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Where,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Total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–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038" y="178053"/>
            <a:ext cx="8271509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09" indent="-397510">
              <a:lnSpc>
                <a:spcPct val="100000"/>
              </a:lnSpc>
              <a:spcBef>
                <a:spcPts val="100"/>
              </a:spcBef>
              <a:buSzPct val="87500"/>
              <a:buFont typeface="Wingdings"/>
              <a:buChar char=""/>
              <a:tabLst>
                <a:tab pos="4356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Parity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condition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382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38200" algn="l"/>
              </a:tabLst>
            </a:pP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identify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satisfy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condition.</a:t>
            </a:r>
            <a:endParaRPr sz="2400">
              <a:latin typeface="Calibri"/>
              <a:cs typeface="Calibri"/>
            </a:endParaRPr>
          </a:p>
          <a:p>
            <a:pPr marL="4500880">
              <a:lnSpc>
                <a:spcPct val="100000"/>
              </a:lnSpc>
              <a:spcBef>
                <a:spcPts val="75"/>
              </a:spcBef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∴</a:t>
            </a:r>
            <a:r>
              <a:rPr sz="2400" spc="1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𝟐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spc="540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≥</a:t>
            </a:r>
            <a:r>
              <a:rPr sz="2400" spc="14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𝐩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178053"/>
            <a:ext cx="981710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Position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Parity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&amp;</a:t>
            </a:r>
            <a:r>
              <a:rPr sz="32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Message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Let’s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take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(7,4)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5027" y="3828288"/>
            <a:ext cx="7702550" cy="589915"/>
            <a:chOff x="605027" y="3828288"/>
            <a:chExt cx="7702550" cy="589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27" y="3828288"/>
              <a:ext cx="1100328" cy="589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355" y="3828288"/>
              <a:ext cx="1100328" cy="5897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5683" y="3828288"/>
              <a:ext cx="1100328" cy="5897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6012" y="3828288"/>
              <a:ext cx="1100327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6339" y="3828288"/>
              <a:ext cx="1100327" cy="5897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6668" y="3828288"/>
              <a:ext cx="1100328" cy="5897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6996" y="3828288"/>
              <a:ext cx="1100327" cy="589788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01852" y="3825113"/>
          <a:ext cx="7703181" cy="58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1100455"/>
                <a:gridCol w="1100455"/>
                <a:gridCol w="1100454"/>
                <a:gridCol w="1100454"/>
                <a:gridCol w="1100454"/>
                <a:gridCol w="1100454"/>
              </a:tblGrid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28319" y="2885312"/>
            <a:ext cx="18529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tabLst>
                <a:tab pos="1567180" algn="l"/>
              </a:tabLst>
            </a:pPr>
            <a:r>
              <a:rPr sz="2800" b="1" spc="-50" dirty="0">
                <a:latin typeface="Calibri"/>
                <a:cs typeface="Calibri"/>
              </a:rPr>
              <a:t>7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3446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3693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3666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2849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83346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178053"/>
            <a:ext cx="766635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Calculation</a:t>
            </a:r>
            <a:r>
              <a:rPr sz="32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Parity</a:t>
            </a:r>
            <a:r>
              <a:rPr sz="3200" b="1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32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Let’s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take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(7,4)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2063" y="2249423"/>
            <a:ext cx="7702550" cy="589915"/>
            <a:chOff x="512063" y="2249423"/>
            <a:chExt cx="7702550" cy="589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3" y="2249423"/>
              <a:ext cx="1100328" cy="589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2391" y="2249423"/>
              <a:ext cx="1100328" cy="5897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2719" y="2249423"/>
              <a:ext cx="1100328" cy="5897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3048" y="2249423"/>
              <a:ext cx="1100327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3375" y="2249423"/>
              <a:ext cx="1100327" cy="5897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3704" y="2249423"/>
              <a:ext cx="1100327" cy="5897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4032" y="2249423"/>
              <a:ext cx="1100327" cy="589788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08888" y="2246248"/>
          <a:ext cx="7703181" cy="58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1100455"/>
                <a:gridCol w="1100455"/>
                <a:gridCol w="1100454"/>
                <a:gridCol w="1100454"/>
                <a:gridCol w="1100454"/>
                <a:gridCol w="1100454"/>
              </a:tblGrid>
              <a:tr h="589280"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2E5496"/>
                          </a:solidFill>
                          <a:latin typeface="Calibri"/>
                          <a:cs typeface="Calibri"/>
                        </a:rPr>
                        <a:t>P4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2E5496"/>
                          </a:solidFill>
                          <a:latin typeface="Calibri"/>
                          <a:cs typeface="Calibri"/>
                        </a:rPr>
                        <a:t>P2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2E5496"/>
                          </a:solidFill>
                          <a:latin typeface="Calibri"/>
                          <a:cs typeface="Calibri"/>
                        </a:rPr>
                        <a:t>P1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35355" y="1305509"/>
            <a:ext cx="185293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5"/>
              </a:spcBef>
              <a:tabLst>
                <a:tab pos="1567180" algn="l"/>
              </a:tabLst>
            </a:pPr>
            <a:r>
              <a:rPr sz="2800" b="1" spc="-50" dirty="0">
                <a:latin typeface="Calibri"/>
                <a:cs typeface="Calibri"/>
              </a:rPr>
              <a:t>7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0481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730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70703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39885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0382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178053"/>
            <a:ext cx="938657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Generation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9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5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01101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given.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263" y="1100327"/>
            <a:ext cx="7703820" cy="588645"/>
            <a:chOff x="588263" y="1100327"/>
            <a:chExt cx="7703820" cy="588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3" y="1100327"/>
              <a:ext cx="1100328" cy="588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1" y="1100327"/>
              <a:ext cx="1101852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0443" y="1100327"/>
              <a:ext cx="1100328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0772" y="1100327"/>
              <a:ext cx="1100327" cy="588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1099" y="1100327"/>
              <a:ext cx="1100327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428" y="1100327"/>
              <a:ext cx="1100327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756" y="1100327"/>
              <a:ext cx="1100327" cy="588263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5088" y="1097152"/>
          <a:ext cx="9899010" cy="58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1101725"/>
                <a:gridCol w="1100455"/>
                <a:gridCol w="1100455"/>
                <a:gridCol w="1100454"/>
                <a:gridCol w="1100454"/>
                <a:gridCol w="1097279"/>
                <a:gridCol w="1097279"/>
                <a:gridCol w="1100454"/>
              </a:tblGrid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12775" y="155905"/>
            <a:ext cx="18529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R="16510" algn="r">
              <a:lnSpc>
                <a:spcPct val="100000"/>
              </a:lnSpc>
              <a:spcBef>
                <a:spcPts val="5"/>
              </a:spcBef>
              <a:tabLst>
                <a:tab pos="1149350" algn="l"/>
              </a:tabLst>
            </a:pPr>
            <a:r>
              <a:rPr sz="2800" b="1" spc="-50" dirty="0">
                <a:latin typeface="Calibri"/>
                <a:cs typeface="Calibri"/>
              </a:rPr>
              <a:t>9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8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7191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7439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9002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8184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1943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41126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91623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100327"/>
              <a:ext cx="1100327" cy="588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6316" y="1100327"/>
              <a:ext cx="1100327" cy="5882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5027" y="2449067"/>
            <a:ext cx="7702550" cy="588645"/>
            <a:chOff x="605027" y="2449067"/>
            <a:chExt cx="7702550" cy="588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27" y="2449067"/>
              <a:ext cx="1100328" cy="588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5355" y="2449067"/>
              <a:ext cx="1100328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683" y="2449067"/>
              <a:ext cx="1100328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6012" y="2449067"/>
              <a:ext cx="1100327" cy="588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6339" y="2449067"/>
              <a:ext cx="1100327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6668" y="2449067"/>
              <a:ext cx="1100328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6996" y="2449067"/>
              <a:ext cx="1100327" cy="588263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01852" y="2445892"/>
          <a:ext cx="9899010" cy="58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1100455"/>
                <a:gridCol w="1100455"/>
                <a:gridCol w="1100454"/>
                <a:gridCol w="1100454"/>
                <a:gridCol w="1100454"/>
                <a:gridCol w="1097279"/>
                <a:gridCol w="1097279"/>
                <a:gridCol w="1101725"/>
              </a:tblGrid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56438" y="178053"/>
            <a:ext cx="11678920" cy="2205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Error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Detection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and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Correction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by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per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00110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110.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endParaRPr sz="2400">
              <a:latin typeface="Calibri"/>
              <a:cs typeface="Calibri"/>
            </a:endParaRPr>
          </a:p>
          <a:p>
            <a:pPr marR="9513570" algn="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  <a:p>
            <a:pPr marR="9558655" algn="r">
              <a:lnSpc>
                <a:spcPct val="100000"/>
              </a:lnSpc>
              <a:spcBef>
                <a:spcPts val="790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L="770255">
              <a:lnSpc>
                <a:spcPct val="100000"/>
              </a:lnSpc>
              <a:tabLst>
                <a:tab pos="1920875" algn="l"/>
                <a:tab pos="2990215" algn="l"/>
                <a:tab pos="4061460" algn="l"/>
                <a:tab pos="5213350" algn="l"/>
                <a:tab pos="6283325" algn="l"/>
                <a:tab pos="7443470" algn="l"/>
                <a:tab pos="8512810" algn="l"/>
                <a:tab pos="9664065" algn="l"/>
              </a:tabLst>
            </a:pPr>
            <a:r>
              <a:rPr sz="2800" b="1" spc="-50" dirty="0">
                <a:latin typeface="Calibri"/>
                <a:cs typeface="Calibri"/>
              </a:rPr>
              <a:t>9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8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7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6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5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4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3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2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1228" y="2449067"/>
              <a:ext cx="1100327" cy="588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1556" y="2449067"/>
              <a:ext cx="1101852" cy="588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1823" y="644651"/>
            <a:ext cx="9215755" cy="3126105"/>
            <a:chOff x="2401823" y="644651"/>
            <a:chExt cx="9215755" cy="3126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1823" y="644651"/>
              <a:ext cx="1024127" cy="588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5951" y="644651"/>
              <a:ext cx="1025651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1603" y="644651"/>
              <a:ext cx="1024127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5731" y="644651"/>
              <a:ext cx="1024127" cy="588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9859" y="644651"/>
              <a:ext cx="1024128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3988" y="644651"/>
              <a:ext cx="1025651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9" y="644651"/>
              <a:ext cx="1024127" cy="588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9195" y="644651"/>
              <a:ext cx="1024127" cy="588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23" y="644651"/>
              <a:ext cx="1024127" cy="5882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1823" y="1912619"/>
              <a:ext cx="1024127" cy="588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5951" y="1912619"/>
              <a:ext cx="1025651" cy="588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1603" y="1912619"/>
              <a:ext cx="1024127" cy="588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5731" y="1912619"/>
              <a:ext cx="1024127" cy="5882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9859" y="1912619"/>
              <a:ext cx="1024128" cy="5882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3988" y="1912619"/>
              <a:ext cx="1025651" cy="5882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9639" y="1912619"/>
              <a:ext cx="1024127" cy="5882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9195" y="1912619"/>
              <a:ext cx="1024127" cy="588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93323" y="1912619"/>
              <a:ext cx="1024127" cy="588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823" y="3180587"/>
              <a:ext cx="1024127" cy="5897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5951" y="3180587"/>
              <a:ext cx="1025651" cy="58978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1603" y="3180587"/>
              <a:ext cx="1024127" cy="58978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5731" y="3180587"/>
              <a:ext cx="1024127" cy="58978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99859" y="3180587"/>
              <a:ext cx="1024128" cy="5897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3988" y="3180587"/>
              <a:ext cx="1025651" cy="58978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9639" y="3180587"/>
              <a:ext cx="1024127" cy="589788"/>
            </a:xfrm>
            <a:prstGeom prst="rect">
              <a:avLst/>
            </a:prstGeom>
          </p:spPr>
        </p:pic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398648" y="3177413"/>
          <a:ext cx="9215753" cy="58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/>
                <a:gridCol w="1025525"/>
                <a:gridCol w="1024255"/>
                <a:gridCol w="1024255"/>
                <a:gridCol w="1024254"/>
                <a:gridCol w="1025525"/>
                <a:gridCol w="1021715"/>
                <a:gridCol w="1021715"/>
                <a:gridCol w="1024254"/>
              </a:tblGrid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398648" y="219963"/>
          <a:ext cx="9215753" cy="291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/>
                <a:gridCol w="1025525"/>
                <a:gridCol w="1024255"/>
                <a:gridCol w="1024255"/>
                <a:gridCol w="1024254"/>
                <a:gridCol w="1025525"/>
                <a:gridCol w="1021715"/>
                <a:gridCol w="1021715"/>
                <a:gridCol w="1024254"/>
              </a:tblGrid>
              <a:tr h="424180">
                <a:tc>
                  <a:txBody>
                    <a:bodyPr/>
                    <a:lstStyle/>
                    <a:p>
                      <a:pPr marR="366395" algn="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30" name="object 3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69195" y="3180588"/>
              <a:ext cx="1024127" cy="58978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3323" y="3180588"/>
              <a:ext cx="1024127" cy="5897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250</Words>
  <Application>Microsoft Office PowerPoint</Application>
  <PresentationFormat>Custom</PresentationFormat>
  <Paragraphs>87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Hamming Code</vt:lpstr>
      <vt:lpstr>Hamming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CSE1</cp:lastModifiedBy>
  <cp:revision>4</cp:revision>
  <dcterms:created xsi:type="dcterms:W3CDTF">2026-02-16T15:48:50Z</dcterms:created>
  <dcterms:modified xsi:type="dcterms:W3CDTF">2026-02-16T19:57:15Z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