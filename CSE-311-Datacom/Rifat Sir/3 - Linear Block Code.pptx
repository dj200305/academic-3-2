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97" r:id="rId2"/>
    <p:sldId id="279" r:id="rId3"/>
    <p:sldId id="298" r:id="rId4"/>
    <p:sldId id="281" r:id="rId5"/>
    <p:sldId id="282" r:id="rId6"/>
    <p:sldId id="283" r:id="rId7"/>
    <p:sldId id="284" r:id="rId8"/>
    <p:sldId id="285" r:id="rId9"/>
    <p:sldId id="286" r:id="rId10"/>
    <p:sldId id="287" r:id="rId11"/>
    <p:sldId id="288" r:id="rId12"/>
    <p:sldId id="299" r:id="rId13"/>
    <p:sldId id="300" r:id="rId14"/>
    <p:sldId id="289" r:id="rId15"/>
    <p:sldId id="290" r:id="rId16"/>
    <p:sldId id="291" r:id="rId17"/>
    <p:sldId id="292" r:id="rId18"/>
    <p:sldId id="293" r:id="rId19"/>
    <p:sldId id="294" r:id="rId20"/>
    <p:sldId id="295" r:id="rId21"/>
    <p:sldId id="296" r:id="rId22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0" d="100"/>
          <a:sy n="80" d="100"/>
        </p:scale>
        <p:origin x="754" y="5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98221" y="48260"/>
            <a:ext cx="11800205" cy="7264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 u="sng">
                <a:solidFill>
                  <a:srgbClr val="843B0B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 u="sng">
                <a:solidFill>
                  <a:srgbClr val="843B0B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 u="sng">
                <a:solidFill>
                  <a:srgbClr val="843B0B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2/26/2026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 u="sng">
                <a:solidFill>
                  <a:srgbClr val="843B0B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2/26/2026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2/26/2026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74142" y="49530"/>
            <a:ext cx="11843715" cy="5137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 u="sng">
                <a:solidFill>
                  <a:srgbClr val="843B0B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86639" y="1157605"/>
            <a:ext cx="11905919" cy="41151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rrahman007.buet.ac.bd/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8221" y="1559560"/>
            <a:ext cx="11800205" cy="677108"/>
          </a:xfrm>
        </p:spPr>
        <p:txBody>
          <a:bodyPr/>
          <a:lstStyle/>
          <a:p>
            <a:pPr algn="ctr"/>
            <a:r>
              <a:rPr lang="en-US" sz="4400" u="none" dirty="0"/>
              <a:t>Linear Block Code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4"/>
          </p:nvPr>
        </p:nvSpPr>
        <p:spPr>
          <a:xfrm>
            <a:off x="1828800" y="3352800"/>
            <a:ext cx="8534400" cy="2215991"/>
          </a:xfrm>
        </p:spPr>
        <p:txBody>
          <a:bodyPr/>
          <a:lstStyle/>
          <a:p>
            <a:pPr algn="ctr"/>
            <a:r>
              <a:rPr lang="en-US" dirty="0"/>
              <a:t>Prepared by</a:t>
            </a:r>
          </a:p>
          <a:p>
            <a:pPr algn="ctr"/>
            <a:r>
              <a:rPr lang="en-US" dirty="0"/>
              <a:t>Prof. Hitesh </a:t>
            </a:r>
            <a:r>
              <a:rPr lang="en-US" dirty="0" err="1"/>
              <a:t>Dholakiya</a:t>
            </a:r>
            <a:endParaRPr lang="en-US" dirty="0"/>
          </a:p>
          <a:p>
            <a:pPr algn="ctr"/>
            <a:endParaRPr lang="en-US" dirty="0"/>
          </a:p>
          <a:p>
            <a:pPr algn="ctr"/>
            <a:r>
              <a:rPr lang="en-US" dirty="0"/>
              <a:t>Modified by</a:t>
            </a:r>
          </a:p>
          <a:p>
            <a:pPr algn="ctr"/>
            <a:r>
              <a:rPr lang="en-US" dirty="0" err="1"/>
              <a:t>Rifat</a:t>
            </a:r>
            <a:r>
              <a:rPr lang="en-US" dirty="0"/>
              <a:t> </a:t>
            </a:r>
            <a:r>
              <a:rPr lang="en-US" dirty="0" err="1"/>
              <a:t>Rahman</a:t>
            </a:r>
            <a:endParaRPr lang="en-US" dirty="0"/>
          </a:p>
          <a:p>
            <a:pPr algn="ctr"/>
            <a:r>
              <a:rPr lang="en-US" dirty="0"/>
              <a:t>Assistant Professor</a:t>
            </a:r>
          </a:p>
          <a:p>
            <a:pPr algn="ctr"/>
            <a:r>
              <a:rPr lang="en-US" dirty="0"/>
              <a:t>Institute of Appropriate Technology, BUET</a:t>
            </a:r>
          </a:p>
          <a:p>
            <a:pPr algn="ctr"/>
            <a:r>
              <a:rPr lang="en-US" dirty="0">
                <a:hlinkClick r:id="rId2"/>
              </a:rPr>
              <a:t>https://rrahman007.buet.ac.bd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09372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08529" y="-62357"/>
            <a:ext cx="6776084" cy="1031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600" u="none" spc="-145" dirty="0">
                <a:solidFill>
                  <a:srgbClr val="006600"/>
                </a:solidFill>
                <a:latin typeface="Arial"/>
                <a:cs typeface="Arial"/>
              </a:rPr>
              <a:t>Linear</a:t>
            </a:r>
            <a:r>
              <a:rPr sz="6600" u="none" spc="-305" dirty="0">
                <a:solidFill>
                  <a:srgbClr val="006600"/>
                </a:solidFill>
                <a:latin typeface="Arial"/>
                <a:cs typeface="Arial"/>
              </a:rPr>
              <a:t> </a:t>
            </a:r>
            <a:r>
              <a:rPr sz="6600" u="none" spc="-400" dirty="0">
                <a:solidFill>
                  <a:srgbClr val="006600"/>
                </a:solidFill>
                <a:latin typeface="Arial"/>
                <a:cs typeface="Arial"/>
              </a:rPr>
              <a:t>Block</a:t>
            </a:r>
            <a:r>
              <a:rPr sz="6600" u="none" spc="-185" dirty="0">
                <a:solidFill>
                  <a:srgbClr val="006600"/>
                </a:solidFill>
                <a:latin typeface="Arial"/>
                <a:cs typeface="Arial"/>
              </a:rPr>
              <a:t> </a:t>
            </a:r>
            <a:r>
              <a:rPr sz="6600" u="none" spc="-475" dirty="0">
                <a:solidFill>
                  <a:srgbClr val="006600"/>
                </a:solidFill>
                <a:latin typeface="Arial"/>
                <a:cs typeface="Arial"/>
              </a:rPr>
              <a:t>Code</a:t>
            </a:r>
            <a:endParaRPr sz="6600" dirty="0">
              <a:latin typeface="Arial"/>
              <a:cs typeface="Arial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object 3"/>
              <p:cNvSpPr txBox="1"/>
              <p:nvPr/>
            </p:nvSpPr>
            <p:spPr>
              <a:xfrm>
                <a:off x="174142" y="811225"/>
                <a:ext cx="11805285" cy="3867084"/>
              </a:xfrm>
              <a:prstGeom prst="rect">
                <a:avLst/>
              </a:prstGeom>
            </p:spPr>
            <p:txBody>
              <a:bodyPr vert="horz" wrap="square" lIns="0" tIns="13335" rIns="0" bIns="0" rtlCol="0">
                <a:spAutoFit/>
              </a:bodyPr>
              <a:lstStyle/>
              <a:p>
                <a:pPr marL="12700">
                  <a:lnSpc>
                    <a:spcPct val="100000"/>
                  </a:lnSpc>
                  <a:spcBef>
                    <a:spcPts val="105"/>
                  </a:spcBef>
                </a:pPr>
                <a:r>
                  <a:rPr lang="en-US" sz="3200" b="1" u="sng" dirty="0">
                    <a:solidFill>
                      <a:srgbClr val="843B0B"/>
                    </a:solidFill>
                    <a:uFill>
                      <a:solidFill>
                        <a:srgbClr val="843B0B"/>
                      </a:solidFill>
                    </a:uFill>
                    <a:latin typeface="Calibri"/>
                    <a:cs typeface="Calibri"/>
                  </a:rPr>
                  <a:t>Definition</a:t>
                </a:r>
                <a:r>
                  <a:rPr lang="en-US" sz="3200" b="1" u="sng" spc="-40" dirty="0">
                    <a:solidFill>
                      <a:srgbClr val="843B0B"/>
                    </a:solidFill>
                    <a:uFill>
                      <a:solidFill>
                        <a:srgbClr val="843B0B"/>
                      </a:solidFill>
                    </a:uFill>
                    <a:latin typeface="Calibri"/>
                    <a:cs typeface="Calibri"/>
                  </a:rPr>
                  <a:t> </a:t>
                </a:r>
                <a:r>
                  <a:rPr lang="en-US" sz="3200" b="1" u="sng" dirty="0">
                    <a:solidFill>
                      <a:srgbClr val="843B0B"/>
                    </a:solidFill>
                    <a:uFill>
                      <a:solidFill>
                        <a:srgbClr val="843B0B"/>
                      </a:solidFill>
                    </a:uFill>
                    <a:latin typeface="Calibri"/>
                    <a:cs typeface="Calibri"/>
                  </a:rPr>
                  <a:t>of</a:t>
                </a:r>
                <a:r>
                  <a:rPr lang="en-US" sz="3200" b="1" u="sng" spc="-30" dirty="0">
                    <a:solidFill>
                      <a:srgbClr val="843B0B"/>
                    </a:solidFill>
                    <a:uFill>
                      <a:solidFill>
                        <a:srgbClr val="843B0B"/>
                      </a:solidFill>
                    </a:uFill>
                    <a:latin typeface="Calibri"/>
                    <a:cs typeface="Calibri"/>
                  </a:rPr>
                  <a:t> </a:t>
                </a:r>
                <a:r>
                  <a:rPr lang="en-US" sz="3200" b="1" u="sng" dirty="0">
                    <a:solidFill>
                      <a:srgbClr val="843B0B"/>
                    </a:solidFill>
                    <a:uFill>
                      <a:solidFill>
                        <a:srgbClr val="843B0B"/>
                      </a:solidFill>
                    </a:uFill>
                    <a:latin typeface="Calibri"/>
                    <a:cs typeface="Calibri"/>
                  </a:rPr>
                  <a:t>Linear</a:t>
                </a:r>
                <a:r>
                  <a:rPr lang="en-US" sz="3200" b="1" u="sng" spc="-45" dirty="0">
                    <a:solidFill>
                      <a:srgbClr val="843B0B"/>
                    </a:solidFill>
                    <a:uFill>
                      <a:solidFill>
                        <a:srgbClr val="843B0B"/>
                      </a:solidFill>
                    </a:uFill>
                    <a:latin typeface="Calibri"/>
                    <a:cs typeface="Calibri"/>
                  </a:rPr>
                  <a:t> </a:t>
                </a:r>
                <a:r>
                  <a:rPr lang="en-US" sz="3200" b="1" u="sng" dirty="0">
                    <a:solidFill>
                      <a:srgbClr val="843B0B"/>
                    </a:solidFill>
                    <a:uFill>
                      <a:solidFill>
                        <a:srgbClr val="843B0B"/>
                      </a:solidFill>
                    </a:uFill>
                    <a:latin typeface="Calibri"/>
                    <a:cs typeface="Calibri"/>
                  </a:rPr>
                  <a:t>Block</a:t>
                </a:r>
                <a:r>
                  <a:rPr lang="en-US" sz="3200" b="1" u="sng" spc="-45" dirty="0">
                    <a:solidFill>
                      <a:srgbClr val="843B0B"/>
                    </a:solidFill>
                    <a:uFill>
                      <a:solidFill>
                        <a:srgbClr val="843B0B"/>
                      </a:solidFill>
                    </a:uFill>
                    <a:latin typeface="Calibri"/>
                    <a:cs typeface="Calibri"/>
                  </a:rPr>
                  <a:t> </a:t>
                </a:r>
                <a:r>
                  <a:rPr lang="en-US" sz="3200" b="1" u="sng" spc="-20" dirty="0">
                    <a:solidFill>
                      <a:srgbClr val="843B0B"/>
                    </a:solidFill>
                    <a:uFill>
                      <a:solidFill>
                        <a:srgbClr val="843B0B"/>
                      </a:solidFill>
                    </a:uFill>
                    <a:latin typeface="Calibri"/>
                    <a:cs typeface="Calibri"/>
                  </a:rPr>
                  <a:t>Code</a:t>
                </a:r>
                <a:endParaRPr lang="en-US" sz="3200" dirty="0">
                  <a:latin typeface="Calibri"/>
                  <a:cs typeface="Calibri"/>
                </a:endParaRPr>
              </a:p>
              <a:p>
                <a:pPr marL="520065" marR="5080" indent="-457200">
                  <a:lnSpc>
                    <a:spcPct val="100000"/>
                  </a:lnSpc>
                  <a:spcBef>
                    <a:spcPts val="55"/>
                  </a:spcBef>
                  <a:buFont typeface="Wingdings"/>
                  <a:buChar char=""/>
                  <a:tabLst>
                    <a:tab pos="520065" algn="l"/>
                  </a:tabLst>
                </a:pPr>
                <a:r>
                  <a:rPr lang="en-US" sz="2400" b="1" dirty="0">
                    <a:solidFill>
                      <a:srgbClr val="6F2F9F"/>
                    </a:solidFill>
                    <a:latin typeface="Calibri"/>
                    <a:cs typeface="Calibri"/>
                  </a:rPr>
                  <a:t>A</a:t>
                </a:r>
                <a:r>
                  <a:rPr lang="en-US" sz="2400" b="1" spc="130" dirty="0">
                    <a:solidFill>
                      <a:srgbClr val="6F2F9F"/>
                    </a:solidFill>
                    <a:latin typeface="Calibri"/>
                    <a:cs typeface="Calibri"/>
                  </a:rPr>
                  <a:t> </a:t>
                </a:r>
                <a:r>
                  <a:rPr lang="en-US" sz="2400" b="1" dirty="0">
                    <a:solidFill>
                      <a:srgbClr val="6F2F9F"/>
                    </a:solidFill>
                    <a:latin typeface="Calibri"/>
                    <a:cs typeface="Calibri"/>
                  </a:rPr>
                  <a:t>block</a:t>
                </a:r>
                <a:r>
                  <a:rPr lang="en-US" sz="2400" b="1" spc="120" dirty="0">
                    <a:solidFill>
                      <a:srgbClr val="6F2F9F"/>
                    </a:solidFill>
                    <a:latin typeface="Calibri"/>
                    <a:cs typeface="Calibri"/>
                  </a:rPr>
                  <a:t> </a:t>
                </a:r>
                <a:r>
                  <a:rPr lang="en-US" sz="2400" b="1" dirty="0">
                    <a:solidFill>
                      <a:srgbClr val="6F2F9F"/>
                    </a:solidFill>
                    <a:latin typeface="Calibri"/>
                    <a:cs typeface="Calibri"/>
                  </a:rPr>
                  <a:t>code</a:t>
                </a:r>
                <a:r>
                  <a:rPr lang="en-US" sz="2400" b="1" spc="135" dirty="0">
                    <a:solidFill>
                      <a:srgbClr val="6F2F9F"/>
                    </a:solidFill>
                    <a:latin typeface="Calibri"/>
                    <a:cs typeface="Calibri"/>
                  </a:rPr>
                  <a:t> </a:t>
                </a:r>
                <a:r>
                  <a:rPr lang="en-US" sz="2400" b="1" dirty="0">
                    <a:solidFill>
                      <a:srgbClr val="6F2F9F"/>
                    </a:solidFill>
                    <a:latin typeface="Calibri"/>
                    <a:cs typeface="Calibri"/>
                  </a:rPr>
                  <a:t>is</a:t>
                </a:r>
                <a:r>
                  <a:rPr lang="en-US" sz="2400" b="1" spc="135" dirty="0">
                    <a:solidFill>
                      <a:srgbClr val="6F2F9F"/>
                    </a:solidFill>
                    <a:latin typeface="Calibri"/>
                    <a:cs typeface="Calibri"/>
                  </a:rPr>
                  <a:t> </a:t>
                </a:r>
                <a:r>
                  <a:rPr lang="en-US" sz="2400" b="1" dirty="0">
                    <a:solidFill>
                      <a:srgbClr val="6F2F9F"/>
                    </a:solidFill>
                    <a:latin typeface="Calibri"/>
                    <a:cs typeface="Calibri"/>
                  </a:rPr>
                  <a:t>said</a:t>
                </a:r>
                <a:r>
                  <a:rPr lang="en-US" sz="2400" b="1" spc="130" dirty="0">
                    <a:solidFill>
                      <a:srgbClr val="6F2F9F"/>
                    </a:solidFill>
                    <a:latin typeface="Calibri"/>
                    <a:cs typeface="Calibri"/>
                  </a:rPr>
                  <a:t> </a:t>
                </a:r>
                <a:r>
                  <a:rPr lang="en-US" sz="2400" b="1" dirty="0">
                    <a:solidFill>
                      <a:srgbClr val="6F2F9F"/>
                    </a:solidFill>
                    <a:latin typeface="Calibri"/>
                    <a:cs typeface="Calibri"/>
                  </a:rPr>
                  <a:t>to</a:t>
                </a:r>
                <a:r>
                  <a:rPr lang="en-US" sz="2400" b="1" spc="110" dirty="0">
                    <a:solidFill>
                      <a:srgbClr val="6F2F9F"/>
                    </a:solidFill>
                    <a:latin typeface="Calibri"/>
                    <a:cs typeface="Calibri"/>
                  </a:rPr>
                  <a:t> </a:t>
                </a:r>
                <a:r>
                  <a:rPr lang="en-US" sz="2400" b="1" dirty="0">
                    <a:solidFill>
                      <a:srgbClr val="6F2F9F"/>
                    </a:solidFill>
                    <a:latin typeface="Calibri"/>
                    <a:cs typeface="Calibri"/>
                  </a:rPr>
                  <a:t>be</a:t>
                </a:r>
                <a:r>
                  <a:rPr lang="en-US" sz="2400" b="1" spc="140" dirty="0">
                    <a:solidFill>
                      <a:srgbClr val="6F2F9F"/>
                    </a:solidFill>
                    <a:latin typeface="Calibri"/>
                    <a:cs typeface="Calibri"/>
                  </a:rPr>
                  <a:t> </a:t>
                </a:r>
                <a:r>
                  <a:rPr lang="en-US" sz="2400" b="1" dirty="0">
                    <a:solidFill>
                      <a:srgbClr val="6F2F9F"/>
                    </a:solidFill>
                    <a:latin typeface="Calibri"/>
                    <a:cs typeface="Calibri"/>
                  </a:rPr>
                  <a:t>a</a:t>
                </a:r>
                <a:r>
                  <a:rPr lang="en-US" sz="2400" b="1" spc="135" dirty="0">
                    <a:solidFill>
                      <a:srgbClr val="6F2F9F"/>
                    </a:solidFill>
                    <a:latin typeface="Calibri"/>
                    <a:cs typeface="Calibri"/>
                  </a:rPr>
                  <a:t> </a:t>
                </a:r>
                <a:r>
                  <a:rPr lang="en-US" sz="2400" b="1" dirty="0">
                    <a:solidFill>
                      <a:srgbClr val="6F2F9F"/>
                    </a:solidFill>
                    <a:latin typeface="Calibri"/>
                    <a:cs typeface="Calibri"/>
                  </a:rPr>
                  <a:t>linear</a:t>
                </a:r>
                <a:r>
                  <a:rPr lang="en-US" sz="2400" b="1" spc="105" dirty="0">
                    <a:solidFill>
                      <a:srgbClr val="6F2F9F"/>
                    </a:solidFill>
                    <a:latin typeface="Calibri"/>
                    <a:cs typeface="Calibri"/>
                  </a:rPr>
                  <a:t> </a:t>
                </a:r>
                <a:r>
                  <a:rPr lang="en-US" sz="2400" b="1" dirty="0">
                    <a:solidFill>
                      <a:srgbClr val="6F2F9F"/>
                    </a:solidFill>
                    <a:latin typeface="Calibri"/>
                    <a:cs typeface="Calibri"/>
                  </a:rPr>
                  <a:t>block</a:t>
                </a:r>
                <a:r>
                  <a:rPr lang="en-US" sz="2400" b="1" spc="110" dirty="0">
                    <a:solidFill>
                      <a:srgbClr val="6F2F9F"/>
                    </a:solidFill>
                    <a:latin typeface="Calibri"/>
                    <a:cs typeface="Calibri"/>
                  </a:rPr>
                  <a:t> </a:t>
                </a:r>
                <a:r>
                  <a:rPr lang="en-US" sz="2400" b="1" dirty="0">
                    <a:solidFill>
                      <a:srgbClr val="6F2F9F"/>
                    </a:solidFill>
                    <a:latin typeface="Calibri"/>
                    <a:cs typeface="Calibri"/>
                  </a:rPr>
                  <a:t>code</a:t>
                </a:r>
                <a:r>
                  <a:rPr lang="en-US" sz="2400" b="1" spc="130" dirty="0">
                    <a:solidFill>
                      <a:srgbClr val="6F2F9F"/>
                    </a:solidFill>
                    <a:latin typeface="Calibri"/>
                    <a:cs typeface="Calibri"/>
                  </a:rPr>
                  <a:t> </a:t>
                </a:r>
                <a:r>
                  <a:rPr lang="en-US" sz="2400" b="1" dirty="0">
                    <a:solidFill>
                      <a:srgbClr val="6F2F9F"/>
                    </a:solidFill>
                    <a:latin typeface="Calibri"/>
                    <a:cs typeface="Calibri"/>
                  </a:rPr>
                  <a:t>if</a:t>
                </a:r>
                <a:r>
                  <a:rPr lang="en-US" sz="2400" b="1" spc="130" dirty="0">
                    <a:solidFill>
                      <a:srgbClr val="6F2F9F"/>
                    </a:solidFill>
                    <a:latin typeface="Calibri"/>
                    <a:cs typeface="Calibri"/>
                  </a:rPr>
                  <a:t> </a:t>
                </a:r>
                <a:r>
                  <a:rPr lang="en-US" sz="2400" b="1" dirty="0">
                    <a:solidFill>
                      <a:srgbClr val="6F2F9F"/>
                    </a:solidFill>
                    <a:latin typeface="Calibri"/>
                    <a:cs typeface="Calibri"/>
                  </a:rPr>
                  <a:t>its</a:t>
                </a:r>
                <a:r>
                  <a:rPr lang="en-US" sz="2400" b="1" spc="135" dirty="0">
                    <a:solidFill>
                      <a:srgbClr val="6F2F9F"/>
                    </a:solidFill>
                    <a:latin typeface="Calibri"/>
                    <a:cs typeface="Calibri"/>
                  </a:rPr>
                  <a:t> </a:t>
                </a:r>
                <a:r>
                  <a:rPr lang="en-US" sz="2400" b="1" dirty="0">
                    <a:solidFill>
                      <a:srgbClr val="6F2F9F"/>
                    </a:solidFill>
                    <a:latin typeface="Calibri"/>
                    <a:cs typeface="Calibri"/>
                  </a:rPr>
                  <a:t>codewords</a:t>
                </a:r>
                <a:r>
                  <a:rPr lang="en-US" sz="2400" b="1" spc="135" dirty="0">
                    <a:solidFill>
                      <a:srgbClr val="6F2F9F"/>
                    </a:solidFill>
                    <a:latin typeface="Calibri"/>
                    <a:cs typeface="Calibri"/>
                  </a:rPr>
                  <a:t> </a:t>
                </a:r>
                <a:r>
                  <a:rPr lang="en-US" sz="2400" b="1" dirty="0">
                    <a:solidFill>
                      <a:srgbClr val="6F2F9F"/>
                    </a:solidFill>
                    <a:latin typeface="Calibri"/>
                    <a:cs typeface="Calibri"/>
                  </a:rPr>
                  <a:t>satisfy</a:t>
                </a:r>
                <a:r>
                  <a:rPr lang="en-US" sz="2400" b="1" spc="135" dirty="0">
                    <a:solidFill>
                      <a:srgbClr val="6F2F9F"/>
                    </a:solidFill>
                    <a:latin typeface="Calibri"/>
                    <a:cs typeface="Calibri"/>
                  </a:rPr>
                  <a:t> </a:t>
                </a:r>
                <a:r>
                  <a:rPr lang="en-US" sz="2400" b="1" dirty="0">
                    <a:solidFill>
                      <a:srgbClr val="6F2F9F"/>
                    </a:solidFill>
                    <a:latin typeface="Calibri"/>
                    <a:cs typeface="Calibri"/>
                  </a:rPr>
                  <a:t>the</a:t>
                </a:r>
                <a:r>
                  <a:rPr lang="en-US" sz="2400" b="1" spc="135" dirty="0">
                    <a:solidFill>
                      <a:srgbClr val="6F2F9F"/>
                    </a:solidFill>
                    <a:latin typeface="Calibri"/>
                    <a:cs typeface="Calibri"/>
                  </a:rPr>
                  <a:t> </a:t>
                </a:r>
                <a:r>
                  <a:rPr lang="en-US" sz="2400" b="1" dirty="0">
                    <a:solidFill>
                      <a:srgbClr val="6F2F9F"/>
                    </a:solidFill>
                    <a:latin typeface="Calibri"/>
                    <a:cs typeface="Calibri"/>
                  </a:rPr>
                  <a:t>condition</a:t>
                </a:r>
                <a:r>
                  <a:rPr lang="en-US" sz="2400" b="1" spc="130" dirty="0">
                    <a:solidFill>
                      <a:srgbClr val="6F2F9F"/>
                    </a:solidFill>
                    <a:latin typeface="Calibri"/>
                    <a:cs typeface="Calibri"/>
                  </a:rPr>
                  <a:t> </a:t>
                </a:r>
                <a:r>
                  <a:rPr lang="en-US" sz="2400" b="1" spc="-20" dirty="0">
                    <a:solidFill>
                      <a:srgbClr val="6F2F9F"/>
                    </a:solidFill>
                    <a:latin typeface="Calibri"/>
                    <a:cs typeface="Calibri"/>
                  </a:rPr>
                  <a:t>that </a:t>
                </a:r>
                <a:r>
                  <a:rPr lang="en-US" sz="2400" b="1" dirty="0">
                    <a:solidFill>
                      <a:srgbClr val="6F2F9F"/>
                    </a:solidFill>
                    <a:latin typeface="Calibri"/>
                    <a:cs typeface="Calibri"/>
                  </a:rPr>
                  <a:t>the</a:t>
                </a:r>
                <a:r>
                  <a:rPr lang="en-US" sz="2400" b="1" spc="-35" dirty="0">
                    <a:solidFill>
                      <a:srgbClr val="6F2F9F"/>
                    </a:solidFill>
                    <a:latin typeface="Calibri"/>
                    <a:cs typeface="Calibri"/>
                  </a:rPr>
                  <a:t> </a:t>
                </a:r>
                <a:r>
                  <a:rPr lang="en-US" sz="2400" b="1" dirty="0">
                    <a:solidFill>
                      <a:srgbClr val="6F2F9F"/>
                    </a:solidFill>
                    <a:latin typeface="Calibri"/>
                    <a:cs typeface="Calibri"/>
                  </a:rPr>
                  <a:t>sum</a:t>
                </a:r>
                <a:r>
                  <a:rPr lang="en-US" sz="2400" b="1" spc="-50" dirty="0">
                    <a:solidFill>
                      <a:srgbClr val="6F2F9F"/>
                    </a:solidFill>
                    <a:latin typeface="Calibri"/>
                    <a:cs typeface="Calibri"/>
                  </a:rPr>
                  <a:t> </a:t>
                </a:r>
                <a:r>
                  <a:rPr lang="en-US" sz="2400" b="1" spc="-10" dirty="0">
                    <a:solidFill>
                      <a:srgbClr val="6F2F9F"/>
                    </a:solidFill>
                    <a:latin typeface="Calibri"/>
                    <a:cs typeface="Calibri"/>
                  </a:rPr>
                  <a:t>(modulo-</a:t>
                </a:r>
                <a:r>
                  <a:rPr lang="en-US" sz="2400" b="1" dirty="0">
                    <a:solidFill>
                      <a:srgbClr val="6F2F9F"/>
                    </a:solidFill>
                    <a:latin typeface="Calibri"/>
                    <a:cs typeface="Calibri"/>
                  </a:rPr>
                  <a:t>2</a:t>
                </a:r>
                <a:r>
                  <a:rPr lang="en-US" sz="2400" b="1" spc="-65" dirty="0">
                    <a:solidFill>
                      <a:srgbClr val="6F2F9F"/>
                    </a:solidFill>
                    <a:latin typeface="Calibri"/>
                    <a:cs typeface="Calibri"/>
                  </a:rPr>
                  <a:t> </a:t>
                </a:r>
                <a:r>
                  <a:rPr lang="en-US" sz="2400" b="1" dirty="0">
                    <a:solidFill>
                      <a:srgbClr val="6F2F9F"/>
                    </a:solidFill>
                    <a:latin typeface="Calibri"/>
                    <a:cs typeface="Calibri"/>
                  </a:rPr>
                  <a:t>addition)</a:t>
                </a:r>
                <a:r>
                  <a:rPr lang="en-US" sz="2400" b="1" spc="-45" dirty="0">
                    <a:solidFill>
                      <a:srgbClr val="6F2F9F"/>
                    </a:solidFill>
                    <a:latin typeface="Calibri"/>
                    <a:cs typeface="Calibri"/>
                  </a:rPr>
                  <a:t> </a:t>
                </a:r>
                <a:r>
                  <a:rPr lang="en-US" sz="2400" b="1" dirty="0">
                    <a:solidFill>
                      <a:srgbClr val="6F2F9F"/>
                    </a:solidFill>
                    <a:latin typeface="Calibri"/>
                    <a:cs typeface="Calibri"/>
                  </a:rPr>
                  <a:t>of</a:t>
                </a:r>
                <a:r>
                  <a:rPr lang="en-US" sz="2400" b="1" spc="-55" dirty="0">
                    <a:solidFill>
                      <a:srgbClr val="6F2F9F"/>
                    </a:solidFill>
                    <a:latin typeface="Calibri"/>
                    <a:cs typeface="Calibri"/>
                  </a:rPr>
                  <a:t> </a:t>
                </a:r>
                <a:r>
                  <a:rPr lang="en-US" sz="2400" b="1" dirty="0">
                    <a:solidFill>
                      <a:srgbClr val="6F2F9F"/>
                    </a:solidFill>
                    <a:latin typeface="Calibri"/>
                    <a:cs typeface="Calibri"/>
                  </a:rPr>
                  <a:t>any</a:t>
                </a:r>
                <a:r>
                  <a:rPr lang="en-US" sz="2400" b="1" spc="-45" dirty="0">
                    <a:solidFill>
                      <a:srgbClr val="6F2F9F"/>
                    </a:solidFill>
                    <a:latin typeface="Calibri"/>
                    <a:cs typeface="Calibri"/>
                  </a:rPr>
                  <a:t> </a:t>
                </a:r>
                <a:r>
                  <a:rPr lang="en-US" sz="2400" b="1" dirty="0">
                    <a:solidFill>
                      <a:srgbClr val="6F2F9F"/>
                    </a:solidFill>
                    <a:latin typeface="Calibri"/>
                    <a:cs typeface="Calibri"/>
                  </a:rPr>
                  <a:t>two</a:t>
                </a:r>
                <a:r>
                  <a:rPr lang="en-US" sz="2400" b="1" spc="-50" dirty="0">
                    <a:solidFill>
                      <a:srgbClr val="6F2F9F"/>
                    </a:solidFill>
                    <a:latin typeface="Calibri"/>
                    <a:cs typeface="Calibri"/>
                  </a:rPr>
                  <a:t> </a:t>
                </a:r>
                <a:r>
                  <a:rPr lang="en-US" sz="2400" b="1" spc="-10" dirty="0">
                    <a:solidFill>
                      <a:srgbClr val="6F2F9F"/>
                    </a:solidFill>
                    <a:latin typeface="Calibri"/>
                    <a:cs typeface="Calibri"/>
                  </a:rPr>
                  <a:t>codewords</a:t>
                </a:r>
                <a:r>
                  <a:rPr lang="en-US" sz="2400" b="1" spc="-55" dirty="0">
                    <a:solidFill>
                      <a:srgbClr val="6F2F9F"/>
                    </a:solidFill>
                    <a:latin typeface="Calibri"/>
                    <a:cs typeface="Calibri"/>
                  </a:rPr>
                  <a:t> </a:t>
                </a:r>
                <a:r>
                  <a:rPr lang="en-US" sz="2400" b="1" dirty="0">
                    <a:solidFill>
                      <a:srgbClr val="6F2F9F"/>
                    </a:solidFill>
                    <a:latin typeface="Calibri"/>
                    <a:cs typeface="Calibri"/>
                  </a:rPr>
                  <a:t>results</a:t>
                </a:r>
                <a:r>
                  <a:rPr lang="en-US" sz="2400" b="1" spc="-55" dirty="0">
                    <a:solidFill>
                      <a:srgbClr val="6F2F9F"/>
                    </a:solidFill>
                    <a:latin typeface="Calibri"/>
                    <a:cs typeface="Calibri"/>
                  </a:rPr>
                  <a:t> </a:t>
                </a:r>
                <a:r>
                  <a:rPr lang="en-US" sz="2400" b="1" dirty="0">
                    <a:solidFill>
                      <a:srgbClr val="6F2F9F"/>
                    </a:solidFill>
                    <a:latin typeface="Calibri"/>
                    <a:cs typeface="Calibri"/>
                  </a:rPr>
                  <a:t>in</a:t>
                </a:r>
                <a:r>
                  <a:rPr lang="en-US" sz="2400" b="1" spc="-55" dirty="0">
                    <a:solidFill>
                      <a:srgbClr val="6F2F9F"/>
                    </a:solidFill>
                    <a:latin typeface="Calibri"/>
                    <a:cs typeface="Calibri"/>
                  </a:rPr>
                  <a:t> </a:t>
                </a:r>
                <a:r>
                  <a:rPr lang="en-US" sz="2400" b="1" dirty="0">
                    <a:solidFill>
                      <a:srgbClr val="6F2F9F"/>
                    </a:solidFill>
                    <a:latin typeface="Calibri"/>
                    <a:cs typeface="Calibri"/>
                  </a:rPr>
                  <a:t>another</a:t>
                </a:r>
                <a:r>
                  <a:rPr lang="en-US" sz="2400" b="1" spc="-40" dirty="0">
                    <a:solidFill>
                      <a:srgbClr val="6F2F9F"/>
                    </a:solidFill>
                    <a:latin typeface="Calibri"/>
                    <a:cs typeface="Calibri"/>
                  </a:rPr>
                  <a:t> </a:t>
                </a:r>
                <a:r>
                  <a:rPr lang="en-US" sz="2400" b="1" dirty="0">
                    <a:solidFill>
                      <a:srgbClr val="6F2F9F"/>
                    </a:solidFill>
                    <a:latin typeface="Calibri"/>
                    <a:cs typeface="Calibri"/>
                  </a:rPr>
                  <a:t>valid</a:t>
                </a:r>
                <a:r>
                  <a:rPr lang="en-US" sz="2400" b="1" spc="-55" dirty="0">
                    <a:solidFill>
                      <a:srgbClr val="6F2F9F"/>
                    </a:solidFill>
                    <a:latin typeface="Calibri"/>
                    <a:cs typeface="Calibri"/>
                  </a:rPr>
                  <a:t> </a:t>
                </a:r>
                <a:r>
                  <a:rPr lang="en-US" sz="2400" b="1" spc="-10" dirty="0">
                    <a:solidFill>
                      <a:srgbClr val="6F2F9F"/>
                    </a:solidFill>
                    <a:latin typeface="Calibri"/>
                    <a:cs typeface="Calibri"/>
                  </a:rPr>
                  <a:t>codeword.</a:t>
                </a:r>
                <a:endParaRPr lang="en-US" sz="2400" dirty="0">
                  <a:latin typeface="Calibri"/>
                  <a:cs typeface="Calibri"/>
                </a:endParaRPr>
              </a:p>
              <a:p>
                <a:pPr marL="977265" lvl="1" indent="-457200">
                  <a:lnSpc>
                    <a:spcPct val="100000"/>
                  </a:lnSpc>
                  <a:buFont typeface="Wingdings"/>
                  <a:buChar char=""/>
                  <a:tabLst>
                    <a:tab pos="977265" algn="l"/>
                  </a:tabLst>
                </a:pPr>
                <a:r>
                  <a:rPr lang="en-US" sz="2400" b="1" dirty="0">
                    <a:solidFill>
                      <a:srgbClr val="006FC0"/>
                    </a:solidFill>
                    <a:latin typeface="Calibri"/>
                    <a:cs typeface="Calibri"/>
                  </a:rPr>
                  <a:t>Example:</a:t>
                </a:r>
                <a:r>
                  <a:rPr lang="en-US" sz="2400" b="1" spc="-55" dirty="0">
                    <a:solidFill>
                      <a:srgbClr val="006FC0"/>
                    </a:solidFill>
                    <a:latin typeface="Calibri"/>
                    <a:cs typeface="Calibri"/>
                  </a:rPr>
                  <a:t> </a:t>
                </a:r>
                <a:r>
                  <a:rPr lang="en-US" sz="2400" b="1" dirty="0">
                    <a:solidFill>
                      <a:srgbClr val="006FC0"/>
                    </a:solidFill>
                    <a:latin typeface="Calibri"/>
                    <a:cs typeface="Calibri"/>
                  </a:rPr>
                  <a:t>C</a:t>
                </a:r>
                <a:r>
                  <a:rPr lang="en-US" sz="1800" b="1" dirty="0">
                    <a:solidFill>
                      <a:srgbClr val="006FC0"/>
                    </a:solidFill>
                    <a:latin typeface="Calibri"/>
                    <a:cs typeface="Calibri"/>
                  </a:rPr>
                  <a:t>p</a:t>
                </a:r>
                <a:r>
                  <a:rPr lang="en-US" sz="1800" b="1" spc="95" dirty="0">
                    <a:solidFill>
                      <a:srgbClr val="006FC0"/>
                    </a:solidFill>
                    <a:latin typeface="Calibri"/>
                    <a:cs typeface="Calibri"/>
                  </a:rPr>
                  <a:t> </a:t>
                </a:r>
                <a:r>
                  <a:rPr lang="en-US" sz="2400" b="1" dirty="0">
                    <a:solidFill>
                      <a:srgbClr val="006FC0"/>
                    </a:solidFill>
                    <a:latin typeface="Calibri"/>
                    <a:cs typeface="Calibri"/>
                  </a:rPr>
                  <a:t>=</a:t>
                </a:r>
                <a:r>
                  <a:rPr lang="en-US" sz="2400" b="1" spc="-30" dirty="0">
                    <a:solidFill>
                      <a:srgbClr val="006FC0"/>
                    </a:solidFill>
                    <a:latin typeface="Calibri"/>
                    <a:cs typeface="Calibri"/>
                  </a:rPr>
                  <a:t> </a:t>
                </a:r>
                <a:r>
                  <a:rPr lang="en-US" sz="2400" b="1" dirty="0">
                    <a:solidFill>
                      <a:srgbClr val="006FC0"/>
                    </a:solidFill>
                    <a:latin typeface="Calibri"/>
                    <a:cs typeface="Calibri"/>
                  </a:rPr>
                  <a:t>C</a:t>
                </a:r>
                <a:r>
                  <a:rPr lang="en-US" sz="1800" b="1" dirty="0">
                    <a:solidFill>
                      <a:srgbClr val="006FC0"/>
                    </a:solidFill>
                    <a:latin typeface="Calibri"/>
                    <a:cs typeface="Calibri"/>
                  </a:rPr>
                  <a:t>i</a:t>
                </a:r>
                <a:r>
                  <a:rPr lang="en-US" sz="1800" b="1" spc="100" dirty="0">
                    <a:solidFill>
                      <a:srgbClr val="006FC0"/>
                    </a:solidFill>
                    <a:latin typeface="Calibri"/>
                    <a:cs typeface="Calibri"/>
                  </a:rPr>
                  <a:t> </a:t>
                </a:r>
                <a:r>
                  <a:rPr lang="en-US" sz="2400" b="1" dirty="0">
                    <a:solidFill>
                      <a:srgbClr val="006FC0"/>
                    </a:solidFill>
                    <a:latin typeface="Calibri"/>
                    <a:cs typeface="Calibri"/>
                  </a:rPr>
                  <a:t>+</a:t>
                </a:r>
                <a:r>
                  <a:rPr lang="en-US" sz="2400" b="1" spc="-30" dirty="0">
                    <a:solidFill>
                      <a:srgbClr val="006FC0"/>
                    </a:solidFill>
                    <a:latin typeface="Calibri"/>
                    <a:cs typeface="Calibri"/>
                  </a:rPr>
                  <a:t> </a:t>
                </a:r>
                <a:r>
                  <a:rPr lang="en-US" sz="2400" b="1" spc="-25" dirty="0">
                    <a:solidFill>
                      <a:srgbClr val="006FC0"/>
                    </a:solidFill>
                    <a:latin typeface="Calibri"/>
                    <a:cs typeface="Calibri"/>
                  </a:rPr>
                  <a:t>C</a:t>
                </a:r>
                <a:r>
                  <a:rPr lang="en-US" sz="1800" b="1" spc="-25" dirty="0">
                    <a:solidFill>
                      <a:srgbClr val="006FC0"/>
                    </a:solidFill>
                    <a:latin typeface="Calibri"/>
                    <a:cs typeface="Calibri"/>
                  </a:rPr>
                  <a:t>k</a:t>
                </a:r>
                <a:endParaRPr lang="en-US" sz="1800" dirty="0">
                  <a:latin typeface="Calibri"/>
                  <a:cs typeface="Calibri"/>
                </a:endParaRPr>
              </a:p>
              <a:p>
                <a:pPr marL="12700">
                  <a:lnSpc>
                    <a:spcPct val="100000"/>
                  </a:lnSpc>
                  <a:spcBef>
                    <a:spcPts val="640"/>
                  </a:spcBef>
                </a:pPr>
                <a:r>
                  <a:rPr lang="en-US" sz="3200" b="1" u="sng" dirty="0">
                    <a:solidFill>
                      <a:srgbClr val="843B0B"/>
                    </a:solidFill>
                    <a:uFill>
                      <a:solidFill>
                        <a:srgbClr val="843B0B"/>
                      </a:solidFill>
                    </a:uFill>
                    <a:latin typeface="Calibri"/>
                    <a:cs typeface="Calibri"/>
                  </a:rPr>
                  <a:t>Properties</a:t>
                </a:r>
                <a:r>
                  <a:rPr lang="en-US" sz="3200" b="1" u="sng" spc="-50" dirty="0">
                    <a:solidFill>
                      <a:srgbClr val="843B0B"/>
                    </a:solidFill>
                    <a:uFill>
                      <a:solidFill>
                        <a:srgbClr val="843B0B"/>
                      </a:solidFill>
                    </a:uFill>
                    <a:latin typeface="Calibri"/>
                    <a:cs typeface="Calibri"/>
                  </a:rPr>
                  <a:t> </a:t>
                </a:r>
                <a:r>
                  <a:rPr lang="en-US" sz="3200" b="1" u="sng" dirty="0">
                    <a:solidFill>
                      <a:srgbClr val="843B0B"/>
                    </a:solidFill>
                    <a:uFill>
                      <a:solidFill>
                        <a:srgbClr val="843B0B"/>
                      </a:solidFill>
                    </a:uFill>
                    <a:latin typeface="Calibri"/>
                    <a:cs typeface="Calibri"/>
                  </a:rPr>
                  <a:t>of</a:t>
                </a:r>
                <a:r>
                  <a:rPr lang="en-US" sz="3200" b="1" u="sng" spc="-35" dirty="0">
                    <a:solidFill>
                      <a:srgbClr val="843B0B"/>
                    </a:solidFill>
                    <a:uFill>
                      <a:solidFill>
                        <a:srgbClr val="843B0B"/>
                      </a:solidFill>
                    </a:uFill>
                    <a:latin typeface="Calibri"/>
                    <a:cs typeface="Calibri"/>
                  </a:rPr>
                  <a:t> </a:t>
                </a:r>
                <a:r>
                  <a:rPr lang="en-US" sz="3200" b="1" u="sng" dirty="0">
                    <a:solidFill>
                      <a:srgbClr val="843B0B"/>
                    </a:solidFill>
                    <a:uFill>
                      <a:solidFill>
                        <a:srgbClr val="843B0B"/>
                      </a:solidFill>
                    </a:uFill>
                    <a:latin typeface="Calibri"/>
                    <a:cs typeface="Calibri"/>
                  </a:rPr>
                  <a:t>Linear</a:t>
                </a:r>
                <a:r>
                  <a:rPr lang="en-US" sz="3200" b="1" u="sng" spc="-60" dirty="0">
                    <a:solidFill>
                      <a:srgbClr val="843B0B"/>
                    </a:solidFill>
                    <a:uFill>
                      <a:solidFill>
                        <a:srgbClr val="843B0B"/>
                      </a:solidFill>
                    </a:uFill>
                    <a:latin typeface="Calibri"/>
                    <a:cs typeface="Calibri"/>
                  </a:rPr>
                  <a:t> </a:t>
                </a:r>
                <a:r>
                  <a:rPr lang="en-US" sz="3200" b="1" u="sng" dirty="0">
                    <a:solidFill>
                      <a:srgbClr val="843B0B"/>
                    </a:solidFill>
                    <a:uFill>
                      <a:solidFill>
                        <a:srgbClr val="843B0B"/>
                      </a:solidFill>
                    </a:uFill>
                    <a:latin typeface="Calibri"/>
                    <a:cs typeface="Calibri"/>
                  </a:rPr>
                  <a:t>Block</a:t>
                </a:r>
                <a:r>
                  <a:rPr lang="en-US" sz="3200" b="1" u="sng" spc="-30" dirty="0">
                    <a:solidFill>
                      <a:srgbClr val="843B0B"/>
                    </a:solidFill>
                    <a:uFill>
                      <a:solidFill>
                        <a:srgbClr val="843B0B"/>
                      </a:solidFill>
                    </a:uFill>
                    <a:latin typeface="Calibri"/>
                    <a:cs typeface="Calibri"/>
                  </a:rPr>
                  <a:t> </a:t>
                </a:r>
                <a:r>
                  <a:rPr lang="en-US" sz="3200" b="1" u="sng" spc="-20" dirty="0">
                    <a:solidFill>
                      <a:srgbClr val="843B0B"/>
                    </a:solidFill>
                    <a:uFill>
                      <a:solidFill>
                        <a:srgbClr val="843B0B"/>
                      </a:solidFill>
                    </a:uFill>
                    <a:latin typeface="Calibri"/>
                    <a:cs typeface="Calibri"/>
                  </a:rPr>
                  <a:t>Code</a:t>
                </a:r>
                <a:endParaRPr lang="en-US" sz="3200" dirty="0">
                  <a:latin typeface="Calibri"/>
                  <a:cs typeface="Calibri"/>
                </a:endParaRPr>
              </a:p>
              <a:p>
                <a:pPr marL="520065" indent="-457200">
                  <a:lnSpc>
                    <a:spcPct val="100000"/>
                  </a:lnSpc>
                  <a:spcBef>
                    <a:spcPts val="170"/>
                  </a:spcBef>
                  <a:buAutoNum type="arabicPeriod"/>
                  <a:tabLst>
                    <a:tab pos="520065" algn="l"/>
                  </a:tabLst>
                </a:pPr>
                <a:r>
                  <a:rPr lang="en-US" sz="2400" b="1" dirty="0">
                    <a:solidFill>
                      <a:srgbClr val="385622"/>
                    </a:solidFill>
                    <a:latin typeface="Calibri"/>
                    <a:cs typeface="Calibri"/>
                  </a:rPr>
                  <a:t>The</a:t>
                </a:r>
                <a:r>
                  <a:rPr lang="en-US" sz="2400" b="1" spc="-40" dirty="0">
                    <a:solidFill>
                      <a:srgbClr val="385622"/>
                    </a:solidFill>
                    <a:latin typeface="Calibri"/>
                    <a:cs typeface="Calibri"/>
                  </a:rPr>
                  <a:t> </a:t>
                </a:r>
                <a:r>
                  <a:rPr lang="en-US" sz="2400" b="1" spc="-10" dirty="0">
                    <a:solidFill>
                      <a:srgbClr val="385622"/>
                    </a:solidFill>
                    <a:latin typeface="Calibri"/>
                    <a:cs typeface="Calibri"/>
                  </a:rPr>
                  <a:t>all-</a:t>
                </a:r>
                <a:r>
                  <a:rPr lang="en-US" sz="2400" b="1" dirty="0">
                    <a:solidFill>
                      <a:srgbClr val="385622"/>
                    </a:solidFill>
                    <a:latin typeface="Calibri"/>
                    <a:cs typeface="Calibri"/>
                  </a:rPr>
                  <a:t>zero</a:t>
                </a:r>
                <a:r>
                  <a:rPr lang="en-US" sz="2400" b="1" spc="-55" dirty="0">
                    <a:solidFill>
                      <a:srgbClr val="385622"/>
                    </a:solidFill>
                    <a:latin typeface="Calibri"/>
                    <a:cs typeface="Calibri"/>
                  </a:rPr>
                  <a:t> </a:t>
                </a:r>
                <a:r>
                  <a:rPr lang="en-US" sz="2400" b="1" dirty="0">
                    <a:solidFill>
                      <a:srgbClr val="385622"/>
                    </a:solidFill>
                    <a:latin typeface="Calibri"/>
                    <a:cs typeface="Calibri"/>
                  </a:rPr>
                  <a:t>word</a:t>
                </a:r>
                <a:r>
                  <a:rPr lang="en-US" sz="2400" b="1" spc="-50" dirty="0">
                    <a:solidFill>
                      <a:srgbClr val="385622"/>
                    </a:solidFill>
                    <a:latin typeface="Calibri"/>
                    <a:cs typeface="Calibri"/>
                  </a:rPr>
                  <a:t> </a:t>
                </a:r>
                <a:r>
                  <a:rPr lang="en-US" sz="2400" b="1" dirty="0">
                    <a:solidFill>
                      <a:srgbClr val="385622"/>
                    </a:solidFill>
                    <a:latin typeface="Calibri"/>
                    <a:cs typeface="Calibri"/>
                  </a:rPr>
                  <a:t>[0,</a:t>
                </a:r>
                <a:r>
                  <a:rPr lang="en-US" sz="2400" b="1" spc="-35" dirty="0">
                    <a:solidFill>
                      <a:srgbClr val="385622"/>
                    </a:solidFill>
                    <a:latin typeface="Calibri"/>
                    <a:cs typeface="Calibri"/>
                  </a:rPr>
                  <a:t> </a:t>
                </a:r>
                <a:r>
                  <a:rPr lang="en-US" sz="2400" b="1" dirty="0">
                    <a:solidFill>
                      <a:srgbClr val="385622"/>
                    </a:solidFill>
                    <a:latin typeface="Calibri"/>
                    <a:cs typeface="Calibri"/>
                  </a:rPr>
                  <a:t>0,</a:t>
                </a:r>
                <a:r>
                  <a:rPr lang="en-US" sz="2400" b="1" spc="-30" dirty="0">
                    <a:solidFill>
                      <a:srgbClr val="385622"/>
                    </a:solidFill>
                    <a:latin typeface="Calibri"/>
                    <a:cs typeface="Calibri"/>
                  </a:rPr>
                  <a:t> </a:t>
                </a:r>
                <a:r>
                  <a:rPr lang="en-US" sz="2400" b="1" dirty="0">
                    <a:solidFill>
                      <a:srgbClr val="385622"/>
                    </a:solidFill>
                    <a:latin typeface="Calibri"/>
                    <a:cs typeface="Calibri"/>
                  </a:rPr>
                  <a:t>0,</a:t>
                </a:r>
                <a:r>
                  <a:rPr lang="en-US" sz="2400" b="1" spc="-30" dirty="0">
                    <a:solidFill>
                      <a:srgbClr val="385622"/>
                    </a:solidFill>
                    <a:latin typeface="Calibri"/>
                    <a:cs typeface="Calibri"/>
                  </a:rPr>
                  <a:t> </a:t>
                </a:r>
                <a:r>
                  <a:rPr lang="en-US" sz="2400" b="1" dirty="0">
                    <a:solidFill>
                      <a:srgbClr val="385622"/>
                    </a:solidFill>
                    <a:latin typeface="Calibri"/>
                    <a:cs typeface="Calibri"/>
                  </a:rPr>
                  <a:t>……</a:t>
                </a:r>
                <a:r>
                  <a:rPr lang="en-US" sz="2400" b="1" spc="-35" dirty="0">
                    <a:solidFill>
                      <a:srgbClr val="385622"/>
                    </a:solidFill>
                    <a:latin typeface="Calibri"/>
                    <a:cs typeface="Calibri"/>
                  </a:rPr>
                  <a:t> </a:t>
                </a:r>
                <a:r>
                  <a:rPr lang="en-US" sz="2400" b="1" dirty="0">
                    <a:solidFill>
                      <a:srgbClr val="385622"/>
                    </a:solidFill>
                    <a:latin typeface="Calibri"/>
                    <a:cs typeface="Calibri"/>
                  </a:rPr>
                  <a:t>,</a:t>
                </a:r>
                <a:r>
                  <a:rPr lang="en-US" sz="2400" b="1" spc="-30" dirty="0">
                    <a:solidFill>
                      <a:srgbClr val="385622"/>
                    </a:solidFill>
                    <a:latin typeface="Calibri"/>
                    <a:cs typeface="Calibri"/>
                  </a:rPr>
                  <a:t> </a:t>
                </a:r>
                <a:r>
                  <a:rPr lang="en-US" sz="2400" b="1" dirty="0">
                    <a:solidFill>
                      <a:srgbClr val="385622"/>
                    </a:solidFill>
                    <a:latin typeface="Calibri"/>
                    <a:cs typeface="Calibri"/>
                  </a:rPr>
                  <a:t>0]</a:t>
                </a:r>
                <a:r>
                  <a:rPr lang="en-US" sz="2400" b="1" spc="-45" dirty="0">
                    <a:solidFill>
                      <a:srgbClr val="385622"/>
                    </a:solidFill>
                    <a:latin typeface="Calibri"/>
                    <a:cs typeface="Calibri"/>
                  </a:rPr>
                  <a:t> </a:t>
                </a:r>
                <a:r>
                  <a:rPr lang="en-US" sz="2400" b="1" dirty="0">
                    <a:solidFill>
                      <a:srgbClr val="385622"/>
                    </a:solidFill>
                    <a:latin typeface="Calibri"/>
                    <a:cs typeface="Calibri"/>
                  </a:rPr>
                  <a:t>is</a:t>
                </a:r>
                <a:r>
                  <a:rPr lang="en-US" sz="2400" b="1" spc="-40" dirty="0">
                    <a:solidFill>
                      <a:srgbClr val="385622"/>
                    </a:solidFill>
                    <a:latin typeface="Calibri"/>
                    <a:cs typeface="Calibri"/>
                  </a:rPr>
                  <a:t> </a:t>
                </a:r>
                <a:r>
                  <a:rPr lang="en-US" sz="2400" b="1" dirty="0">
                    <a:solidFill>
                      <a:srgbClr val="385622"/>
                    </a:solidFill>
                    <a:latin typeface="Calibri"/>
                    <a:cs typeface="Calibri"/>
                  </a:rPr>
                  <a:t>always</a:t>
                </a:r>
                <a:r>
                  <a:rPr lang="en-US" sz="2400" b="1" spc="-35" dirty="0">
                    <a:solidFill>
                      <a:srgbClr val="385622"/>
                    </a:solidFill>
                    <a:latin typeface="Calibri"/>
                    <a:cs typeface="Calibri"/>
                  </a:rPr>
                  <a:t> </a:t>
                </a:r>
                <a:r>
                  <a:rPr lang="en-US" sz="2400" b="1" dirty="0">
                    <a:solidFill>
                      <a:srgbClr val="385622"/>
                    </a:solidFill>
                    <a:latin typeface="Calibri"/>
                    <a:cs typeface="Calibri"/>
                  </a:rPr>
                  <a:t>a</a:t>
                </a:r>
                <a:r>
                  <a:rPr lang="en-US" sz="2400" b="1" spc="-40" dirty="0">
                    <a:solidFill>
                      <a:srgbClr val="385622"/>
                    </a:solidFill>
                    <a:latin typeface="Calibri"/>
                    <a:cs typeface="Calibri"/>
                  </a:rPr>
                  <a:t> </a:t>
                </a:r>
                <a:r>
                  <a:rPr lang="en-US" sz="2400" b="1" dirty="0">
                    <a:solidFill>
                      <a:srgbClr val="385622"/>
                    </a:solidFill>
                    <a:latin typeface="Calibri"/>
                    <a:cs typeface="Calibri"/>
                  </a:rPr>
                  <a:t>valid</a:t>
                </a:r>
                <a:r>
                  <a:rPr lang="en-US" sz="2400" b="1" spc="-60" dirty="0">
                    <a:solidFill>
                      <a:srgbClr val="385622"/>
                    </a:solidFill>
                    <a:latin typeface="Calibri"/>
                    <a:cs typeface="Calibri"/>
                  </a:rPr>
                  <a:t> </a:t>
                </a:r>
                <a:r>
                  <a:rPr lang="en-US" sz="2400" b="1" dirty="0">
                    <a:solidFill>
                      <a:srgbClr val="385622"/>
                    </a:solidFill>
                    <a:latin typeface="Calibri"/>
                    <a:cs typeface="Calibri"/>
                  </a:rPr>
                  <a:t>codeword</a:t>
                </a:r>
                <a:r>
                  <a:rPr lang="en-US" sz="2400" b="1" spc="-70" dirty="0">
                    <a:solidFill>
                      <a:srgbClr val="385622"/>
                    </a:solidFill>
                    <a:latin typeface="Calibri"/>
                    <a:cs typeface="Calibri"/>
                  </a:rPr>
                  <a:t> </a:t>
                </a:r>
                <a:r>
                  <a:rPr lang="en-US" sz="2400" b="1" dirty="0">
                    <a:solidFill>
                      <a:srgbClr val="385622"/>
                    </a:solidFill>
                    <a:latin typeface="Calibri"/>
                    <a:cs typeface="Calibri"/>
                  </a:rPr>
                  <a:t>in</a:t>
                </a:r>
                <a:r>
                  <a:rPr lang="en-US" sz="2400" b="1" spc="-30" dirty="0">
                    <a:solidFill>
                      <a:srgbClr val="385622"/>
                    </a:solidFill>
                    <a:latin typeface="Calibri"/>
                    <a:cs typeface="Calibri"/>
                  </a:rPr>
                  <a:t> </a:t>
                </a:r>
                <a:r>
                  <a:rPr lang="en-US" sz="2400" b="1" dirty="0">
                    <a:solidFill>
                      <a:srgbClr val="385622"/>
                    </a:solidFill>
                    <a:latin typeface="Calibri"/>
                    <a:cs typeface="Calibri"/>
                  </a:rPr>
                  <a:t>a</a:t>
                </a:r>
                <a:r>
                  <a:rPr lang="en-US" sz="2400" b="1" spc="-45" dirty="0">
                    <a:solidFill>
                      <a:srgbClr val="385622"/>
                    </a:solidFill>
                    <a:latin typeface="Calibri"/>
                    <a:cs typeface="Calibri"/>
                  </a:rPr>
                  <a:t> </a:t>
                </a:r>
                <a:r>
                  <a:rPr lang="en-US" sz="2400" b="1" dirty="0">
                    <a:solidFill>
                      <a:srgbClr val="385622"/>
                    </a:solidFill>
                    <a:latin typeface="Calibri"/>
                    <a:cs typeface="Calibri"/>
                  </a:rPr>
                  <a:t>Linear</a:t>
                </a:r>
                <a:r>
                  <a:rPr lang="en-US" sz="2400" b="1" spc="-35" dirty="0">
                    <a:solidFill>
                      <a:srgbClr val="385622"/>
                    </a:solidFill>
                    <a:latin typeface="Calibri"/>
                    <a:cs typeface="Calibri"/>
                  </a:rPr>
                  <a:t> </a:t>
                </a:r>
                <a:r>
                  <a:rPr lang="en-US" sz="2400" b="1" dirty="0">
                    <a:solidFill>
                      <a:srgbClr val="385622"/>
                    </a:solidFill>
                    <a:latin typeface="Calibri"/>
                    <a:cs typeface="Calibri"/>
                  </a:rPr>
                  <a:t>Block</a:t>
                </a:r>
                <a:r>
                  <a:rPr lang="en-US" sz="2400" b="1" spc="-60" dirty="0">
                    <a:solidFill>
                      <a:srgbClr val="385622"/>
                    </a:solidFill>
                    <a:latin typeface="Calibri"/>
                    <a:cs typeface="Calibri"/>
                  </a:rPr>
                  <a:t> </a:t>
                </a:r>
                <a:r>
                  <a:rPr lang="en-US" sz="2400" b="1" spc="-10" dirty="0">
                    <a:solidFill>
                      <a:srgbClr val="385622"/>
                    </a:solidFill>
                    <a:latin typeface="Calibri"/>
                    <a:cs typeface="Calibri"/>
                  </a:rPr>
                  <a:t>Code.</a:t>
                </a:r>
                <a:endParaRPr lang="en-US" sz="2400" dirty="0">
                  <a:latin typeface="Calibri"/>
                  <a:cs typeface="Calibri"/>
                </a:endParaRPr>
              </a:p>
              <a:p>
                <a:pPr marL="520065" indent="-457200">
                  <a:lnSpc>
                    <a:spcPct val="100000"/>
                  </a:lnSpc>
                  <a:spcBef>
                    <a:spcPts val="5"/>
                  </a:spcBef>
                  <a:buAutoNum type="arabicPeriod"/>
                  <a:tabLst>
                    <a:tab pos="520065" algn="l"/>
                  </a:tabLst>
                </a:pPr>
                <a:r>
                  <a:rPr lang="en-US" sz="2400" b="1" dirty="0">
                    <a:solidFill>
                      <a:srgbClr val="385622"/>
                    </a:solidFill>
                    <a:latin typeface="Calibri"/>
                    <a:cs typeface="Calibri"/>
                  </a:rPr>
                  <a:t>Minimum</a:t>
                </a:r>
                <a:r>
                  <a:rPr lang="en-US" sz="2400" b="1" spc="-45" dirty="0">
                    <a:solidFill>
                      <a:srgbClr val="385622"/>
                    </a:solidFill>
                    <a:latin typeface="Calibri"/>
                    <a:cs typeface="Calibri"/>
                  </a:rPr>
                  <a:t> </a:t>
                </a:r>
                <a:r>
                  <a:rPr lang="en-US" sz="2400" b="1" dirty="0">
                    <a:solidFill>
                      <a:srgbClr val="385622"/>
                    </a:solidFill>
                    <a:latin typeface="Calibri"/>
                    <a:cs typeface="Calibri"/>
                  </a:rPr>
                  <a:t>Hamming</a:t>
                </a:r>
                <a:r>
                  <a:rPr lang="en-US" sz="2400" b="1" spc="-50" dirty="0">
                    <a:solidFill>
                      <a:srgbClr val="385622"/>
                    </a:solidFill>
                    <a:latin typeface="Calibri"/>
                    <a:cs typeface="Calibri"/>
                  </a:rPr>
                  <a:t> </a:t>
                </a:r>
                <a:r>
                  <a:rPr lang="en-US" sz="2400" b="1" spc="-10" dirty="0">
                    <a:solidFill>
                      <a:srgbClr val="385622"/>
                    </a:solidFill>
                    <a:latin typeface="Calibri"/>
                    <a:cs typeface="Calibri"/>
                  </a:rPr>
                  <a:t>Distance</a:t>
                </a:r>
                <a:r>
                  <a:rPr lang="en-US" sz="2400" b="1" spc="-25" dirty="0">
                    <a:solidFill>
                      <a:srgbClr val="385622"/>
                    </a:solidFill>
                    <a:latin typeface="Calibri"/>
                    <a:cs typeface="Calibri"/>
                  </a:rPr>
                  <a:t> </a:t>
                </a:r>
                <a:r>
                  <a:rPr lang="en-US" sz="2400" b="1" dirty="0">
                    <a:solidFill>
                      <a:srgbClr val="385622"/>
                    </a:solidFill>
                    <a:latin typeface="Calibri"/>
                    <a:cs typeface="Calibri"/>
                  </a:rPr>
                  <a:t>of</a:t>
                </a:r>
                <a:r>
                  <a:rPr lang="en-US" sz="2400" b="1" spc="-35" dirty="0">
                    <a:solidFill>
                      <a:srgbClr val="385622"/>
                    </a:solidFill>
                    <a:latin typeface="Calibri"/>
                    <a:cs typeface="Calibri"/>
                  </a:rPr>
                  <a:t> </a:t>
                </a:r>
                <a:r>
                  <a:rPr lang="en-US" sz="2400" b="1" dirty="0">
                    <a:solidFill>
                      <a:srgbClr val="385622"/>
                    </a:solidFill>
                    <a:latin typeface="Calibri"/>
                    <a:cs typeface="Calibri"/>
                  </a:rPr>
                  <a:t>the</a:t>
                </a:r>
                <a:r>
                  <a:rPr lang="en-US" sz="2400" b="1" spc="-15" dirty="0">
                    <a:solidFill>
                      <a:srgbClr val="385622"/>
                    </a:solidFill>
                    <a:latin typeface="Calibri"/>
                    <a:cs typeface="Calibri"/>
                  </a:rPr>
                  <a:t> </a:t>
                </a:r>
                <a:r>
                  <a:rPr lang="en-US" sz="2400" b="1" dirty="0">
                    <a:solidFill>
                      <a:srgbClr val="385622"/>
                    </a:solidFill>
                    <a:latin typeface="Calibri"/>
                    <a:cs typeface="Calibri"/>
                  </a:rPr>
                  <a:t>Code</a:t>
                </a:r>
                <a:r>
                  <a:rPr lang="en-US" sz="2400" b="1" spc="-40" dirty="0">
                    <a:solidFill>
                      <a:srgbClr val="385622"/>
                    </a:solidFill>
                    <a:latin typeface="Calibri"/>
                    <a:cs typeface="Calibri"/>
                  </a:rPr>
                  <a:t> </a:t>
                </a:r>
                <a:r>
                  <a:rPr lang="en-US" sz="2400" b="1" dirty="0">
                    <a:solidFill>
                      <a:srgbClr val="385622"/>
                    </a:solidFill>
                    <a:latin typeface="Calibri"/>
                    <a:cs typeface="Calibri"/>
                  </a:rPr>
                  <a:t>d</a:t>
                </a:r>
                <a:r>
                  <a:rPr lang="en-US" sz="1800" b="1" dirty="0">
                    <a:solidFill>
                      <a:srgbClr val="385622"/>
                    </a:solidFill>
                    <a:latin typeface="Calibri"/>
                    <a:cs typeface="Calibri"/>
                  </a:rPr>
                  <a:t>min</a:t>
                </a:r>
                <a:r>
                  <a:rPr lang="en-US" sz="1800" b="1" spc="80" dirty="0">
                    <a:solidFill>
                      <a:srgbClr val="385622"/>
                    </a:solidFill>
                    <a:latin typeface="Calibri"/>
                    <a:cs typeface="Calibri"/>
                  </a:rPr>
                  <a:t> </a:t>
                </a:r>
                <a:r>
                  <a:rPr lang="en-US" sz="2400" b="1" dirty="0">
                    <a:solidFill>
                      <a:srgbClr val="385622"/>
                    </a:solidFill>
                    <a:latin typeface="Calibri"/>
                    <a:cs typeface="Calibri"/>
                  </a:rPr>
                  <a:t>=</a:t>
                </a:r>
                <a:r>
                  <a:rPr lang="en-US" sz="2400" b="1" spc="-30" dirty="0">
                    <a:solidFill>
                      <a:srgbClr val="385622"/>
                    </a:solidFill>
                    <a:latin typeface="Calibri"/>
                    <a:cs typeface="Calibri"/>
                  </a:rPr>
                  <a:t> </a:t>
                </a:r>
                <a:r>
                  <a:rPr lang="en-US" sz="2400" b="1" spc="-10" dirty="0">
                    <a:solidFill>
                      <a:srgbClr val="385622"/>
                    </a:solidFill>
                    <a:latin typeface="Calibri"/>
                    <a:cs typeface="Calibri"/>
                  </a:rPr>
                  <a:t>W</a:t>
                </a:r>
                <a:r>
                  <a:rPr lang="en-US" sz="1800" b="1" spc="-10" dirty="0">
                    <a:solidFill>
                      <a:srgbClr val="385622"/>
                    </a:solidFill>
                    <a:latin typeface="Calibri"/>
                    <a:cs typeface="Calibri"/>
                  </a:rPr>
                  <a:t>min.</a:t>
                </a:r>
                <a:endParaRPr lang="en-US" sz="1800" dirty="0">
                  <a:latin typeface="Calibri"/>
                  <a:cs typeface="Calibri"/>
                </a:endParaRPr>
              </a:p>
              <a:p>
                <a:pPr marL="520065" indent="-457200">
                  <a:lnSpc>
                    <a:spcPct val="100000"/>
                  </a:lnSpc>
                  <a:buAutoNum type="arabicPeriod"/>
                  <a:tabLst>
                    <a:tab pos="520065" algn="l"/>
                  </a:tabLst>
                </a:pPr>
                <a:r>
                  <a:rPr lang="en-US" sz="2400" b="1" dirty="0">
                    <a:solidFill>
                      <a:srgbClr val="385622"/>
                    </a:solidFill>
                    <a:latin typeface="Calibri"/>
                    <a:cs typeface="Calibri"/>
                  </a:rPr>
                  <a:t>It</a:t>
                </a:r>
                <a:r>
                  <a:rPr lang="en-US" sz="2400" b="1" spc="-30" dirty="0">
                    <a:solidFill>
                      <a:srgbClr val="385622"/>
                    </a:solidFill>
                    <a:latin typeface="Calibri"/>
                    <a:cs typeface="Calibri"/>
                  </a:rPr>
                  <a:t> </a:t>
                </a:r>
                <a:r>
                  <a:rPr lang="en-US" sz="2400" b="1" dirty="0">
                    <a:solidFill>
                      <a:srgbClr val="385622"/>
                    </a:solidFill>
                    <a:latin typeface="Calibri"/>
                    <a:cs typeface="Calibri"/>
                  </a:rPr>
                  <a:t>can</a:t>
                </a:r>
                <a:r>
                  <a:rPr lang="en-US" sz="2400" b="1" spc="-50" dirty="0">
                    <a:solidFill>
                      <a:srgbClr val="385622"/>
                    </a:solidFill>
                    <a:latin typeface="Calibri"/>
                    <a:cs typeface="Calibri"/>
                  </a:rPr>
                  <a:t> </a:t>
                </a:r>
                <a:r>
                  <a:rPr lang="en-US" sz="2400" b="1" dirty="0">
                    <a:solidFill>
                      <a:srgbClr val="385622"/>
                    </a:solidFill>
                    <a:latin typeface="Calibri"/>
                    <a:cs typeface="Calibri"/>
                  </a:rPr>
                  <a:t>detect</a:t>
                </a:r>
                <a:r>
                  <a:rPr lang="en-US" sz="2400" b="1" spc="-40" dirty="0">
                    <a:solidFill>
                      <a:srgbClr val="385622"/>
                    </a:solidFill>
                    <a:latin typeface="Calibri"/>
                    <a:cs typeface="Calibri"/>
                  </a:rPr>
                  <a:t> </a:t>
                </a:r>
                <a:r>
                  <a:rPr lang="en-US" sz="2400" b="1" dirty="0">
                    <a:solidFill>
                      <a:srgbClr val="385622"/>
                    </a:solidFill>
                    <a:latin typeface="Calibri"/>
                    <a:cs typeface="Calibri"/>
                  </a:rPr>
                  <a:t>up</a:t>
                </a:r>
                <a:r>
                  <a:rPr lang="en-US" sz="2400" b="1" spc="-25" dirty="0">
                    <a:solidFill>
                      <a:srgbClr val="385622"/>
                    </a:solidFill>
                    <a:latin typeface="Calibri"/>
                    <a:cs typeface="Calibri"/>
                  </a:rPr>
                  <a:t> </a:t>
                </a:r>
                <a:r>
                  <a:rPr lang="en-US" sz="2400" b="1" dirty="0">
                    <a:solidFill>
                      <a:srgbClr val="385622"/>
                    </a:solidFill>
                    <a:latin typeface="Calibri"/>
                    <a:cs typeface="Calibri"/>
                  </a:rPr>
                  <a:t>to</a:t>
                </a:r>
                <a:r>
                  <a:rPr lang="en-US" sz="2400" b="1" spc="-45" dirty="0">
                    <a:solidFill>
                      <a:srgbClr val="385622"/>
                    </a:solidFill>
                    <a:latin typeface="Calibri"/>
                    <a:cs typeface="Calibri"/>
                  </a:rPr>
                  <a:t> </a:t>
                </a:r>
                <a:r>
                  <a:rPr lang="en-US" sz="2400" b="1" dirty="0">
                    <a:solidFill>
                      <a:srgbClr val="385622"/>
                    </a:solidFill>
                    <a:latin typeface="Calibri"/>
                    <a:cs typeface="Calibri"/>
                  </a:rPr>
                  <a:t>(d</a:t>
                </a:r>
                <a:r>
                  <a:rPr lang="en-US" sz="1800" b="1" dirty="0">
                    <a:solidFill>
                      <a:srgbClr val="385622"/>
                    </a:solidFill>
                    <a:latin typeface="Calibri"/>
                    <a:cs typeface="Calibri"/>
                  </a:rPr>
                  <a:t>min</a:t>
                </a:r>
                <a:r>
                  <a:rPr lang="en-US" sz="1800" b="1" spc="105" dirty="0">
                    <a:solidFill>
                      <a:srgbClr val="385622"/>
                    </a:solidFill>
                    <a:latin typeface="Calibri"/>
                    <a:cs typeface="Calibri"/>
                  </a:rPr>
                  <a:t> </a:t>
                </a:r>
                <a:r>
                  <a:rPr lang="en-US" sz="2400" b="1" dirty="0">
                    <a:solidFill>
                      <a:srgbClr val="385622"/>
                    </a:solidFill>
                    <a:latin typeface="Calibri"/>
                    <a:cs typeface="Calibri"/>
                  </a:rPr>
                  <a:t>–</a:t>
                </a:r>
                <a:r>
                  <a:rPr lang="en-US" sz="2400" b="1" spc="-40" dirty="0">
                    <a:solidFill>
                      <a:srgbClr val="385622"/>
                    </a:solidFill>
                    <a:latin typeface="Calibri"/>
                    <a:cs typeface="Calibri"/>
                  </a:rPr>
                  <a:t> </a:t>
                </a:r>
                <a:r>
                  <a:rPr lang="en-US" sz="2400" b="1" dirty="0">
                    <a:solidFill>
                      <a:srgbClr val="385622"/>
                    </a:solidFill>
                    <a:latin typeface="Calibri"/>
                    <a:cs typeface="Calibri"/>
                  </a:rPr>
                  <a:t>1)</a:t>
                </a:r>
                <a:r>
                  <a:rPr lang="en-US" sz="2400" b="1" spc="-30" dirty="0">
                    <a:solidFill>
                      <a:srgbClr val="385622"/>
                    </a:solidFill>
                    <a:latin typeface="Calibri"/>
                    <a:cs typeface="Calibri"/>
                  </a:rPr>
                  <a:t> </a:t>
                </a:r>
                <a:r>
                  <a:rPr lang="en-US" sz="2400" b="1" spc="-10" dirty="0">
                    <a:solidFill>
                      <a:srgbClr val="385622"/>
                    </a:solidFill>
                    <a:latin typeface="Calibri"/>
                    <a:cs typeface="Calibri"/>
                  </a:rPr>
                  <a:t>Errors.</a:t>
                </a:r>
                <a:endParaRPr lang="en-US" sz="2400" dirty="0">
                  <a:latin typeface="Calibri"/>
                  <a:cs typeface="Calibri"/>
                </a:endParaRPr>
              </a:p>
              <a:p>
                <a:pPr marL="520065" indent="-457200">
                  <a:lnSpc>
                    <a:spcPct val="100000"/>
                  </a:lnSpc>
                  <a:buAutoNum type="arabicPeriod"/>
                  <a:tabLst>
                    <a:tab pos="520065" algn="l"/>
                  </a:tabLst>
                </a:pPr>
                <a:r>
                  <a:rPr lang="en-US" sz="2400" b="1" dirty="0">
                    <a:solidFill>
                      <a:srgbClr val="385622"/>
                    </a:solidFill>
                    <a:latin typeface="Calibri"/>
                    <a:cs typeface="Calibri"/>
                  </a:rPr>
                  <a:t>It</a:t>
                </a:r>
                <a:r>
                  <a:rPr lang="en-US" sz="2400" b="1" spc="-30" dirty="0">
                    <a:solidFill>
                      <a:srgbClr val="385622"/>
                    </a:solidFill>
                    <a:latin typeface="Calibri"/>
                    <a:cs typeface="Calibri"/>
                  </a:rPr>
                  <a:t> </a:t>
                </a:r>
                <a:r>
                  <a:rPr lang="en-US" sz="2400" b="1" dirty="0">
                    <a:solidFill>
                      <a:srgbClr val="385622"/>
                    </a:solidFill>
                    <a:latin typeface="Calibri"/>
                    <a:cs typeface="Calibri"/>
                  </a:rPr>
                  <a:t>can</a:t>
                </a:r>
                <a:r>
                  <a:rPr lang="en-US" sz="2400" b="1" spc="-45" dirty="0">
                    <a:solidFill>
                      <a:srgbClr val="385622"/>
                    </a:solidFill>
                    <a:latin typeface="Calibri"/>
                    <a:cs typeface="Calibri"/>
                  </a:rPr>
                  <a:t> </a:t>
                </a:r>
                <a:r>
                  <a:rPr lang="en-US" sz="2400" b="1" dirty="0">
                    <a:solidFill>
                      <a:srgbClr val="385622"/>
                    </a:solidFill>
                    <a:latin typeface="Calibri"/>
                    <a:cs typeface="Calibri"/>
                  </a:rPr>
                  <a:t>correct</a:t>
                </a:r>
                <a:r>
                  <a:rPr lang="en-US" sz="2400" b="1" spc="-55" dirty="0">
                    <a:solidFill>
                      <a:srgbClr val="385622"/>
                    </a:solidFill>
                    <a:latin typeface="Calibri"/>
                    <a:cs typeface="Calibri"/>
                  </a:rPr>
                  <a:t> </a:t>
                </a:r>
                <a:r>
                  <a:rPr lang="en-US" sz="2400" b="1" dirty="0">
                    <a:solidFill>
                      <a:srgbClr val="385622"/>
                    </a:solidFill>
                    <a:latin typeface="Calibri"/>
                    <a:cs typeface="Calibri"/>
                  </a:rPr>
                  <a:t>up</a:t>
                </a:r>
                <a:r>
                  <a:rPr lang="en-US" sz="2400" b="1" spc="-35" dirty="0">
                    <a:solidFill>
                      <a:srgbClr val="385622"/>
                    </a:solidFill>
                    <a:latin typeface="Calibri"/>
                    <a:cs typeface="Calibri"/>
                  </a:rPr>
                  <a:t> </a:t>
                </a:r>
                <a:r>
                  <a:rPr lang="en-US" sz="2400" b="1" dirty="0">
                    <a:solidFill>
                      <a:srgbClr val="385622"/>
                    </a:solidFill>
                    <a:latin typeface="Calibri"/>
                    <a:cs typeface="Calibri"/>
                  </a:rPr>
                  <a:t>to</a:t>
                </a:r>
                <a14:m>
                  <m:oMath xmlns:m="http://schemas.openxmlformats.org/officeDocument/2006/math">
                    <m:r>
                      <m:rPr>
                        <m:lit/>
                      </m:rPr>
                      <a:rPr lang="en-US" sz="2400" b="1" i="1" spc="-25" smtClean="0">
                        <a:solidFill>
                          <a:srgbClr val="385622"/>
                        </a:solidFill>
                        <a:latin typeface="Cambria Math"/>
                        <a:cs typeface="Calibri"/>
                      </a:rPr>
                      <m:t> </m:t>
                    </m:r>
                    <m:r>
                      <a:rPr lang="en-US" sz="2400" b="1" i="1" spc="-25" smtClean="0">
                        <a:solidFill>
                          <a:srgbClr val="385622"/>
                        </a:solidFill>
                        <a:latin typeface="Cambria Math"/>
                        <a:cs typeface="Calibri"/>
                      </a:rPr>
                      <m:t>⌊</m:t>
                    </m:r>
                    <m:f>
                      <m:fPr>
                        <m:ctrlPr>
                          <a:rPr lang="en-US" sz="2400" b="1" i="1" spc="-25" smtClean="0">
                            <a:solidFill>
                              <a:srgbClr val="385622"/>
                            </a:solidFill>
                            <a:latin typeface="Cambria Math" panose="02040503050406030204" pitchFamily="18" charset="0"/>
                            <a:cs typeface="Calibri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400" b="1" i="1" spc="-25" smtClean="0">
                                <a:solidFill>
                                  <a:srgbClr val="385622"/>
                                </a:solidFill>
                                <a:latin typeface="Cambria Math" panose="02040503050406030204" pitchFamily="18" charset="0"/>
                                <a:cs typeface="Calibri"/>
                              </a:rPr>
                            </m:ctrlPr>
                          </m:sSubPr>
                          <m:e>
                            <m:r>
                              <a:rPr lang="en-US" sz="2400" b="1" i="1" spc="-25" smtClean="0">
                                <a:solidFill>
                                  <a:srgbClr val="385622"/>
                                </a:solidFill>
                                <a:latin typeface="Cambria Math"/>
                                <a:cs typeface="Calibri"/>
                              </a:rPr>
                              <m:t>𝒅</m:t>
                            </m:r>
                          </m:e>
                          <m:sub>
                            <m:r>
                              <a:rPr lang="en-US" sz="2400" b="1" i="1" spc="-25" smtClean="0">
                                <a:solidFill>
                                  <a:srgbClr val="385622"/>
                                </a:solidFill>
                                <a:latin typeface="Cambria Math"/>
                                <a:cs typeface="Calibri"/>
                              </a:rPr>
                              <m:t>𝒎𝒊𝒏</m:t>
                            </m:r>
                          </m:sub>
                        </m:sSub>
                        <m:r>
                          <a:rPr lang="en-US" sz="2400" b="1" i="1" spc="-25" smtClean="0">
                            <a:solidFill>
                              <a:srgbClr val="385622"/>
                            </a:solidFill>
                            <a:latin typeface="Cambria Math"/>
                            <a:cs typeface="Calibri"/>
                          </a:rPr>
                          <m:t>−</m:t>
                        </m:r>
                        <m:r>
                          <a:rPr lang="en-US" sz="2400" b="1" i="1" spc="-25" smtClean="0">
                            <a:solidFill>
                              <a:srgbClr val="385622"/>
                            </a:solidFill>
                            <a:latin typeface="Cambria Math"/>
                            <a:cs typeface="Calibri"/>
                          </a:rPr>
                          <m:t>𝟏</m:t>
                        </m:r>
                      </m:num>
                      <m:den>
                        <m:r>
                          <a:rPr lang="en-US" sz="2400" b="1" i="1" spc="-25" smtClean="0">
                            <a:solidFill>
                              <a:srgbClr val="385622"/>
                            </a:solidFill>
                            <a:latin typeface="Cambria Math"/>
                            <a:cs typeface="Calibri"/>
                          </a:rPr>
                          <m:t>𝟐</m:t>
                        </m:r>
                      </m:den>
                    </m:f>
                    <m:r>
                      <a:rPr lang="en-US" sz="2400" b="1" i="1" spc="-25" smtClean="0">
                        <a:solidFill>
                          <a:srgbClr val="385622"/>
                        </a:solidFill>
                        <a:latin typeface="Cambria Math"/>
                        <a:cs typeface="Calibri"/>
                      </a:rPr>
                      <m:t>⌋</m:t>
                    </m:r>
                    <m:r>
                      <a:rPr lang="en-US" sz="2400" b="1" i="0" spc="-25" smtClean="0">
                        <a:solidFill>
                          <a:srgbClr val="385622"/>
                        </a:solidFill>
                        <a:latin typeface="Cambria Math"/>
                        <a:cs typeface="Calibri"/>
                      </a:rPr>
                      <m:t> </m:t>
                    </m:r>
                  </m:oMath>
                </a14:m>
                <a:r>
                  <a:rPr lang="en-US" sz="2400" b="1" spc="-10" dirty="0">
                    <a:solidFill>
                      <a:srgbClr val="385622"/>
                    </a:solidFill>
                    <a:latin typeface="Calibri"/>
                    <a:cs typeface="Calibri"/>
                  </a:rPr>
                  <a:t>Errors.</a:t>
                </a:r>
                <a:endParaRPr sz="2400" dirty="0">
                  <a:latin typeface="Calibri"/>
                  <a:cs typeface="Calibri"/>
                </a:endParaRPr>
              </a:p>
            </p:txBody>
          </p:sp>
        </mc:Choice>
        <mc:Fallback xmlns="">
          <p:sp>
            <p:nvSpPr>
              <p:cNvPr id="3" name="object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4142" y="811225"/>
                <a:ext cx="11805285" cy="3867084"/>
              </a:xfrm>
              <a:prstGeom prst="rect">
                <a:avLst/>
              </a:prstGeom>
              <a:blipFill rotWithShape="1">
                <a:blip r:embed="rId2"/>
                <a:stretch>
                  <a:fillRect l="-2014" t="-2839" r="-1240" b="-20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48000" y="49530"/>
            <a:ext cx="9284056" cy="99770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Checking</a:t>
            </a:r>
            <a:r>
              <a:rPr spc="-35" dirty="0"/>
              <a:t> </a:t>
            </a:r>
            <a:r>
              <a:rPr dirty="0"/>
              <a:t>whether</a:t>
            </a:r>
            <a:r>
              <a:rPr spc="-35" dirty="0"/>
              <a:t> </a:t>
            </a:r>
            <a:r>
              <a:rPr dirty="0"/>
              <a:t>Hamming</a:t>
            </a:r>
            <a:r>
              <a:rPr spc="-55" dirty="0"/>
              <a:t> </a:t>
            </a:r>
            <a:r>
              <a:rPr dirty="0"/>
              <a:t>Code</a:t>
            </a:r>
            <a:r>
              <a:rPr spc="-40" dirty="0"/>
              <a:t> </a:t>
            </a:r>
            <a:r>
              <a:rPr dirty="0"/>
              <a:t>is</a:t>
            </a:r>
            <a:r>
              <a:rPr spc="-25" dirty="0"/>
              <a:t> </a:t>
            </a:r>
            <a:r>
              <a:rPr dirty="0"/>
              <a:t>a</a:t>
            </a:r>
            <a:r>
              <a:rPr spc="-50" dirty="0"/>
              <a:t> </a:t>
            </a:r>
            <a:r>
              <a:rPr dirty="0"/>
              <a:t>Linear</a:t>
            </a:r>
            <a:r>
              <a:rPr spc="-50" dirty="0"/>
              <a:t> </a:t>
            </a:r>
            <a:r>
              <a:rPr dirty="0"/>
              <a:t>Block</a:t>
            </a:r>
            <a:r>
              <a:rPr spc="-50" dirty="0"/>
              <a:t> </a:t>
            </a:r>
            <a:r>
              <a:rPr spc="-20" dirty="0"/>
              <a:t>Code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object 7"/>
              <p:cNvSpPr txBox="1"/>
              <p:nvPr/>
            </p:nvSpPr>
            <p:spPr>
              <a:xfrm>
                <a:off x="2971800" y="1174990"/>
                <a:ext cx="9248140" cy="2396810"/>
              </a:xfrm>
              <a:prstGeom prst="rect">
                <a:avLst/>
              </a:prstGeom>
            </p:spPr>
            <p:txBody>
              <a:bodyPr vert="horz" wrap="square" lIns="0" tIns="12700" rIns="0" bIns="0" rtlCol="0">
                <a:spAutoFit/>
              </a:bodyPr>
              <a:lstStyle/>
              <a:p>
                <a:pPr marL="469265" indent="-456565">
                  <a:lnSpc>
                    <a:spcPct val="100000"/>
                  </a:lnSpc>
                  <a:spcBef>
                    <a:spcPts val="100"/>
                  </a:spcBef>
                  <a:buAutoNum type="arabicPeriod"/>
                  <a:tabLst>
                    <a:tab pos="469265" algn="l"/>
                  </a:tabLst>
                </a:pPr>
                <a:r>
                  <a:rPr lang="en-US" sz="2400" b="1" dirty="0">
                    <a:solidFill>
                      <a:srgbClr val="385622"/>
                    </a:solidFill>
                    <a:latin typeface="Calibri"/>
                    <a:cs typeface="Calibri"/>
                  </a:rPr>
                  <a:t>For</a:t>
                </a:r>
                <a:r>
                  <a:rPr lang="en-US" sz="2400" b="1" spc="-50" dirty="0">
                    <a:solidFill>
                      <a:srgbClr val="385622"/>
                    </a:solidFill>
                    <a:latin typeface="Calibri"/>
                    <a:cs typeface="Calibri"/>
                  </a:rPr>
                  <a:t> </a:t>
                </a:r>
                <a:r>
                  <a:rPr lang="en-US" sz="2400" b="1" dirty="0">
                    <a:solidFill>
                      <a:srgbClr val="385622"/>
                    </a:solidFill>
                    <a:latin typeface="Calibri"/>
                    <a:cs typeface="Calibri"/>
                  </a:rPr>
                  <a:t>Linear</a:t>
                </a:r>
                <a:r>
                  <a:rPr lang="en-US" sz="2400" b="1" spc="-20" dirty="0">
                    <a:solidFill>
                      <a:srgbClr val="385622"/>
                    </a:solidFill>
                    <a:latin typeface="Calibri"/>
                    <a:cs typeface="Calibri"/>
                  </a:rPr>
                  <a:t> </a:t>
                </a:r>
                <a:r>
                  <a:rPr lang="en-US" sz="2400" b="1" dirty="0">
                    <a:solidFill>
                      <a:srgbClr val="385622"/>
                    </a:solidFill>
                    <a:latin typeface="Calibri"/>
                    <a:cs typeface="Calibri"/>
                  </a:rPr>
                  <a:t>Block</a:t>
                </a:r>
                <a:r>
                  <a:rPr lang="en-US" sz="2400" b="1" spc="-30" dirty="0">
                    <a:solidFill>
                      <a:srgbClr val="385622"/>
                    </a:solidFill>
                    <a:latin typeface="Calibri"/>
                    <a:cs typeface="Calibri"/>
                  </a:rPr>
                  <a:t> </a:t>
                </a:r>
                <a:r>
                  <a:rPr lang="en-US" sz="2400" b="1" dirty="0">
                    <a:solidFill>
                      <a:srgbClr val="385622"/>
                    </a:solidFill>
                    <a:latin typeface="Calibri"/>
                    <a:cs typeface="Calibri"/>
                  </a:rPr>
                  <a:t>Code,</a:t>
                </a:r>
                <a:r>
                  <a:rPr lang="en-US" sz="2400" b="1" spc="-15" dirty="0">
                    <a:solidFill>
                      <a:srgbClr val="385622"/>
                    </a:solidFill>
                    <a:latin typeface="Calibri"/>
                    <a:cs typeface="Calibri"/>
                  </a:rPr>
                  <a:t> </a:t>
                </a:r>
                <a:r>
                  <a:rPr lang="en-US" sz="2400" b="1" dirty="0">
                    <a:solidFill>
                      <a:srgbClr val="385622"/>
                    </a:solidFill>
                    <a:latin typeface="Calibri"/>
                    <a:cs typeface="Calibri"/>
                  </a:rPr>
                  <a:t>C</a:t>
                </a:r>
                <a:r>
                  <a:rPr lang="en-US" sz="1800" b="1" dirty="0">
                    <a:solidFill>
                      <a:srgbClr val="385622"/>
                    </a:solidFill>
                    <a:latin typeface="Calibri"/>
                    <a:cs typeface="Calibri"/>
                  </a:rPr>
                  <a:t>p</a:t>
                </a:r>
                <a:r>
                  <a:rPr lang="en-US" sz="1800" b="1" spc="105" dirty="0">
                    <a:solidFill>
                      <a:srgbClr val="385622"/>
                    </a:solidFill>
                    <a:latin typeface="Calibri"/>
                    <a:cs typeface="Calibri"/>
                  </a:rPr>
                  <a:t> </a:t>
                </a:r>
                <a:r>
                  <a:rPr lang="en-US" sz="2400" b="1" dirty="0">
                    <a:solidFill>
                      <a:srgbClr val="385622"/>
                    </a:solidFill>
                    <a:latin typeface="Calibri"/>
                    <a:cs typeface="Calibri"/>
                  </a:rPr>
                  <a:t>=</a:t>
                </a:r>
                <a:r>
                  <a:rPr lang="en-US" sz="2400" b="1" spc="-15" dirty="0">
                    <a:solidFill>
                      <a:srgbClr val="385622"/>
                    </a:solidFill>
                    <a:latin typeface="Calibri"/>
                    <a:cs typeface="Calibri"/>
                  </a:rPr>
                  <a:t> </a:t>
                </a:r>
                <a:r>
                  <a:rPr lang="en-US" sz="2400" b="1" dirty="0">
                    <a:solidFill>
                      <a:srgbClr val="385622"/>
                    </a:solidFill>
                    <a:latin typeface="Calibri"/>
                    <a:cs typeface="Calibri"/>
                  </a:rPr>
                  <a:t>C</a:t>
                </a:r>
                <a:r>
                  <a:rPr lang="en-US" sz="1800" b="1" dirty="0">
                    <a:solidFill>
                      <a:srgbClr val="385622"/>
                    </a:solidFill>
                    <a:latin typeface="Calibri"/>
                    <a:cs typeface="Calibri"/>
                  </a:rPr>
                  <a:t>i</a:t>
                </a:r>
                <a:r>
                  <a:rPr lang="en-US" sz="1800" b="1" spc="105" dirty="0">
                    <a:solidFill>
                      <a:srgbClr val="385622"/>
                    </a:solidFill>
                    <a:latin typeface="Calibri"/>
                    <a:cs typeface="Calibri"/>
                  </a:rPr>
                  <a:t> </a:t>
                </a:r>
                <a:r>
                  <a:rPr lang="en-US" sz="2400" b="1" dirty="0">
                    <a:solidFill>
                      <a:srgbClr val="385622"/>
                    </a:solidFill>
                    <a:latin typeface="Calibri"/>
                    <a:cs typeface="Calibri"/>
                  </a:rPr>
                  <a:t>+</a:t>
                </a:r>
                <a:r>
                  <a:rPr lang="en-US" sz="2400" b="1" spc="-20" dirty="0">
                    <a:solidFill>
                      <a:srgbClr val="385622"/>
                    </a:solidFill>
                    <a:latin typeface="Calibri"/>
                    <a:cs typeface="Calibri"/>
                  </a:rPr>
                  <a:t> </a:t>
                </a:r>
                <a:r>
                  <a:rPr lang="en-US" sz="2400" b="1" spc="-25" dirty="0">
                    <a:solidFill>
                      <a:srgbClr val="385622"/>
                    </a:solidFill>
                    <a:latin typeface="Calibri"/>
                    <a:cs typeface="Calibri"/>
                  </a:rPr>
                  <a:t>C</a:t>
                </a:r>
                <a:r>
                  <a:rPr lang="en-US" sz="1800" b="1" spc="-25" dirty="0">
                    <a:solidFill>
                      <a:srgbClr val="385622"/>
                    </a:solidFill>
                    <a:latin typeface="Calibri"/>
                    <a:cs typeface="Calibri"/>
                  </a:rPr>
                  <a:t>j</a:t>
                </a:r>
                <a:r>
                  <a:rPr lang="en-US" sz="2400" b="1" spc="-25" dirty="0">
                    <a:solidFill>
                      <a:srgbClr val="385622"/>
                    </a:solidFill>
                    <a:latin typeface="Calibri"/>
                    <a:cs typeface="Calibri"/>
                  </a:rPr>
                  <a:t>.</a:t>
                </a:r>
                <a:endParaRPr lang="en-US" sz="2400" dirty="0">
                  <a:latin typeface="Calibri"/>
                  <a:cs typeface="Calibri"/>
                </a:endParaRPr>
              </a:p>
              <a:p>
                <a:pPr marL="469900" marR="5080" indent="-457200">
                  <a:lnSpc>
                    <a:spcPct val="100000"/>
                  </a:lnSpc>
                  <a:buAutoNum type="arabicPeriod"/>
                  <a:tabLst>
                    <a:tab pos="469900" algn="l"/>
                  </a:tabLst>
                </a:pPr>
                <a:r>
                  <a:rPr lang="en-US" sz="2400" b="1" dirty="0">
                    <a:solidFill>
                      <a:srgbClr val="385622"/>
                    </a:solidFill>
                    <a:latin typeface="Calibri"/>
                    <a:cs typeface="Calibri"/>
                  </a:rPr>
                  <a:t>The</a:t>
                </a:r>
                <a:r>
                  <a:rPr lang="en-US" sz="2400" b="1" spc="295" dirty="0">
                    <a:solidFill>
                      <a:srgbClr val="385622"/>
                    </a:solidFill>
                    <a:latin typeface="Calibri"/>
                    <a:cs typeface="Calibri"/>
                  </a:rPr>
                  <a:t> </a:t>
                </a:r>
                <a:r>
                  <a:rPr lang="en-US" sz="2400" b="1" spc="-10" dirty="0">
                    <a:solidFill>
                      <a:srgbClr val="385622"/>
                    </a:solidFill>
                    <a:latin typeface="Calibri"/>
                    <a:cs typeface="Calibri"/>
                  </a:rPr>
                  <a:t>all-</a:t>
                </a:r>
                <a:r>
                  <a:rPr lang="en-US" sz="2400" b="1" dirty="0">
                    <a:solidFill>
                      <a:srgbClr val="385622"/>
                    </a:solidFill>
                    <a:latin typeface="Calibri"/>
                    <a:cs typeface="Calibri"/>
                  </a:rPr>
                  <a:t>zero</a:t>
                </a:r>
                <a:r>
                  <a:rPr lang="en-US" sz="2400" b="1" spc="290" dirty="0">
                    <a:solidFill>
                      <a:srgbClr val="385622"/>
                    </a:solidFill>
                    <a:latin typeface="Calibri"/>
                    <a:cs typeface="Calibri"/>
                  </a:rPr>
                  <a:t> </a:t>
                </a:r>
                <a:r>
                  <a:rPr lang="en-US" sz="2400" b="1" dirty="0">
                    <a:solidFill>
                      <a:srgbClr val="385622"/>
                    </a:solidFill>
                    <a:latin typeface="Calibri"/>
                    <a:cs typeface="Calibri"/>
                  </a:rPr>
                  <a:t>word</a:t>
                </a:r>
                <a:r>
                  <a:rPr lang="en-US" sz="2400" b="1" spc="280" dirty="0">
                    <a:solidFill>
                      <a:srgbClr val="385622"/>
                    </a:solidFill>
                    <a:latin typeface="Calibri"/>
                    <a:cs typeface="Calibri"/>
                  </a:rPr>
                  <a:t> </a:t>
                </a:r>
                <a:r>
                  <a:rPr lang="en-US" sz="2400" b="1" dirty="0">
                    <a:solidFill>
                      <a:srgbClr val="385622"/>
                    </a:solidFill>
                    <a:latin typeface="Calibri"/>
                    <a:cs typeface="Calibri"/>
                  </a:rPr>
                  <a:t>[0,</a:t>
                </a:r>
                <a:r>
                  <a:rPr lang="en-US" sz="2400" b="1" spc="300" dirty="0">
                    <a:solidFill>
                      <a:srgbClr val="385622"/>
                    </a:solidFill>
                    <a:latin typeface="Calibri"/>
                    <a:cs typeface="Calibri"/>
                  </a:rPr>
                  <a:t> </a:t>
                </a:r>
                <a:r>
                  <a:rPr lang="en-US" sz="2400" b="1" dirty="0">
                    <a:solidFill>
                      <a:srgbClr val="385622"/>
                    </a:solidFill>
                    <a:latin typeface="Calibri"/>
                    <a:cs typeface="Calibri"/>
                  </a:rPr>
                  <a:t>0,</a:t>
                </a:r>
                <a:r>
                  <a:rPr lang="en-US" sz="2400" b="1" spc="290" dirty="0">
                    <a:solidFill>
                      <a:srgbClr val="385622"/>
                    </a:solidFill>
                    <a:latin typeface="Calibri"/>
                    <a:cs typeface="Calibri"/>
                  </a:rPr>
                  <a:t> </a:t>
                </a:r>
                <a:r>
                  <a:rPr lang="en-US" sz="2400" b="1" dirty="0">
                    <a:solidFill>
                      <a:srgbClr val="385622"/>
                    </a:solidFill>
                    <a:latin typeface="Calibri"/>
                    <a:cs typeface="Calibri"/>
                  </a:rPr>
                  <a:t>0,</a:t>
                </a:r>
                <a:r>
                  <a:rPr lang="en-US" sz="2400" b="1" spc="295" dirty="0">
                    <a:solidFill>
                      <a:srgbClr val="385622"/>
                    </a:solidFill>
                    <a:latin typeface="Calibri"/>
                    <a:cs typeface="Calibri"/>
                  </a:rPr>
                  <a:t> </a:t>
                </a:r>
                <a:r>
                  <a:rPr lang="en-US" sz="2400" b="1" dirty="0">
                    <a:solidFill>
                      <a:srgbClr val="385622"/>
                    </a:solidFill>
                    <a:latin typeface="Calibri"/>
                    <a:cs typeface="Calibri"/>
                  </a:rPr>
                  <a:t>……</a:t>
                </a:r>
                <a:r>
                  <a:rPr lang="en-US" sz="2400" b="1" spc="290" dirty="0">
                    <a:solidFill>
                      <a:srgbClr val="385622"/>
                    </a:solidFill>
                    <a:latin typeface="Calibri"/>
                    <a:cs typeface="Calibri"/>
                  </a:rPr>
                  <a:t> </a:t>
                </a:r>
                <a:r>
                  <a:rPr lang="en-US" sz="2400" b="1" dirty="0">
                    <a:solidFill>
                      <a:srgbClr val="385622"/>
                    </a:solidFill>
                    <a:latin typeface="Calibri"/>
                    <a:cs typeface="Calibri"/>
                  </a:rPr>
                  <a:t>,</a:t>
                </a:r>
                <a:r>
                  <a:rPr lang="en-US" sz="2400" b="1" spc="300" dirty="0">
                    <a:solidFill>
                      <a:srgbClr val="385622"/>
                    </a:solidFill>
                    <a:latin typeface="Calibri"/>
                    <a:cs typeface="Calibri"/>
                  </a:rPr>
                  <a:t> </a:t>
                </a:r>
                <a:r>
                  <a:rPr lang="en-US" sz="2400" b="1" dirty="0">
                    <a:solidFill>
                      <a:srgbClr val="385622"/>
                    </a:solidFill>
                    <a:latin typeface="Calibri"/>
                    <a:cs typeface="Calibri"/>
                  </a:rPr>
                  <a:t>0]</a:t>
                </a:r>
                <a:r>
                  <a:rPr lang="en-US" sz="2400" b="1" spc="295" dirty="0">
                    <a:solidFill>
                      <a:srgbClr val="385622"/>
                    </a:solidFill>
                    <a:latin typeface="Calibri"/>
                    <a:cs typeface="Calibri"/>
                  </a:rPr>
                  <a:t> </a:t>
                </a:r>
                <a:r>
                  <a:rPr lang="en-US" sz="2400" b="1" dirty="0">
                    <a:solidFill>
                      <a:srgbClr val="385622"/>
                    </a:solidFill>
                    <a:latin typeface="Calibri"/>
                    <a:cs typeface="Calibri"/>
                  </a:rPr>
                  <a:t>is</a:t>
                </a:r>
                <a:r>
                  <a:rPr lang="en-US" sz="2400" b="1" spc="300" dirty="0">
                    <a:solidFill>
                      <a:srgbClr val="385622"/>
                    </a:solidFill>
                    <a:latin typeface="Calibri"/>
                    <a:cs typeface="Calibri"/>
                  </a:rPr>
                  <a:t> </a:t>
                </a:r>
                <a:r>
                  <a:rPr lang="en-US" sz="2400" b="1" dirty="0">
                    <a:solidFill>
                      <a:srgbClr val="385622"/>
                    </a:solidFill>
                    <a:latin typeface="Calibri"/>
                    <a:cs typeface="Calibri"/>
                  </a:rPr>
                  <a:t>always</a:t>
                </a:r>
                <a:r>
                  <a:rPr lang="en-US" sz="2400" b="1" spc="280" dirty="0">
                    <a:solidFill>
                      <a:srgbClr val="385622"/>
                    </a:solidFill>
                    <a:latin typeface="Calibri"/>
                    <a:cs typeface="Calibri"/>
                  </a:rPr>
                  <a:t> </a:t>
                </a:r>
                <a:r>
                  <a:rPr lang="en-US" sz="2400" b="1" dirty="0">
                    <a:solidFill>
                      <a:srgbClr val="385622"/>
                    </a:solidFill>
                    <a:latin typeface="Calibri"/>
                    <a:cs typeface="Calibri"/>
                  </a:rPr>
                  <a:t>a</a:t>
                </a:r>
                <a:r>
                  <a:rPr lang="en-US" sz="2400" b="1" spc="285" dirty="0">
                    <a:solidFill>
                      <a:srgbClr val="385622"/>
                    </a:solidFill>
                    <a:latin typeface="Calibri"/>
                    <a:cs typeface="Calibri"/>
                  </a:rPr>
                  <a:t> </a:t>
                </a:r>
                <a:r>
                  <a:rPr lang="en-US" sz="2400" b="1" dirty="0">
                    <a:solidFill>
                      <a:srgbClr val="385622"/>
                    </a:solidFill>
                    <a:latin typeface="Calibri"/>
                    <a:cs typeface="Calibri"/>
                  </a:rPr>
                  <a:t>valid</a:t>
                </a:r>
                <a:r>
                  <a:rPr lang="en-US" sz="2400" b="1" spc="290" dirty="0">
                    <a:solidFill>
                      <a:srgbClr val="385622"/>
                    </a:solidFill>
                    <a:latin typeface="Calibri"/>
                    <a:cs typeface="Calibri"/>
                  </a:rPr>
                  <a:t> </a:t>
                </a:r>
                <a:r>
                  <a:rPr lang="en-US" sz="2400" b="1" dirty="0">
                    <a:solidFill>
                      <a:srgbClr val="385622"/>
                    </a:solidFill>
                    <a:latin typeface="Calibri"/>
                    <a:cs typeface="Calibri"/>
                  </a:rPr>
                  <a:t>codeword</a:t>
                </a:r>
                <a:r>
                  <a:rPr lang="en-US" sz="2400" b="1" spc="300" dirty="0">
                    <a:solidFill>
                      <a:srgbClr val="385622"/>
                    </a:solidFill>
                    <a:latin typeface="Calibri"/>
                    <a:cs typeface="Calibri"/>
                  </a:rPr>
                  <a:t> </a:t>
                </a:r>
                <a:r>
                  <a:rPr lang="en-US" sz="2400" b="1" dirty="0">
                    <a:solidFill>
                      <a:srgbClr val="385622"/>
                    </a:solidFill>
                    <a:latin typeface="Calibri"/>
                    <a:cs typeface="Calibri"/>
                  </a:rPr>
                  <a:t>in</a:t>
                </a:r>
                <a:r>
                  <a:rPr lang="en-US" sz="2400" b="1" spc="290" dirty="0">
                    <a:solidFill>
                      <a:srgbClr val="385622"/>
                    </a:solidFill>
                    <a:latin typeface="Calibri"/>
                    <a:cs typeface="Calibri"/>
                  </a:rPr>
                  <a:t> </a:t>
                </a:r>
                <a:r>
                  <a:rPr lang="en-US" sz="2400" b="1" spc="-50" dirty="0">
                    <a:solidFill>
                      <a:srgbClr val="385622"/>
                    </a:solidFill>
                    <a:latin typeface="Calibri"/>
                    <a:cs typeface="Calibri"/>
                  </a:rPr>
                  <a:t>a </a:t>
                </a:r>
                <a:r>
                  <a:rPr lang="en-US" sz="2400" b="1" dirty="0">
                    <a:solidFill>
                      <a:srgbClr val="385622"/>
                    </a:solidFill>
                    <a:latin typeface="Calibri"/>
                    <a:cs typeface="Calibri"/>
                  </a:rPr>
                  <a:t>Linear</a:t>
                </a:r>
                <a:r>
                  <a:rPr lang="en-US" sz="2400" b="1" spc="-20" dirty="0">
                    <a:solidFill>
                      <a:srgbClr val="385622"/>
                    </a:solidFill>
                    <a:latin typeface="Calibri"/>
                    <a:cs typeface="Calibri"/>
                  </a:rPr>
                  <a:t> </a:t>
                </a:r>
                <a:r>
                  <a:rPr lang="en-US" sz="2400" b="1" dirty="0">
                    <a:solidFill>
                      <a:srgbClr val="385622"/>
                    </a:solidFill>
                    <a:latin typeface="Calibri"/>
                    <a:cs typeface="Calibri"/>
                  </a:rPr>
                  <a:t>Block</a:t>
                </a:r>
                <a:r>
                  <a:rPr lang="en-US" sz="2400" b="1" spc="-15" dirty="0">
                    <a:solidFill>
                      <a:srgbClr val="385622"/>
                    </a:solidFill>
                    <a:latin typeface="Calibri"/>
                    <a:cs typeface="Calibri"/>
                  </a:rPr>
                  <a:t> </a:t>
                </a:r>
                <a:r>
                  <a:rPr lang="en-US" sz="2400" b="1" spc="-20" dirty="0">
                    <a:solidFill>
                      <a:srgbClr val="385622"/>
                    </a:solidFill>
                    <a:latin typeface="Calibri"/>
                    <a:cs typeface="Calibri"/>
                  </a:rPr>
                  <a:t>Code.</a:t>
                </a:r>
                <a:endParaRPr lang="en-US" sz="2400" dirty="0">
                  <a:latin typeface="Calibri"/>
                  <a:cs typeface="Calibri"/>
                </a:endParaRPr>
              </a:p>
              <a:p>
                <a:pPr marL="469265" indent="-456565">
                  <a:lnSpc>
                    <a:spcPct val="100000"/>
                  </a:lnSpc>
                  <a:buAutoNum type="arabicPeriod"/>
                  <a:tabLst>
                    <a:tab pos="469265" algn="l"/>
                  </a:tabLst>
                </a:pPr>
                <a:r>
                  <a:rPr lang="en-US" sz="2400" b="1" dirty="0">
                    <a:solidFill>
                      <a:srgbClr val="385622"/>
                    </a:solidFill>
                    <a:latin typeface="Calibri"/>
                    <a:cs typeface="Calibri"/>
                  </a:rPr>
                  <a:t>Minimum</a:t>
                </a:r>
                <a:r>
                  <a:rPr lang="en-US" sz="2400" b="1" spc="-45" dirty="0">
                    <a:solidFill>
                      <a:srgbClr val="385622"/>
                    </a:solidFill>
                    <a:latin typeface="Calibri"/>
                    <a:cs typeface="Calibri"/>
                  </a:rPr>
                  <a:t> </a:t>
                </a:r>
                <a:r>
                  <a:rPr lang="en-US" sz="2400" b="1" dirty="0">
                    <a:solidFill>
                      <a:srgbClr val="385622"/>
                    </a:solidFill>
                    <a:latin typeface="Calibri"/>
                    <a:cs typeface="Calibri"/>
                  </a:rPr>
                  <a:t>Hamming</a:t>
                </a:r>
                <a:r>
                  <a:rPr lang="en-US" sz="2400" b="1" spc="-40" dirty="0">
                    <a:solidFill>
                      <a:srgbClr val="385622"/>
                    </a:solidFill>
                    <a:latin typeface="Calibri"/>
                    <a:cs typeface="Calibri"/>
                  </a:rPr>
                  <a:t> </a:t>
                </a:r>
                <a:r>
                  <a:rPr lang="en-US" sz="2400" b="1" spc="-10" dirty="0">
                    <a:solidFill>
                      <a:srgbClr val="385622"/>
                    </a:solidFill>
                    <a:latin typeface="Calibri"/>
                    <a:cs typeface="Calibri"/>
                  </a:rPr>
                  <a:t>Distance</a:t>
                </a:r>
                <a:r>
                  <a:rPr lang="en-US" sz="2400" b="1" spc="-25" dirty="0">
                    <a:solidFill>
                      <a:srgbClr val="385622"/>
                    </a:solidFill>
                    <a:latin typeface="Calibri"/>
                    <a:cs typeface="Calibri"/>
                  </a:rPr>
                  <a:t> </a:t>
                </a:r>
                <a:r>
                  <a:rPr lang="en-US" sz="2400" b="1" dirty="0">
                    <a:solidFill>
                      <a:srgbClr val="385622"/>
                    </a:solidFill>
                    <a:latin typeface="Calibri"/>
                    <a:cs typeface="Calibri"/>
                  </a:rPr>
                  <a:t>of</a:t>
                </a:r>
                <a:r>
                  <a:rPr lang="en-US" sz="2400" b="1" spc="-40" dirty="0">
                    <a:solidFill>
                      <a:srgbClr val="385622"/>
                    </a:solidFill>
                    <a:latin typeface="Calibri"/>
                    <a:cs typeface="Calibri"/>
                  </a:rPr>
                  <a:t> </a:t>
                </a:r>
                <a:r>
                  <a:rPr lang="en-US" sz="2400" b="1" dirty="0">
                    <a:solidFill>
                      <a:srgbClr val="385622"/>
                    </a:solidFill>
                    <a:latin typeface="Calibri"/>
                    <a:cs typeface="Calibri"/>
                  </a:rPr>
                  <a:t>the</a:t>
                </a:r>
                <a:r>
                  <a:rPr lang="en-US" sz="2400" b="1" spc="-20" dirty="0">
                    <a:solidFill>
                      <a:srgbClr val="385622"/>
                    </a:solidFill>
                    <a:latin typeface="Calibri"/>
                    <a:cs typeface="Calibri"/>
                  </a:rPr>
                  <a:t> </a:t>
                </a:r>
                <a:r>
                  <a:rPr lang="en-US" sz="2400" b="1" dirty="0">
                    <a:solidFill>
                      <a:srgbClr val="385622"/>
                    </a:solidFill>
                    <a:latin typeface="Calibri"/>
                    <a:cs typeface="Calibri"/>
                  </a:rPr>
                  <a:t>Code</a:t>
                </a:r>
                <a:r>
                  <a:rPr lang="en-US" sz="2400" b="1" spc="-35" dirty="0">
                    <a:solidFill>
                      <a:srgbClr val="385622"/>
                    </a:solidFill>
                    <a:latin typeface="Calibri"/>
                    <a:cs typeface="Calibri"/>
                  </a:rPr>
                  <a:t> </a:t>
                </a:r>
                <a:r>
                  <a:rPr lang="en-US" sz="2400" b="1" dirty="0">
                    <a:solidFill>
                      <a:srgbClr val="385622"/>
                    </a:solidFill>
                    <a:latin typeface="Calibri"/>
                    <a:cs typeface="Calibri"/>
                  </a:rPr>
                  <a:t>d</a:t>
                </a:r>
                <a:r>
                  <a:rPr lang="en-US" sz="1800" b="1" dirty="0">
                    <a:solidFill>
                      <a:srgbClr val="385622"/>
                    </a:solidFill>
                    <a:latin typeface="Calibri"/>
                    <a:cs typeface="Calibri"/>
                  </a:rPr>
                  <a:t>min</a:t>
                </a:r>
                <a:r>
                  <a:rPr lang="en-US" sz="1800" b="1" spc="80" dirty="0">
                    <a:solidFill>
                      <a:srgbClr val="385622"/>
                    </a:solidFill>
                    <a:latin typeface="Calibri"/>
                    <a:cs typeface="Calibri"/>
                  </a:rPr>
                  <a:t> </a:t>
                </a:r>
                <a:r>
                  <a:rPr lang="en-US" sz="2400" b="1" dirty="0">
                    <a:solidFill>
                      <a:srgbClr val="385622"/>
                    </a:solidFill>
                    <a:latin typeface="Calibri"/>
                    <a:cs typeface="Calibri"/>
                  </a:rPr>
                  <a:t>=</a:t>
                </a:r>
                <a:r>
                  <a:rPr lang="en-US" sz="2400" b="1" spc="-35" dirty="0">
                    <a:solidFill>
                      <a:srgbClr val="385622"/>
                    </a:solidFill>
                    <a:latin typeface="Calibri"/>
                    <a:cs typeface="Calibri"/>
                  </a:rPr>
                  <a:t> </a:t>
                </a:r>
                <a:r>
                  <a:rPr lang="en-US" sz="2400" b="1" spc="-10" dirty="0">
                    <a:solidFill>
                      <a:srgbClr val="385622"/>
                    </a:solidFill>
                    <a:latin typeface="Calibri"/>
                    <a:cs typeface="Calibri"/>
                  </a:rPr>
                  <a:t>W</a:t>
                </a:r>
                <a:r>
                  <a:rPr lang="en-US" sz="1800" b="1" spc="-10" dirty="0">
                    <a:solidFill>
                      <a:srgbClr val="385622"/>
                    </a:solidFill>
                    <a:latin typeface="Calibri"/>
                    <a:cs typeface="Calibri"/>
                  </a:rPr>
                  <a:t>min.</a:t>
                </a:r>
                <a:endParaRPr lang="en-US" sz="1800" dirty="0">
                  <a:latin typeface="Calibri"/>
                  <a:cs typeface="Calibri"/>
                </a:endParaRPr>
              </a:p>
              <a:p>
                <a:pPr marL="469265" indent="-456565">
                  <a:lnSpc>
                    <a:spcPct val="100000"/>
                  </a:lnSpc>
                  <a:buAutoNum type="arabicPeriod"/>
                  <a:tabLst>
                    <a:tab pos="469265" algn="l"/>
                  </a:tabLst>
                </a:pPr>
                <a:r>
                  <a:rPr lang="en-US" sz="2400" b="1" dirty="0">
                    <a:solidFill>
                      <a:srgbClr val="385622"/>
                    </a:solidFill>
                    <a:latin typeface="Calibri"/>
                    <a:cs typeface="Calibri"/>
                  </a:rPr>
                  <a:t>It</a:t>
                </a:r>
                <a:r>
                  <a:rPr lang="en-US" sz="2400" b="1" spc="-30" dirty="0">
                    <a:solidFill>
                      <a:srgbClr val="385622"/>
                    </a:solidFill>
                    <a:latin typeface="Calibri"/>
                    <a:cs typeface="Calibri"/>
                  </a:rPr>
                  <a:t> </a:t>
                </a:r>
                <a:r>
                  <a:rPr lang="en-US" sz="2400" b="1" dirty="0">
                    <a:solidFill>
                      <a:srgbClr val="385622"/>
                    </a:solidFill>
                    <a:latin typeface="Calibri"/>
                    <a:cs typeface="Calibri"/>
                  </a:rPr>
                  <a:t>can</a:t>
                </a:r>
                <a:r>
                  <a:rPr lang="en-US" sz="2400" b="1" spc="-50" dirty="0">
                    <a:solidFill>
                      <a:srgbClr val="385622"/>
                    </a:solidFill>
                    <a:latin typeface="Calibri"/>
                    <a:cs typeface="Calibri"/>
                  </a:rPr>
                  <a:t> </a:t>
                </a:r>
                <a:r>
                  <a:rPr lang="en-US" sz="2400" b="1" dirty="0">
                    <a:solidFill>
                      <a:srgbClr val="385622"/>
                    </a:solidFill>
                    <a:latin typeface="Calibri"/>
                    <a:cs typeface="Calibri"/>
                  </a:rPr>
                  <a:t>detect</a:t>
                </a:r>
                <a:r>
                  <a:rPr lang="en-US" sz="2400" b="1" spc="-40" dirty="0">
                    <a:solidFill>
                      <a:srgbClr val="385622"/>
                    </a:solidFill>
                    <a:latin typeface="Calibri"/>
                    <a:cs typeface="Calibri"/>
                  </a:rPr>
                  <a:t> </a:t>
                </a:r>
                <a:r>
                  <a:rPr lang="en-US" sz="2400" b="1" dirty="0">
                    <a:solidFill>
                      <a:srgbClr val="385622"/>
                    </a:solidFill>
                    <a:latin typeface="Calibri"/>
                    <a:cs typeface="Calibri"/>
                  </a:rPr>
                  <a:t>up</a:t>
                </a:r>
                <a:r>
                  <a:rPr lang="en-US" sz="2400" b="1" spc="-25" dirty="0">
                    <a:solidFill>
                      <a:srgbClr val="385622"/>
                    </a:solidFill>
                    <a:latin typeface="Calibri"/>
                    <a:cs typeface="Calibri"/>
                  </a:rPr>
                  <a:t> </a:t>
                </a:r>
                <a:r>
                  <a:rPr lang="en-US" sz="2400" b="1" dirty="0">
                    <a:solidFill>
                      <a:srgbClr val="385622"/>
                    </a:solidFill>
                    <a:latin typeface="Calibri"/>
                    <a:cs typeface="Calibri"/>
                  </a:rPr>
                  <a:t>to</a:t>
                </a:r>
                <a:r>
                  <a:rPr lang="en-US" sz="2400" b="1" spc="-45" dirty="0">
                    <a:solidFill>
                      <a:srgbClr val="385622"/>
                    </a:solidFill>
                    <a:latin typeface="Calibri"/>
                    <a:cs typeface="Calibri"/>
                  </a:rPr>
                  <a:t> </a:t>
                </a:r>
                <a:r>
                  <a:rPr lang="en-US" sz="2400" b="1" dirty="0">
                    <a:solidFill>
                      <a:srgbClr val="385622"/>
                    </a:solidFill>
                    <a:latin typeface="Calibri"/>
                    <a:cs typeface="Calibri"/>
                  </a:rPr>
                  <a:t>(d</a:t>
                </a:r>
                <a:r>
                  <a:rPr lang="en-US" sz="1800" b="1" dirty="0">
                    <a:solidFill>
                      <a:srgbClr val="385622"/>
                    </a:solidFill>
                    <a:latin typeface="Calibri"/>
                    <a:cs typeface="Calibri"/>
                  </a:rPr>
                  <a:t>min</a:t>
                </a:r>
                <a:r>
                  <a:rPr lang="en-US" sz="1800" b="1" spc="105" dirty="0">
                    <a:solidFill>
                      <a:srgbClr val="385622"/>
                    </a:solidFill>
                    <a:latin typeface="Calibri"/>
                    <a:cs typeface="Calibri"/>
                  </a:rPr>
                  <a:t> </a:t>
                </a:r>
                <a:r>
                  <a:rPr lang="en-US" sz="2400" b="1" dirty="0">
                    <a:solidFill>
                      <a:srgbClr val="385622"/>
                    </a:solidFill>
                    <a:latin typeface="Calibri"/>
                    <a:cs typeface="Calibri"/>
                  </a:rPr>
                  <a:t>–</a:t>
                </a:r>
                <a:r>
                  <a:rPr lang="en-US" sz="2400" b="1" spc="-40" dirty="0">
                    <a:solidFill>
                      <a:srgbClr val="385622"/>
                    </a:solidFill>
                    <a:latin typeface="Calibri"/>
                    <a:cs typeface="Calibri"/>
                  </a:rPr>
                  <a:t> </a:t>
                </a:r>
                <a:r>
                  <a:rPr lang="en-US" sz="2400" b="1" dirty="0">
                    <a:solidFill>
                      <a:srgbClr val="385622"/>
                    </a:solidFill>
                    <a:latin typeface="Calibri"/>
                    <a:cs typeface="Calibri"/>
                  </a:rPr>
                  <a:t>1)</a:t>
                </a:r>
                <a:r>
                  <a:rPr lang="en-US" sz="2400" b="1" spc="-30" dirty="0">
                    <a:solidFill>
                      <a:srgbClr val="385622"/>
                    </a:solidFill>
                    <a:latin typeface="Calibri"/>
                    <a:cs typeface="Calibri"/>
                  </a:rPr>
                  <a:t> </a:t>
                </a:r>
                <a:r>
                  <a:rPr lang="en-US" sz="2400" b="1" spc="-10" dirty="0">
                    <a:solidFill>
                      <a:srgbClr val="385622"/>
                    </a:solidFill>
                    <a:latin typeface="Calibri"/>
                    <a:cs typeface="Calibri"/>
                  </a:rPr>
                  <a:t>Errors.</a:t>
                </a:r>
                <a:endParaRPr lang="en-US" sz="2400" dirty="0">
                  <a:latin typeface="Calibri"/>
                  <a:cs typeface="Calibri"/>
                </a:endParaRPr>
              </a:p>
              <a:p>
                <a:pPr marL="469265" indent="-456565">
                  <a:lnSpc>
                    <a:spcPct val="100000"/>
                  </a:lnSpc>
                  <a:buAutoNum type="arabicPeriod"/>
                  <a:tabLst>
                    <a:tab pos="469265" algn="l"/>
                  </a:tabLst>
                </a:pPr>
                <a:r>
                  <a:rPr lang="en-US" sz="2400" b="1" dirty="0">
                    <a:solidFill>
                      <a:srgbClr val="385622"/>
                    </a:solidFill>
                    <a:latin typeface="Calibri"/>
                    <a:cs typeface="Calibri"/>
                  </a:rPr>
                  <a:t>It</a:t>
                </a:r>
                <a:r>
                  <a:rPr lang="en-US" sz="2400" b="1" spc="-25" dirty="0">
                    <a:solidFill>
                      <a:srgbClr val="385622"/>
                    </a:solidFill>
                    <a:latin typeface="Calibri"/>
                    <a:cs typeface="Calibri"/>
                  </a:rPr>
                  <a:t> </a:t>
                </a:r>
                <a:r>
                  <a:rPr lang="en-US" sz="2400" b="1" dirty="0">
                    <a:solidFill>
                      <a:srgbClr val="385622"/>
                    </a:solidFill>
                    <a:latin typeface="Calibri"/>
                    <a:cs typeface="Calibri"/>
                  </a:rPr>
                  <a:t>can</a:t>
                </a:r>
                <a:r>
                  <a:rPr lang="en-US" sz="2400" b="1" spc="-45" dirty="0">
                    <a:solidFill>
                      <a:srgbClr val="385622"/>
                    </a:solidFill>
                    <a:latin typeface="Calibri"/>
                    <a:cs typeface="Calibri"/>
                  </a:rPr>
                  <a:t> </a:t>
                </a:r>
                <a:r>
                  <a:rPr lang="en-US" sz="2400" b="1" dirty="0">
                    <a:solidFill>
                      <a:srgbClr val="385622"/>
                    </a:solidFill>
                    <a:latin typeface="Calibri"/>
                    <a:cs typeface="Calibri"/>
                  </a:rPr>
                  <a:t>correct</a:t>
                </a:r>
                <a:r>
                  <a:rPr lang="en-US" sz="2400" b="1" spc="-55" dirty="0">
                    <a:solidFill>
                      <a:srgbClr val="385622"/>
                    </a:solidFill>
                    <a:latin typeface="Calibri"/>
                    <a:cs typeface="Calibri"/>
                  </a:rPr>
                  <a:t> </a:t>
                </a:r>
                <a:r>
                  <a:rPr lang="en-US" sz="2400" b="1" dirty="0">
                    <a:solidFill>
                      <a:srgbClr val="385622"/>
                    </a:solidFill>
                    <a:latin typeface="Calibri"/>
                    <a:cs typeface="Calibri"/>
                  </a:rPr>
                  <a:t>up</a:t>
                </a:r>
                <a:r>
                  <a:rPr lang="en-US" sz="2400" b="1" spc="-35" dirty="0">
                    <a:solidFill>
                      <a:srgbClr val="385622"/>
                    </a:solidFill>
                    <a:latin typeface="Calibri"/>
                    <a:cs typeface="Calibri"/>
                  </a:rPr>
                  <a:t> </a:t>
                </a:r>
                <a:r>
                  <a:rPr lang="en-US" sz="2400" b="1" dirty="0">
                    <a:solidFill>
                      <a:srgbClr val="385622"/>
                    </a:solidFill>
                    <a:latin typeface="Calibri"/>
                    <a:cs typeface="Calibri"/>
                  </a:rPr>
                  <a:t>to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solidFill>
                          <a:srgbClr val="385622"/>
                        </a:solidFill>
                        <a:latin typeface="Cambria Math"/>
                        <a:cs typeface="Calibri"/>
                      </a:rPr>
                      <m:t>⌊</m:t>
                    </m:r>
                    <m:f>
                      <m:fPr>
                        <m:ctrlPr>
                          <a:rPr lang="en-US" sz="2400" b="1" i="1" smtClean="0">
                            <a:solidFill>
                              <a:srgbClr val="385622"/>
                            </a:solidFill>
                            <a:latin typeface="Cambria Math" panose="02040503050406030204" pitchFamily="18" charset="0"/>
                            <a:cs typeface="Calibri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400" b="1" i="1" smtClean="0">
                                <a:solidFill>
                                  <a:srgbClr val="385622"/>
                                </a:solidFill>
                                <a:latin typeface="Cambria Math" panose="02040503050406030204" pitchFamily="18" charset="0"/>
                                <a:cs typeface="Calibri"/>
                              </a:rPr>
                            </m:ctrlPr>
                          </m:sSubPr>
                          <m:e>
                            <m:r>
                              <a:rPr lang="en-US" sz="2400" b="1" i="1" smtClean="0">
                                <a:solidFill>
                                  <a:srgbClr val="385622"/>
                                </a:solidFill>
                                <a:latin typeface="Cambria Math"/>
                                <a:cs typeface="Calibri"/>
                              </a:rPr>
                              <m:t>𝒅</m:t>
                            </m:r>
                          </m:e>
                          <m:sub>
                            <m:r>
                              <a:rPr lang="en-US" sz="2400" b="1" i="1" smtClean="0">
                                <a:solidFill>
                                  <a:srgbClr val="385622"/>
                                </a:solidFill>
                                <a:latin typeface="Cambria Math"/>
                                <a:cs typeface="Calibri"/>
                              </a:rPr>
                              <m:t>𝒎𝒊𝒏</m:t>
                            </m:r>
                          </m:sub>
                        </m:sSub>
                        <m:r>
                          <a:rPr lang="en-US" sz="2400" b="1" i="1" smtClean="0">
                            <a:solidFill>
                              <a:srgbClr val="385622"/>
                            </a:solidFill>
                            <a:latin typeface="Cambria Math"/>
                            <a:cs typeface="Calibri"/>
                          </a:rPr>
                          <m:t>−</m:t>
                        </m:r>
                        <m:r>
                          <a:rPr lang="en-US" sz="2400" b="1" i="1" smtClean="0">
                            <a:solidFill>
                              <a:srgbClr val="385622"/>
                            </a:solidFill>
                            <a:latin typeface="Cambria Math"/>
                            <a:cs typeface="Calibri"/>
                          </a:rPr>
                          <m:t>𝟏</m:t>
                        </m:r>
                      </m:num>
                      <m:den>
                        <m:r>
                          <a:rPr lang="en-US" sz="2400" b="1" i="1" smtClean="0">
                            <a:solidFill>
                              <a:srgbClr val="385622"/>
                            </a:solidFill>
                            <a:latin typeface="Cambria Math"/>
                            <a:cs typeface="Calibri"/>
                          </a:rPr>
                          <m:t>𝟐</m:t>
                        </m:r>
                      </m:den>
                    </m:f>
                    <m:r>
                      <a:rPr lang="en-US" sz="2400" b="1" i="1" smtClean="0">
                        <a:solidFill>
                          <a:srgbClr val="385622"/>
                        </a:solidFill>
                        <a:latin typeface="Cambria Math"/>
                        <a:cs typeface="Calibri"/>
                      </a:rPr>
                      <m:t>⌋</m:t>
                    </m:r>
                  </m:oMath>
                </a14:m>
                <a:r>
                  <a:rPr lang="en-US" sz="2400" b="1" spc="-25" dirty="0">
                    <a:solidFill>
                      <a:srgbClr val="385622"/>
                    </a:solidFill>
                    <a:latin typeface="Calibri"/>
                    <a:cs typeface="Calibri"/>
                  </a:rPr>
                  <a:t> </a:t>
                </a:r>
                <a:r>
                  <a:rPr lang="en-US" sz="2400" b="1" spc="-10" dirty="0">
                    <a:solidFill>
                      <a:srgbClr val="385622"/>
                    </a:solidFill>
                    <a:latin typeface="Calibri"/>
                    <a:cs typeface="Calibri"/>
                  </a:rPr>
                  <a:t>Errors.</a:t>
                </a:r>
                <a:endParaRPr sz="2400" dirty="0">
                  <a:latin typeface="Calibri"/>
                  <a:cs typeface="Calibri"/>
                </a:endParaRPr>
              </a:p>
            </p:txBody>
          </p:sp>
        </mc:Choice>
        <mc:Fallback xmlns="">
          <p:sp>
            <p:nvSpPr>
              <p:cNvPr id="7" name="object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71800" y="1174990"/>
                <a:ext cx="9248140" cy="2396810"/>
              </a:xfrm>
              <a:prstGeom prst="rect">
                <a:avLst/>
              </a:prstGeom>
              <a:blipFill rotWithShape="1">
                <a:blip r:embed="rId2"/>
                <a:stretch>
                  <a:fillRect l="-1912" t="-3817" r="-1648" b="-35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4692643"/>
              </p:ext>
            </p:extLst>
          </p:nvPr>
        </p:nvGraphicFramePr>
        <p:xfrm>
          <a:off x="3243" y="117066"/>
          <a:ext cx="2867715" cy="655703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66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46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46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460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0671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0563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7489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39117">
                <a:tc gridSpan="7">
                  <a:txBody>
                    <a:bodyPr/>
                    <a:lstStyle/>
                    <a:p>
                      <a:pPr algn="ctr"/>
                      <a:r>
                        <a:rPr lang="en-US" dirty="0"/>
                        <a:t>Hamming Code (7,4)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9117">
                <a:tc>
                  <a:txBody>
                    <a:bodyPr/>
                    <a:lstStyle/>
                    <a:p>
                      <a:r>
                        <a:rPr lang="en-US" sz="1300" dirty="0"/>
                        <a:t>D4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D3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D2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 dirty="0">
                          <a:solidFill>
                            <a:srgbClr val="FF0000"/>
                          </a:solidFill>
                        </a:rPr>
                        <a:t>P3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D1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 dirty="0">
                          <a:solidFill>
                            <a:srgbClr val="FF0000"/>
                          </a:solidFill>
                        </a:rPr>
                        <a:t>P2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 dirty="0">
                          <a:solidFill>
                            <a:srgbClr val="FF0000"/>
                          </a:solidFill>
                        </a:rPr>
                        <a:t>P1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9117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9117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9117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9117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9117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9117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9117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9117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39117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39117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39117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39117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39117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39117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339117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339117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0" y="1905000"/>
            <a:ext cx="2819400" cy="38028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0" y="4114800"/>
            <a:ext cx="2819400" cy="38028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0" y="4495087"/>
            <a:ext cx="2819400" cy="349028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88611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Example</a:t>
            </a:r>
            <a:r>
              <a:rPr spc="-65" dirty="0"/>
              <a:t> </a:t>
            </a:r>
            <a:r>
              <a:rPr dirty="0"/>
              <a:t>of</a:t>
            </a:r>
            <a:r>
              <a:rPr spc="-50" dirty="0"/>
              <a:t> </a:t>
            </a:r>
            <a:r>
              <a:rPr dirty="0"/>
              <a:t>Linear</a:t>
            </a:r>
            <a:r>
              <a:rPr spc="-75" dirty="0"/>
              <a:t> </a:t>
            </a:r>
            <a:r>
              <a:rPr dirty="0"/>
              <a:t>Block</a:t>
            </a:r>
            <a:r>
              <a:rPr spc="-45" dirty="0"/>
              <a:t> </a:t>
            </a:r>
            <a:r>
              <a:rPr spc="-20" dirty="0"/>
              <a:t>Code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201066" y="1691767"/>
          <a:ext cx="3776976" cy="37090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442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442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442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442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 gridSpan="3">
                  <a:txBody>
                    <a:bodyPr/>
                    <a:lstStyle/>
                    <a:p>
                      <a:pPr marR="2540"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b="1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Data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175"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Parity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4650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800" b="1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D3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800" b="1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800" b="1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800" b="1" spc="-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188772" y="579501"/>
            <a:ext cx="11757025" cy="1067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900" marR="5080" indent="-457200">
              <a:lnSpc>
                <a:spcPct val="100000"/>
              </a:lnSpc>
              <a:spcBef>
                <a:spcPts val="100"/>
              </a:spcBef>
              <a:buFont typeface="Wingdings"/>
              <a:buChar char=""/>
              <a:tabLst>
                <a:tab pos="469900" algn="l"/>
              </a:tabLst>
            </a:pP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Example</a:t>
            </a:r>
            <a:r>
              <a:rPr sz="2400" b="1" spc="4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1:</a:t>
            </a:r>
            <a:r>
              <a:rPr sz="2400" b="1" spc="3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Show</a:t>
            </a:r>
            <a:r>
              <a:rPr sz="2400" b="1" spc="4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that</a:t>
            </a:r>
            <a:r>
              <a:rPr sz="2400" b="1" spc="4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the</a:t>
            </a:r>
            <a:r>
              <a:rPr sz="2400" b="1" spc="4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(4,</a:t>
            </a:r>
            <a:r>
              <a:rPr sz="2400" b="1" spc="3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3)</a:t>
            </a:r>
            <a:r>
              <a:rPr sz="2400" b="1" spc="3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35" dirty="0">
                <a:solidFill>
                  <a:srgbClr val="6F2F9F"/>
                </a:solidFill>
                <a:latin typeface="Calibri"/>
                <a:cs typeface="Calibri"/>
              </a:rPr>
              <a:t>Even-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Parity</a:t>
            </a:r>
            <a:r>
              <a:rPr sz="2400" b="1" spc="3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Code</a:t>
            </a:r>
            <a:r>
              <a:rPr sz="2400" b="1" spc="3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is</a:t>
            </a:r>
            <a:r>
              <a:rPr sz="2400" b="1" spc="3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linear</a:t>
            </a:r>
            <a:r>
              <a:rPr sz="2400" b="1" spc="4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and</a:t>
            </a:r>
            <a:r>
              <a:rPr sz="2400" b="1" spc="2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the</a:t>
            </a:r>
            <a:r>
              <a:rPr sz="2400" b="1" spc="3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(4,</a:t>
            </a:r>
            <a:r>
              <a:rPr sz="2400" b="1" spc="6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3)</a:t>
            </a:r>
            <a:r>
              <a:rPr sz="2400" b="1" spc="3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20" dirty="0">
                <a:solidFill>
                  <a:srgbClr val="6F2F9F"/>
                </a:solidFill>
                <a:latin typeface="Calibri"/>
                <a:cs typeface="Calibri"/>
              </a:rPr>
              <a:t>Odd-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Parity</a:t>
            </a:r>
            <a:r>
              <a:rPr sz="2400" b="1" spc="4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20" dirty="0">
                <a:solidFill>
                  <a:srgbClr val="6F2F9F"/>
                </a:solidFill>
                <a:latin typeface="Calibri"/>
                <a:cs typeface="Calibri"/>
              </a:rPr>
              <a:t>Code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is</a:t>
            </a:r>
            <a:r>
              <a:rPr sz="2400" b="1" spc="-3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not</a:t>
            </a:r>
            <a:r>
              <a:rPr sz="2400" b="1" spc="-3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linear.</a:t>
            </a:r>
            <a:endParaRPr sz="2400">
              <a:latin typeface="Calibri"/>
              <a:cs typeface="Calibri"/>
            </a:endParaRPr>
          </a:p>
          <a:p>
            <a:pPr marL="386080">
              <a:lnSpc>
                <a:spcPct val="100000"/>
              </a:lnSpc>
              <a:spcBef>
                <a:spcPts val="280"/>
              </a:spcBef>
              <a:tabLst>
                <a:tab pos="4452620" algn="l"/>
              </a:tabLst>
            </a:pPr>
            <a:r>
              <a:rPr sz="1800" b="1" dirty="0">
                <a:latin typeface="Calibri"/>
                <a:cs typeface="Calibri"/>
              </a:rPr>
              <a:t>(4,</a:t>
            </a:r>
            <a:r>
              <a:rPr sz="1800" b="1" spc="-2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3)</a:t>
            </a:r>
            <a:r>
              <a:rPr sz="1800" b="1" spc="-2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Even</a:t>
            </a:r>
            <a:r>
              <a:rPr sz="1800" b="1" spc="-4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Parity</a:t>
            </a:r>
            <a:r>
              <a:rPr sz="1800" b="1" spc="-2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Block</a:t>
            </a:r>
            <a:r>
              <a:rPr sz="1800" b="1" spc="-35" dirty="0">
                <a:latin typeface="Calibri"/>
                <a:cs typeface="Calibri"/>
              </a:rPr>
              <a:t> </a:t>
            </a:r>
            <a:r>
              <a:rPr sz="1800" b="1" spc="-20" dirty="0">
                <a:latin typeface="Calibri"/>
                <a:cs typeface="Calibri"/>
              </a:rPr>
              <a:t>Code</a:t>
            </a:r>
            <a:r>
              <a:rPr sz="1800" b="1" dirty="0">
                <a:latin typeface="Calibri"/>
                <a:cs typeface="Calibri"/>
              </a:rPr>
              <a:t>	(4,</a:t>
            </a:r>
            <a:r>
              <a:rPr sz="1800" b="1" spc="-2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3)</a:t>
            </a:r>
            <a:r>
              <a:rPr sz="1800" b="1" spc="-2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Odd</a:t>
            </a:r>
            <a:r>
              <a:rPr sz="1800" b="1" spc="-2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Parity</a:t>
            </a:r>
            <a:r>
              <a:rPr sz="1800" b="1" spc="-2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Block</a:t>
            </a:r>
            <a:r>
              <a:rPr sz="1800" b="1" spc="-35" dirty="0">
                <a:latin typeface="Calibri"/>
                <a:cs typeface="Calibri"/>
              </a:rPr>
              <a:t> </a:t>
            </a:r>
            <a:r>
              <a:rPr sz="1800" b="1" spc="-20" dirty="0">
                <a:latin typeface="Calibri"/>
                <a:cs typeface="Calibri"/>
              </a:rPr>
              <a:t>Code</a:t>
            </a:r>
            <a:endParaRPr sz="1800">
              <a:latin typeface="Calibri"/>
              <a:cs typeface="Calibri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4266438" y="1691767"/>
          <a:ext cx="3776976" cy="37090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442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442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442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442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 gridSpan="3">
                  <a:txBody>
                    <a:bodyPr/>
                    <a:lstStyle/>
                    <a:p>
                      <a:pPr marR="1905"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b="1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Data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540"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Parity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4650"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800" b="1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D3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800" b="1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800" b="1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800" b="1" spc="-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6" name="object 6"/>
          <p:cNvSpPr txBox="1"/>
          <p:nvPr/>
        </p:nvSpPr>
        <p:spPr>
          <a:xfrm>
            <a:off x="224739" y="5484977"/>
            <a:ext cx="1175448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900" marR="5080" indent="-457200">
              <a:lnSpc>
                <a:spcPct val="100000"/>
              </a:lnSpc>
              <a:spcBef>
                <a:spcPts val="100"/>
              </a:spcBef>
              <a:buFont typeface="Wingdings"/>
              <a:buChar char=""/>
              <a:tabLst>
                <a:tab pos="469900" algn="l"/>
              </a:tabLst>
            </a:pP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C</a:t>
            </a:r>
            <a:r>
              <a:rPr sz="1800" b="1" dirty="0">
                <a:solidFill>
                  <a:srgbClr val="006FC0"/>
                </a:solidFill>
                <a:latin typeface="Calibri"/>
                <a:cs typeface="Calibri"/>
              </a:rPr>
              <a:t>p</a:t>
            </a:r>
            <a:r>
              <a:rPr sz="1800" b="1" spc="254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=</a:t>
            </a:r>
            <a:r>
              <a:rPr sz="2400" b="1" spc="12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C</a:t>
            </a:r>
            <a:r>
              <a:rPr sz="1800" b="1" dirty="0">
                <a:solidFill>
                  <a:srgbClr val="006FC0"/>
                </a:solidFill>
                <a:latin typeface="Calibri"/>
                <a:cs typeface="Calibri"/>
              </a:rPr>
              <a:t>i</a:t>
            </a:r>
            <a:r>
              <a:rPr sz="1800" b="1" spc="254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+</a:t>
            </a:r>
            <a:r>
              <a:rPr sz="2400" b="1" spc="12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C</a:t>
            </a:r>
            <a:r>
              <a:rPr sz="1800" b="1" dirty="0">
                <a:solidFill>
                  <a:srgbClr val="006FC0"/>
                </a:solidFill>
                <a:latin typeface="Calibri"/>
                <a:cs typeface="Calibri"/>
              </a:rPr>
              <a:t>k,</a:t>
            </a:r>
            <a:r>
              <a:rPr sz="1800" b="1" spc="-3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It</a:t>
            </a:r>
            <a:r>
              <a:rPr sz="2400" b="1" spc="11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is</a:t>
            </a:r>
            <a:r>
              <a:rPr sz="2400" b="1" spc="13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followed</a:t>
            </a:r>
            <a:r>
              <a:rPr sz="2400" b="1" spc="114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in</a:t>
            </a:r>
            <a:r>
              <a:rPr sz="2400" b="1" spc="11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(4,</a:t>
            </a:r>
            <a:r>
              <a:rPr sz="2400" b="1" spc="12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3)</a:t>
            </a:r>
            <a:r>
              <a:rPr sz="2400" b="1" spc="11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Even</a:t>
            </a:r>
            <a:r>
              <a:rPr sz="2400" b="1" spc="114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Parity</a:t>
            </a:r>
            <a:r>
              <a:rPr sz="2400" b="1" spc="11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Block</a:t>
            </a:r>
            <a:r>
              <a:rPr sz="2400" b="1" spc="114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Code,</a:t>
            </a:r>
            <a:r>
              <a:rPr sz="2400" b="1" spc="11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but</a:t>
            </a:r>
            <a:r>
              <a:rPr sz="2400" b="1" spc="11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it</a:t>
            </a:r>
            <a:r>
              <a:rPr sz="2400" b="1" spc="11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is</a:t>
            </a:r>
            <a:r>
              <a:rPr sz="2400" b="1" spc="13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not</a:t>
            </a:r>
            <a:r>
              <a:rPr sz="2400" b="1" spc="12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followed</a:t>
            </a:r>
            <a:r>
              <a:rPr sz="2400" b="1" spc="12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in</a:t>
            </a:r>
            <a:r>
              <a:rPr sz="2400" b="1" spc="11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(4,</a:t>
            </a:r>
            <a:r>
              <a:rPr sz="2400" b="1" spc="12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spc="-25" dirty="0">
                <a:solidFill>
                  <a:srgbClr val="006FC0"/>
                </a:solidFill>
                <a:latin typeface="Calibri"/>
                <a:cs typeface="Calibri"/>
              </a:rPr>
              <a:t>3)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Odd</a:t>
            </a:r>
            <a:r>
              <a:rPr sz="2400" b="1" spc="-5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Parity</a:t>
            </a:r>
            <a:r>
              <a:rPr sz="2400" b="1" spc="-5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Block</a:t>
            </a:r>
            <a:r>
              <a:rPr sz="2400" b="1" spc="-6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spc="-20" dirty="0">
                <a:solidFill>
                  <a:srgbClr val="006FC0"/>
                </a:solidFill>
                <a:latin typeface="Calibri"/>
                <a:cs typeface="Calibri"/>
              </a:rPr>
              <a:t>Code.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3753" y="29413"/>
            <a:ext cx="11670030" cy="940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0" u="none" spc="-135" dirty="0">
                <a:solidFill>
                  <a:srgbClr val="006600"/>
                </a:solidFill>
                <a:latin typeface="Arial"/>
                <a:cs typeface="Arial"/>
              </a:rPr>
              <a:t>Linear</a:t>
            </a:r>
            <a:r>
              <a:rPr sz="6000" u="none" spc="-240" dirty="0">
                <a:solidFill>
                  <a:srgbClr val="006600"/>
                </a:solidFill>
                <a:latin typeface="Arial"/>
                <a:cs typeface="Arial"/>
              </a:rPr>
              <a:t> </a:t>
            </a:r>
            <a:r>
              <a:rPr sz="6000" u="none" spc="-345" dirty="0">
                <a:solidFill>
                  <a:srgbClr val="006600"/>
                </a:solidFill>
                <a:latin typeface="Arial"/>
                <a:cs typeface="Arial"/>
              </a:rPr>
              <a:t>Block</a:t>
            </a:r>
            <a:r>
              <a:rPr sz="6000" u="none" spc="-170" dirty="0">
                <a:solidFill>
                  <a:srgbClr val="006600"/>
                </a:solidFill>
                <a:latin typeface="Arial"/>
                <a:cs typeface="Arial"/>
              </a:rPr>
              <a:t> </a:t>
            </a:r>
            <a:r>
              <a:rPr sz="6000" u="none" spc="-415" dirty="0">
                <a:solidFill>
                  <a:srgbClr val="006600"/>
                </a:solidFill>
                <a:latin typeface="Arial"/>
                <a:cs typeface="Arial"/>
              </a:rPr>
              <a:t>Code</a:t>
            </a:r>
            <a:r>
              <a:rPr sz="6000" u="none" spc="-170" dirty="0">
                <a:solidFill>
                  <a:srgbClr val="006600"/>
                </a:solidFill>
                <a:latin typeface="Arial"/>
                <a:cs typeface="Arial"/>
              </a:rPr>
              <a:t> </a:t>
            </a:r>
            <a:r>
              <a:rPr sz="6000" u="none" spc="-459" dirty="0">
                <a:solidFill>
                  <a:srgbClr val="006600"/>
                </a:solidFill>
                <a:latin typeface="Arial"/>
                <a:cs typeface="Arial"/>
              </a:rPr>
              <a:t>Solved</a:t>
            </a:r>
            <a:r>
              <a:rPr sz="6000" u="none" spc="-170" dirty="0">
                <a:solidFill>
                  <a:srgbClr val="006600"/>
                </a:solidFill>
                <a:latin typeface="Arial"/>
                <a:cs typeface="Arial"/>
              </a:rPr>
              <a:t> </a:t>
            </a:r>
            <a:r>
              <a:rPr sz="6000" u="none" spc="-135" dirty="0">
                <a:solidFill>
                  <a:srgbClr val="006600"/>
                </a:solidFill>
                <a:latin typeface="Arial"/>
                <a:cs typeface="Arial"/>
              </a:rPr>
              <a:t>Example</a:t>
            </a:r>
            <a:endParaRPr sz="60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88772" y="884301"/>
            <a:ext cx="85217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100"/>
              </a:spcBef>
              <a:buFont typeface="Wingdings"/>
              <a:buChar char=""/>
              <a:tabLst>
                <a:tab pos="469265" algn="l"/>
              </a:tabLst>
            </a:pP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Example</a:t>
            </a:r>
            <a:r>
              <a:rPr sz="2400" b="1" spc="-5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1:</a:t>
            </a:r>
            <a:r>
              <a:rPr sz="2400" b="1" spc="-5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For</a:t>
            </a:r>
            <a:r>
              <a:rPr sz="2400" b="1" spc="-7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a</a:t>
            </a:r>
            <a:r>
              <a:rPr sz="2400" b="1" spc="-4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(6,</a:t>
            </a:r>
            <a:r>
              <a:rPr sz="2400" b="1" spc="-4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3)</a:t>
            </a:r>
            <a:r>
              <a:rPr sz="2400" b="1" spc="-4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code,</a:t>
            </a:r>
            <a:r>
              <a:rPr sz="2400" b="1" spc="-5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the</a:t>
            </a:r>
            <a:r>
              <a:rPr sz="2400" b="1" spc="-4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Generator</a:t>
            </a:r>
            <a:r>
              <a:rPr sz="2400" b="1" spc="-4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Matrix</a:t>
            </a:r>
            <a:r>
              <a:rPr sz="2400" b="1" spc="-5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G</a:t>
            </a:r>
            <a:r>
              <a:rPr sz="2400" b="1" spc="-5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is</a:t>
            </a:r>
            <a:r>
              <a:rPr sz="2400" b="1" spc="-4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given</a:t>
            </a:r>
            <a:r>
              <a:rPr sz="2400" b="1" spc="-5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25" dirty="0">
                <a:solidFill>
                  <a:srgbClr val="6F2F9F"/>
                </a:solidFill>
                <a:latin typeface="Calibri"/>
                <a:cs typeface="Calibri"/>
              </a:rPr>
              <a:t>by: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188458" y="1337690"/>
            <a:ext cx="2795905" cy="904240"/>
          </a:xfrm>
          <a:custGeom>
            <a:avLst/>
            <a:gdLst/>
            <a:ahLst/>
            <a:cxnLst/>
            <a:rect l="l" t="t" r="r" b="b"/>
            <a:pathLst>
              <a:path w="2795904" h="904239">
                <a:moveTo>
                  <a:pt x="80899" y="889000"/>
                </a:moveTo>
                <a:lnTo>
                  <a:pt x="0" y="889000"/>
                </a:lnTo>
                <a:lnTo>
                  <a:pt x="0" y="904240"/>
                </a:lnTo>
                <a:lnTo>
                  <a:pt x="80899" y="904240"/>
                </a:lnTo>
                <a:lnTo>
                  <a:pt x="80899" y="889000"/>
                </a:lnTo>
                <a:close/>
              </a:path>
              <a:path w="2795904" h="904239">
                <a:moveTo>
                  <a:pt x="80899" y="0"/>
                </a:moveTo>
                <a:lnTo>
                  <a:pt x="0" y="0"/>
                </a:lnTo>
                <a:lnTo>
                  <a:pt x="0" y="13970"/>
                </a:lnTo>
                <a:lnTo>
                  <a:pt x="80899" y="13970"/>
                </a:lnTo>
                <a:lnTo>
                  <a:pt x="80899" y="0"/>
                </a:lnTo>
                <a:close/>
              </a:path>
              <a:path w="2795904" h="904239">
                <a:moveTo>
                  <a:pt x="2795397" y="889000"/>
                </a:moveTo>
                <a:lnTo>
                  <a:pt x="2714371" y="889000"/>
                </a:lnTo>
                <a:lnTo>
                  <a:pt x="2714371" y="904240"/>
                </a:lnTo>
                <a:lnTo>
                  <a:pt x="2795397" y="904240"/>
                </a:lnTo>
                <a:lnTo>
                  <a:pt x="2795397" y="889000"/>
                </a:lnTo>
                <a:close/>
              </a:path>
              <a:path w="2795904" h="904239">
                <a:moveTo>
                  <a:pt x="2795397" y="0"/>
                </a:moveTo>
                <a:lnTo>
                  <a:pt x="2714371" y="0"/>
                </a:lnTo>
                <a:lnTo>
                  <a:pt x="2714371" y="13970"/>
                </a:lnTo>
                <a:lnTo>
                  <a:pt x="2714371" y="15240"/>
                </a:lnTo>
                <a:lnTo>
                  <a:pt x="2764663" y="15240"/>
                </a:lnTo>
                <a:lnTo>
                  <a:pt x="2764663" y="13970"/>
                </a:lnTo>
                <a:lnTo>
                  <a:pt x="2795397" y="13970"/>
                </a:lnTo>
                <a:lnTo>
                  <a:pt x="279539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626922" y="1263438"/>
          <a:ext cx="7341865" cy="13792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694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076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83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8767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8767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8704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8704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0703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55600"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R="71755" algn="ctr">
                        <a:lnSpc>
                          <a:spcPts val="2600"/>
                        </a:lnSpc>
                      </a:pPr>
                      <a:r>
                        <a:rPr sz="2400" spc="-50" dirty="0">
                          <a:latin typeface="Cambria Math"/>
                          <a:cs typeface="Cambria Math"/>
                        </a:rPr>
                        <a:t>𝟏</a:t>
                      </a:r>
                      <a:endParaRPr sz="2400">
                        <a:latin typeface="Cambria Math"/>
                        <a:cs typeface="Cambria Math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00"/>
                        </a:lnSpc>
                      </a:pPr>
                      <a:r>
                        <a:rPr sz="2400" spc="-50" dirty="0">
                          <a:latin typeface="Cambria Math"/>
                          <a:cs typeface="Cambria Math"/>
                        </a:rPr>
                        <a:t>𝟎</a:t>
                      </a:r>
                      <a:endParaRPr sz="24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00"/>
                        </a:lnSpc>
                      </a:pPr>
                      <a:r>
                        <a:rPr sz="2400" spc="-50" dirty="0">
                          <a:latin typeface="Cambria Math"/>
                          <a:cs typeface="Cambria Math"/>
                        </a:rPr>
                        <a:t>𝟎</a:t>
                      </a:r>
                      <a:endParaRPr sz="24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2600"/>
                        </a:lnSpc>
                      </a:pPr>
                      <a:r>
                        <a:rPr sz="2400" spc="-50" dirty="0">
                          <a:latin typeface="Cambria Math"/>
                          <a:cs typeface="Cambria Math"/>
                        </a:rPr>
                        <a:t>𝟏</a:t>
                      </a:r>
                      <a:endParaRPr sz="24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00"/>
                        </a:lnSpc>
                      </a:pPr>
                      <a:r>
                        <a:rPr sz="2400" spc="-50" dirty="0">
                          <a:latin typeface="Cambria Math"/>
                          <a:cs typeface="Cambria Math"/>
                        </a:rPr>
                        <a:t>𝟎</a:t>
                      </a:r>
                      <a:endParaRPr sz="24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80645" algn="ctr">
                        <a:lnSpc>
                          <a:spcPts val="2600"/>
                        </a:lnSpc>
                      </a:pPr>
                      <a:r>
                        <a:rPr sz="2400" spc="-50" dirty="0">
                          <a:latin typeface="Cambria Math"/>
                          <a:cs typeface="Cambria Math"/>
                        </a:rPr>
                        <a:t>𝟏</a:t>
                      </a:r>
                      <a:endParaRPr sz="2400">
                        <a:latin typeface="Cambria Math"/>
                        <a:cs typeface="Cambria Math"/>
                      </a:endParaRPr>
                    </a:p>
                  </a:txBody>
                  <a:tcPr marL="0" marR="0" marT="0" marB="0"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12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17320">
                        <a:lnSpc>
                          <a:spcPts val="2500"/>
                        </a:lnSpc>
                      </a:pPr>
                      <a:r>
                        <a:rPr sz="2400" dirty="0">
                          <a:latin typeface="Cambria Math"/>
                          <a:cs typeface="Cambria Math"/>
                        </a:rPr>
                        <a:t>⟹</a:t>
                      </a:r>
                      <a:r>
                        <a:rPr sz="2400" spc="120" dirty="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2400" dirty="0">
                          <a:latin typeface="Cambria Math"/>
                          <a:cs typeface="Cambria Math"/>
                        </a:rPr>
                        <a:t>𝐆</a:t>
                      </a:r>
                      <a:r>
                        <a:rPr sz="2400" spc="130" dirty="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2400" spc="-60" dirty="0">
                          <a:latin typeface="Cambria Math"/>
                          <a:cs typeface="Cambria Math"/>
                        </a:rPr>
                        <a:t>=</a:t>
                      </a:r>
                      <a:endParaRPr sz="2400">
                        <a:latin typeface="Cambria Math"/>
                        <a:cs typeface="Cambria Math"/>
                      </a:endParaRPr>
                    </a:p>
                  </a:txBody>
                  <a:tcPr marL="0" marR="0" marT="0" marB="0"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R="71755" algn="ctr">
                        <a:lnSpc>
                          <a:spcPts val="2620"/>
                        </a:lnSpc>
                      </a:pPr>
                      <a:r>
                        <a:rPr sz="2400" spc="-50" dirty="0">
                          <a:latin typeface="Cambria Math"/>
                          <a:cs typeface="Cambria Math"/>
                        </a:rPr>
                        <a:t>𝟎</a:t>
                      </a:r>
                      <a:endParaRPr sz="2400">
                        <a:latin typeface="Cambria Math"/>
                        <a:cs typeface="Cambria Math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20"/>
                        </a:lnSpc>
                      </a:pPr>
                      <a:r>
                        <a:rPr sz="2400" spc="-50" dirty="0">
                          <a:latin typeface="Cambria Math"/>
                          <a:cs typeface="Cambria Math"/>
                        </a:rPr>
                        <a:t>𝟏</a:t>
                      </a:r>
                      <a:endParaRPr sz="24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20"/>
                        </a:lnSpc>
                      </a:pPr>
                      <a:r>
                        <a:rPr sz="2400" spc="-50" dirty="0">
                          <a:latin typeface="Cambria Math"/>
                          <a:cs typeface="Cambria Math"/>
                        </a:rPr>
                        <a:t>𝟎</a:t>
                      </a:r>
                      <a:endParaRPr sz="24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20"/>
                        </a:lnSpc>
                      </a:pPr>
                      <a:r>
                        <a:rPr sz="2400" spc="-50" dirty="0">
                          <a:latin typeface="Cambria Math"/>
                          <a:cs typeface="Cambria Math"/>
                        </a:rPr>
                        <a:t>𝟎</a:t>
                      </a:r>
                      <a:endParaRPr sz="24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20"/>
                        </a:lnSpc>
                      </a:pPr>
                      <a:r>
                        <a:rPr sz="2400" spc="-50" dirty="0">
                          <a:latin typeface="Cambria Math"/>
                          <a:cs typeface="Cambria Math"/>
                        </a:rPr>
                        <a:t>𝟏</a:t>
                      </a:r>
                      <a:endParaRPr sz="24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80645" algn="ctr">
                        <a:lnSpc>
                          <a:spcPts val="2620"/>
                        </a:lnSpc>
                      </a:pPr>
                      <a:r>
                        <a:rPr sz="2400" spc="-50" dirty="0">
                          <a:latin typeface="Cambria Math"/>
                          <a:cs typeface="Cambria Math"/>
                        </a:rPr>
                        <a:t>𝟏</a:t>
                      </a:r>
                      <a:endParaRPr sz="2400">
                        <a:latin typeface="Cambria Math"/>
                        <a:cs typeface="Cambria Math"/>
                      </a:endParaRPr>
                    </a:p>
                  </a:txBody>
                  <a:tcPr marL="0" marR="0" marT="0" marB="0"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849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935"/>
                        </a:spcBef>
                      </a:pPr>
                      <a:r>
                        <a:rPr sz="2400" b="1" spc="-10" dirty="0">
                          <a:solidFill>
                            <a:srgbClr val="6F2F9F"/>
                          </a:solidFill>
                          <a:latin typeface="Calibri"/>
                          <a:cs typeface="Calibri"/>
                        </a:rPr>
                        <a:t>Find,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24574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R="71755" algn="ctr">
                        <a:lnSpc>
                          <a:spcPts val="2550"/>
                        </a:lnSpc>
                      </a:pPr>
                      <a:r>
                        <a:rPr sz="2400" spc="-50" dirty="0">
                          <a:latin typeface="Cambria Math"/>
                          <a:cs typeface="Cambria Math"/>
                        </a:rPr>
                        <a:t>𝟎</a:t>
                      </a:r>
                      <a:endParaRPr sz="2400">
                        <a:latin typeface="Cambria Math"/>
                        <a:cs typeface="Cambria Math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50"/>
                        </a:lnSpc>
                      </a:pPr>
                      <a:r>
                        <a:rPr sz="2400" spc="-50" dirty="0">
                          <a:latin typeface="Cambria Math"/>
                          <a:cs typeface="Cambria Math"/>
                        </a:rPr>
                        <a:t>𝟎</a:t>
                      </a:r>
                      <a:endParaRPr sz="24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50"/>
                        </a:lnSpc>
                      </a:pPr>
                      <a:r>
                        <a:rPr sz="2400" spc="-50" dirty="0">
                          <a:latin typeface="Cambria Math"/>
                          <a:cs typeface="Cambria Math"/>
                        </a:rPr>
                        <a:t>𝟏</a:t>
                      </a:r>
                      <a:endParaRPr sz="24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50"/>
                        </a:lnSpc>
                      </a:pPr>
                      <a:r>
                        <a:rPr sz="2400" spc="-50" dirty="0">
                          <a:latin typeface="Cambria Math"/>
                          <a:cs typeface="Cambria Math"/>
                        </a:rPr>
                        <a:t>𝟏</a:t>
                      </a:r>
                      <a:endParaRPr sz="24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50"/>
                        </a:lnSpc>
                      </a:pPr>
                      <a:r>
                        <a:rPr sz="2400" spc="-50" dirty="0">
                          <a:latin typeface="Cambria Math"/>
                          <a:cs typeface="Cambria Math"/>
                        </a:rPr>
                        <a:t>𝟏</a:t>
                      </a:r>
                      <a:endParaRPr sz="24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80645" algn="ctr">
                        <a:lnSpc>
                          <a:spcPts val="2550"/>
                        </a:lnSpc>
                      </a:pPr>
                      <a:r>
                        <a:rPr sz="2400" spc="-50" dirty="0">
                          <a:latin typeface="Cambria Math"/>
                          <a:cs typeface="Cambria Math"/>
                        </a:rPr>
                        <a:t>𝟎</a:t>
                      </a:r>
                      <a:endParaRPr sz="2400">
                        <a:latin typeface="Cambria Math"/>
                        <a:cs typeface="Cambria Math"/>
                      </a:endParaRPr>
                    </a:p>
                  </a:txBody>
                  <a:tcPr marL="0" marR="0" marT="0" marB="0"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object 6"/>
          <p:cNvSpPr txBox="1"/>
          <p:nvPr/>
        </p:nvSpPr>
        <p:spPr>
          <a:xfrm>
            <a:off x="188772" y="2218182"/>
            <a:ext cx="6908800" cy="2220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solidFill>
                  <a:srgbClr val="6F2F9F"/>
                </a:solidFill>
                <a:latin typeface="Wingdings"/>
                <a:cs typeface="Wingdings"/>
              </a:rPr>
              <a:t></a:t>
            </a:r>
            <a:endParaRPr sz="2400">
              <a:latin typeface="Wingdings"/>
              <a:cs typeface="Wingdings"/>
            </a:endParaRPr>
          </a:p>
          <a:p>
            <a:pPr marL="984885" indent="-514984">
              <a:lnSpc>
                <a:spcPct val="100000"/>
              </a:lnSpc>
              <a:buAutoNum type="romanUcPeriod"/>
              <a:tabLst>
                <a:tab pos="984885" algn="l"/>
              </a:tabLst>
            </a:pP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All</a:t>
            </a:r>
            <a:r>
              <a:rPr sz="2400" b="1" spc="-5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Corresponding</a:t>
            </a:r>
            <a:r>
              <a:rPr sz="2400" b="1" spc="-5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Code</a:t>
            </a:r>
            <a:r>
              <a:rPr sz="2400" b="1" spc="-5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006FC0"/>
                </a:solidFill>
                <a:latin typeface="Calibri"/>
                <a:cs typeface="Calibri"/>
              </a:rPr>
              <a:t>Vectors</a:t>
            </a:r>
            <a:endParaRPr sz="2400">
              <a:latin typeface="Calibri"/>
              <a:cs typeface="Calibri"/>
            </a:endParaRPr>
          </a:p>
          <a:p>
            <a:pPr marL="984885" indent="-514984">
              <a:lnSpc>
                <a:spcPct val="100000"/>
              </a:lnSpc>
              <a:buAutoNum type="romanUcPeriod"/>
              <a:tabLst>
                <a:tab pos="984885" algn="l"/>
              </a:tabLst>
            </a:pP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Minimum</a:t>
            </a:r>
            <a:r>
              <a:rPr sz="2400" b="1" spc="-3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Hamming</a:t>
            </a:r>
            <a:r>
              <a:rPr sz="2400" b="1" spc="-3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006FC0"/>
                </a:solidFill>
                <a:latin typeface="Calibri"/>
                <a:cs typeface="Calibri"/>
              </a:rPr>
              <a:t>Distance</a:t>
            </a:r>
            <a:endParaRPr sz="2400">
              <a:latin typeface="Calibri"/>
              <a:cs typeface="Calibri"/>
            </a:endParaRPr>
          </a:p>
          <a:p>
            <a:pPr marL="984885" indent="-514984">
              <a:lnSpc>
                <a:spcPct val="100000"/>
              </a:lnSpc>
              <a:buAutoNum type="romanUcPeriod"/>
              <a:tabLst>
                <a:tab pos="984885" algn="l"/>
              </a:tabLst>
            </a:pP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Error</a:t>
            </a:r>
            <a:r>
              <a:rPr sz="2400" b="1" spc="-9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Detection</a:t>
            </a:r>
            <a:r>
              <a:rPr sz="2400" b="1" spc="-6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and</a:t>
            </a:r>
            <a:r>
              <a:rPr sz="2400" b="1" spc="-7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Error</a:t>
            </a:r>
            <a:r>
              <a:rPr sz="2400" b="1" spc="-8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Correction</a:t>
            </a:r>
            <a:r>
              <a:rPr sz="2400" b="1" spc="-8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006FC0"/>
                </a:solidFill>
                <a:latin typeface="Calibri"/>
                <a:cs typeface="Calibri"/>
              </a:rPr>
              <a:t>Capability</a:t>
            </a:r>
            <a:endParaRPr sz="2400">
              <a:latin typeface="Calibri"/>
              <a:cs typeface="Calibri"/>
            </a:endParaRPr>
          </a:p>
          <a:p>
            <a:pPr marL="984885" indent="-514984">
              <a:lnSpc>
                <a:spcPct val="100000"/>
              </a:lnSpc>
              <a:buAutoNum type="romanUcPeriod"/>
              <a:tabLst>
                <a:tab pos="984885" algn="l"/>
              </a:tabLst>
            </a:pP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Parity</a:t>
            </a:r>
            <a:r>
              <a:rPr sz="2400" b="1" spc="-9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Check</a:t>
            </a:r>
            <a:r>
              <a:rPr sz="2400" b="1" spc="-8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006FC0"/>
                </a:solidFill>
                <a:latin typeface="Calibri"/>
                <a:cs typeface="Calibri"/>
              </a:rPr>
              <a:t>Matrix</a:t>
            </a:r>
            <a:endParaRPr sz="2400">
              <a:latin typeface="Calibri"/>
              <a:cs typeface="Calibri"/>
            </a:endParaRPr>
          </a:p>
          <a:p>
            <a:pPr marL="984885" indent="-514984">
              <a:lnSpc>
                <a:spcPct val="100000"/>
              </a:lnSpc>
              <a:buAutoNum type="romanUcPeriod"/>
              <a:tabLst>
                <a:tab pos="984885" algn="l"/>
              </a:tabLst>
            </a:pP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Find</a:t>
            </a:r>
            <a:r>
              <a:rPr sz="2400" b="1" spc="-3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error</a:t>
            </a:r>
            <a:r>
              <a:rPr sz="2400" b="1" spc="-4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if</a:t>
            </a:r>
            <a:r>
              <a:rPr sz="2400" b="1" spc="-2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received</a:t>
            </a:r>
            <a:r>
              <a:rPr sz="2400" b="1" spc="-3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code</a:t>
            </a:r>
            <a:r>
              <a:rPr sz="2400" b="1" spc="-3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is</a:t>
            </a:r>
            <a:r>
              <a:rPr sz="2400" b="1" spc="-2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[1</a:t>
            </a:r>
            <a:r>
              <a:rPr sz="2400" b="1" spc="-3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0</a:t>
            </a:r>
            <a:r>
              <a:rPr sz="2400" b="1" spc="-4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0</a:t>
            </a:r>
            <a:r>
              <a:rPr sz="2400" b="1" spc="-3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0</a:t>
            </a:r>
            <a:r>
              <a:rPr sz="2400" b="1" spc="-3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1</a:t>
            </a:r>
            <a:r>
              <a:rPr sz="2400" b="1" spc="-25" dirty="0">
                <a:solidFill>
                  <a:srgbClr val="006FC0"/>
                </a:solidFill>
                <a:latin typeface="Calibri"/>
                <a:cs typeface="Calibri"/>
              </a:rPr>
              <a:t> 1]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914400" y="4724400"/>
            <a:ext cx="2667000" cy="533400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rial Narrow" pitchFamily="34" charset="0"/>
              </a:rPr>
              <a:t>Minimum Hamming Distance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A591777-8E71-4F2A-A10A-B52CD93AF059}"/>
              </a:ext>
            </a:extLst>
          </p:cNvPr>
          <p:cNvCxnSpPr/>
          <p:nvPr/>
        </p:nvCxnSpPr>
        <p:spPr>
          <a:xfrm>
            <a:off x="8458200" y="5029200"/>
            <a:ext cx="0" cy="60960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F5D26C9-F92F-47F3-A230-D55CC459EC9D}"/>
              </a:ext>
            </a:extLst>
          </p:cNvPr>
          <p:cNvCxnSpPr/>
          <p:nvPr/>
        </p:nvCxnSpPr>
        <p:spPr>
          <a:xfrm>
            <a:off x="9982200" y="4953000"/>
            <a:ext cx="0" cy="68580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8F7A57C-4E80-4FDA-9EFB-D368295C826F}"/>
              </a:ext>
            </a:extLst>
          </p:cNvPr>
          <p:cNvCxnSpPr/>
          <p:nvPr/>
        </p:nvCxnSpPr>
        <p:spPr>
          <a:xfrm flipH="1">
            <a:off x="8458200" y="5638800"/>
            <a:ext cx="152400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CE97B1D-C5B6-40D7-9054-CFB3A50888F9}"/>
              </a:ext>
            </a:extLst>
          </p:cNvPr>
          <p:cNvCxnSpPr/>
          <p:nvPr/>
        </p:nvCxnSpPr>
        <p:spPr>
          <a:xfrm flipH="1">
            <a:off x="9829800" y="5638800"/>
            <a:ext cx="152400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8117" y="29413"/>
            <a:ext cx="11937365" cy="940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0" u="none" spc="-155" dirty="0">
                <a:solidFill>
                  <a:srgbClr val="006600"/>
                </a:solidFill>
                <a:latin typeface="Arial"/>
                <a:cs typeface="Arial"/>
              </a:rPr>
              <a:t>Linear</a:t>
            </a:r>
            <a:r>
              <a:rPr sz="6000" u="none" spc="-220" dirty="0">
                <a:solidFill>
                  <a:srgbClr val="006600"/>
                </a:solidFill>
                <a:latin typeface="Arial"/>
                <a:cs typeface="Arial"/>
              </a:rPr>
              <a:t> </a:t>
            </a:r>
            <a:r>
              <a:rPr sz="6000" u="none" spc="-335" dirty="0">
                <a:solidFill>
                  <a:srgbClr val="006600"/>
                </a:solidFill>
                <a:latin typeface="Arial"/>
                <a:cs typeface="Arial"/>
              </a:rPr>
              <a:t>Block</a:t>
            </a:r>
            <a:r>
              <a:rPr sz="6000" u="none" spc="-170" dirty="0">
                <a:solidFill>
                  <a:srgbClr val="006600"/>
                </a:solidFill>
                <a:latin typeface="Arial"/>
                <a:cs typeface="Arial"/>
              </a:rPr>
              <a:t> </a:t>
            </a:r>
            <a:r>
              <a:rPr sz="6000" u="none" spc="-415" dirty="0">
                <a:solidFill>
                  <a:srgbClr val="006600"/>
                </a:solidFill>
                <a:latin typeface="Arial"/>
                <a:cs typeface="Arial"/>
              </a:rPr>
              <a:t>Code</a:t>
            </a:r>
            <a:r>
              <a:rPr sz="6000" u="none" spc="-170" dirty="0">
                <a:solidFill>
                  <a:srgbClr val="006600"/>
                </a:solidFill>
                <a:latin typeface="Arial"/>
                <a:cs typeface="Arial"/>
              </a:rPr>
              <a:t> </a:t>
            </a:r>
            <a:r>
              <a:rPr sz="6000" u="none" spc="-459" dirty="0">
                <a:solidFill>
                  <a:srgbClr val="006600"/>
                </a:solidFill>
                <a:latin typeface="Arial"/>
                <a:cs typeface="Arial"/>
              </a:rPr>
              <a:t>Solved</a:t>
            </a:r>
            <a:r>
              <a:rPr sz="6000" u="none" spc="-170" dirty="0">
                <a:solidFill>
                  <a:srgbClr val="006600"/>
                </a:solidFill>
                <a:latin typeface="Arial"/>
                <a:cs typeface="Arial"/>
              </a:rPr>
              <a:t> </a:t>
            </a:r>
            <a:r>
              <a:rPr sz="6000" u="none" spc="-365" dirty="0">
                <a:solidFill>
                  <a:srgbClr val="006600"/>
                </a:solidFill>
                <a:latin typeface="Arial"/>
                <a:cs typeface="Arial"/>
              </a:rPr>
              <a:t>Examples</a:t>
            </a:r>
            <a:endParaRPr sz="60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88772" y="884301"/>
            <a:ext cx="11753850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900" marR="5080" indent="-457200">
              <a:lnSpc>
                <a:spcPct val="100000"/>
              </a:lnSpc>
              <a:spcBef>
                <a:spcPts val="100"/>
              </a:spcBef>
              <a:buFont typeface="Wingdings"/>
              <a:buChar char=""/>
              <a:tabLst>
                <a:tab pos="469900" algn="l"/>
              </a:tabLst>
            </a:pP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Example</a:t>
            </a:r>
            <a:r>
              <a:rPr sz="2400" b="1" spc="114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2:</a:t>
            </a:r>
            <a:r>
              <a:rPr sz="2400" b="1" spc="9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Determine</a:t>
            </a:r>
            <a:r>
              <a:rPr sz="2400" b="1" spc="11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the</a:t>
            </a:r>
            <a:r>
              <a:rPr sz="2400" b="1" spc="114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set</a:t>
            </a:r>
            <a:r>
              <a:rPr sz="2400" b="1" spc="9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of</a:t>
            </a:r>
            <a:r>
              <a:rPr sz="2400" b="1" spc="10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codewords</a:t>
            </a:r>
            <a:r>
              <a:rPr sz="2400" b="1" spc="114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for</a:t>
            </a:r>
            <a:r>
              <a:rPr sz="2400" b="1" spc="10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a</a:t>
            </a:r>
            <a:r>
              <a:rPr sz="2400" b="1" spc="10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(6,</a:t>
            </a:r>
            <a:r>
              <a:rPr sz="2400" b="1" spc="114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3)</a:t>
            </a:r>
            <a:r>
              <a:rPr sz="2400" b="1" spc="10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code,</a:t>
            </a:r>
            <a:r>
              <a:rPr sz="2400" b="1" spc="114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the</a:t>
            </a:r>
            <a:r>
              <a:rPr sz="2400" b="1" spc="114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Generator</a:t>
            </a:r>
            <a:r>
              <a:rPr sz="2400" b="1" spc="114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Matrix</a:t>
            </a:r>
            <a:r>
              <a:rPr sz="2400" b="1" spc="11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G</a:t>
            </a:r>
            <a:r>
              <a:rPr sz="2400" b="1" spc="10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25" dirty="0">
                <a:solidFill>
                  <a:srgbClr val="6F2F9F"/>
                </a:solidFill>
                <a:latin typeface="Calibri"/>
                <a:cs typeface="Calibri"/>
              </a:rPr>
              <a:t>is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given</a:t>
            </a:r>
            <a:r>
              <a:rPr sz="2400" b="1" spc="-6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25" dirty="0">
                <a:solidFill>
                  <a:srgbClr val="6F2F9F"/>
                </a:solidFill>
                <a:latin typeface="Calibri"/>
                <a:cs typeface="Calibri"/>
              </a:rPr>
              <a:t>by: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744218" y="1703450"/>
            <a:ext cx="2794000" cy="904240"/>
          </a:xfrm>
          <a:custGeom>
            <a:avLst/>
            <a:gdLst/>
            <a:ahLst/>
            <a:cxnLst/>
            <a:rect l="l" t="t" r="r" b="b"/>
            <a:pathLst>
              <a:path w="2794000" h="904239">
                <a:moveTo>
                  <a:pt x="80899" y="889000"/>
                </a:moveTo>
                <a:lnTo>
                  <a:pt x="0" y="889000"/>
                </a:lnTo>
                <a:lnTo>
                  <a:pt x="0" y="904240"/>
                </a:lnTo>
                <a:lnTo>
                  <a:pt x="80899" y="904240"/>
                </a:lnTo>
                <a:lnTo>
                  <a:pt x="80899" y="889000"/>
                </a:lnTo>
                <a:close/>
              </a:path>
              <a:path w="2794000" h="904239">
                <a:moveTo>
                  <a:pt x="80899" y="0"/>
                </a:moveTo>
                <a:lnTo>
                  <a:pt x="0" y="0"/>
                </a:lnTo>
                <a:lnTo>
                  <a:pt x="0" y="13970"/>
                </a:lnTo>
                <a:lnTo>
                  <a:pt x="80899" y="13970"/>
                </a:lnTo>
                <a:lnTo>
                  <a:pt x="80899" y="0"/>
                </a:lnTo>
                <a:close/>
              </a:path>
              <a:path w="2794000" h="904239">
                <a:moveTo>
                  <a:pt x="2793873" y="889000"/>
                </a:moveTo>
                <a:lnTo>
                  <a:pt x="2712847" y="889000"/>
                </a:lnTo>
                <a:lnTo>
                  <a:pt x="2712847" y="904240"/>
                </a:lnTo>
                <a:lnTo>
                  <a:pt x="2793873" y="904240"/>
                </a:lnTo>
                <a:lnTo>
                  <a:pt x="2793873" y="889000"/>
                </a:lnTo>
                <a:close/>
              </a:path>
              <a:path w="2794000" h="904239">
                <a:moveTo>
                  <a:pt x="2793873" y="0"/>
                </a:moveTo>
                <a:lnTo>
                  <a:pt x="2712847" y="0"/>
                </a:lnTo>
                <a:lnTo>
                  <a:pt x="2712847" y="13970"/>
                </a:lnTo>
                <a:lnTo>
                  <a:pt x="2712847" y="15240"/>
                </a:lnTo>
                <a:lnTo>
                  <a:pt x="2763139" y="15240"/>
                </a:lnTo>
                <a:lnTo>
                  <a:pt x="2763139" y="13970"/>
                </a:lnTo>
                <a:lnTo>
                  <a:pt x="2793873" y="13970"/>
                </a:lnTo>
                <a:lnTo>
                  <a:pt x="279387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637590" y="1629816"/>
          <a:ext cx="3884930" cy="10820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220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7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87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876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8704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556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71120">
                        <a:lnSpc>
                          <a:spcPts val="2595"/>
                        </a:lnSpc>
                      </a:pPr>
                      <a:r>
                        <a:rPr sz="2400" spc="-50" dirty="0">
                          <a:latin typeface="Cambria Math"/>
                          <a:cs typeface="Cambria Math"/>
                        </a:rPr>
                        <a:t>𝟏</a:t>
                      </a:r>
                      <a:endParaRPr sz="2400">
                        <a:latin typeface="Cambria Math"/>
                        <a:cs typeface="Cambria Math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95"/>
                        </a:lnSpc>
                      </a:pPr>
                      <a:r>
                        <a:rPr sz="2400" spc="-50" dirty="0">
                          <a:latin typeface="Cambria Math"/>
                          <a:cs typeface="Cambria Math"/>
                        </a:rPr>
                        <a:t>𝟎</a:t>
                      </a:r>
                      <a:endParaRPr sz="24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95"/>
                        </a:lnSpc>
                      </a:pPr>
                      <a:r>
                        <a:rPr sz="2400" spc="-50" dirty="0">
                          <a:latin typeface="Cambria Math"/>
                          <a:cs typeface="Cambria Math"/>
                        </a:rPr>
                        <a:t>𝟎</a:t>
                      </a:r>
                      <a:endParaRPr sz="24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95"/>
                        </a:lnSpc>
                      </a:pPr>
                      <a:r>
                        <a:rPr sz="2400" spc="-50" dirty="0">
                          <a:latin typeface="Cambria Math"/>
                          <a:cs typeface="Cambria Math"/>
                        </a:rPr>
                        <a:t>𝟎</a:t>
                      </a:r>
                      <a:endParaRPr sz="24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2595"/>
                        </a:lnSpc>
                      </a:pPr>
                      <a:r>
                        <a:rPr sz="2400" spc="-50" dirty="0">
                          <a:latin typeface="Cambria Math"/>
                          <a:cs typeface="Cambria Math"/>
                        </a:rPr>
                        <a:t>𝟏</a:t>
                      </a:r>
                      <a:endParaRPr sz="24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64135" algn="r">
                        <a:lnSpc>
                          <a:spcPts val="2595"/>
                        </a:lnSpc>
                      </a:pPr>
                      <a:r>
                        <a:rPr sz="2400" spc="-50" dirty="0">
                          <a:latin typeface="Cambria Math"/>
                          <a:cs typeface="Cambria Math"/>
                        </a:rPr>
                        <a:t>𝟏</a:t>
                      </a:r>
                      <a:endParaRPr sz="2400">
                        <a:latin typeface="Cambria Math"/>
                        <a:cs typeface="Cambria Math"/>
                      </a:endParaRPr>
                    </a:p>
                  </a:txBody>
                  <a:tcPr marL="0" marR="0" marT="0" marB="0"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4490">
                <a:tc>
                  <a:txBody>
                    <a:bodyPr/>
                    <a:lstStyle/>
                    <a:p>
                      <a:pPr marL="31750">
                        <a:lnSpc>
                          <a:spcPts val="2495"/>
                        </a:lnSpc>
                      </a:pPr>
                      <a:r>
                        <a:rPr sz="2400" dirty="0">
                          <a:latin typeface="Cambria Math"/>
                          <a:cs typeface="Cambria Math"/>
                        </a:rPr>
                        <a:t>⟹</a:t>
                      </a:r>
                      <a:r>
                        <a:rPr sz="2400" spc="110" dirty="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2400" dirty="0">
                          <a:latin typeface="Cambria Math"/>
                          <a:cs typeface="Cambria Math"/>
                        </a:rPr>
                        <a:t>𝐆</a:t>
                      </a:r>
                      <a:r>
                        <a:rPr sz="2400" spc="130" dirty="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2400" spc="-60" dirty="0">
                          <a:latin typeface="Cambria Math"/>
                          <a:cs typeface="Cambria Math"/>
                        </a:rPr>
                        <a:t>=</a:t>
                      </a:r>
                      <a:endParaRPr sz="2400">
                        <a:latin typeface="Cambria Math"/>
                        <a:cs typeface="Cambria Math"/>
                      </a:endParaRPr>
                    </a:p>
                  </a:txBody>
                  <a:tcPr marL="0" marR="0" marT="0" marB="0"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71120">
                        <a:lnSpc>
                          <a:spcPts val="2615"/>
                        </a:lnSpc>
                      </a:pPr>
                      <a:r>
                        <a:rPr sz="2400" spc="-50" dirty="0">
                          <a:latin typeface="Cambria Math"/>
                          <a:cs typeface="Cambria Math"/>
                        </a:rPr>
                        <a:t>𝟎</a:t>
                      </a:r>
                      <a:endParaRPr sz="2400">
                        <a:latin typeface="Cambria Math"/>
                        <a:cs typeface="Cambria Math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15"/>
                        </a:lnSpc>
                      </a:pPr>
                      <a:r>
                        <a:rPr sz="2400" spc="-50" dirty="0">
                          <a:latin typeface="Cambria Math"/>
                          <a:cs typeface="Cambria Math"/>
                        </a:rPr>
                        <a:t>𝟏</a:t>
                      </a:r>
                      <a:endParaRPr sz="24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15"/>
                        </a:lnSpc>
                      </a:pPr>
                      <a:r>
                        <a:rPr sz="2400" spc="-50" dirty="0">
                          <a:latin typeface="Cambria Math"/>
                          <a:cs typeface="Cambria Math"/>
                        </a:rPr>
                        <a:t>𝟎</a:t>
                      </a:r>
                      <a:endParaRPr sz="24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15"/>
                        </a:lnSpc>
                      </a:pPr>
                      <a:r>
                        <a:rPr sz="2400" spc="-50" dirty="0">
                          <a:latin typeface="Cambria Math"/>
                          <a:cs typeface="Cambria Math"/>
                        </a:rPr>
                        <a:t>𝟏</a:t>
                      </a:r>
                      <a:endParaRPr sz="24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2615"/>
                        </a:lnSpc>
                      </a:pPr>
                      <a:r>
                        <a:rPr sz="2400" spc="-50" dirty="0">
                          <a:latin typeface="Cambria Math"/>
                          <a:cs typeface="Cambria Math"/>
                        </a:rPr>
                        <a:t>𝟎</a:t>
                      </a:r>
                      <a:endParaRPr sz="24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64135" algn="r">
                        <a:lnSpc>
                          <a:spcPts val="2615"/>
                        </a:lnSpc>
                      </a:pPr>
                      <a:r>
                        <a:rPr sz="2400" spc="-50" dirty="0">
                          <a:latin typeface="Cambria Math"/>
                          <a:cs typeface="Cambria Math"/>
                        </a:rPr>
                        <a:t>𝟏</a:t>
                      </a:r>
                      <a:endParaRPr sz="2400">
                        <a:latin typeface="Cambria Math"/>
                        <a:cs typeface="Cambria Math"/>
                      </a:endParaRPr>
                    </a:p>
                  </a:txBody>
                  <a:tcPr marL="0" marR="0" marT="0" marB="0"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71120">
                        <a:lnSpc>
                          <a:spcPts val="2550"/>
                        </a:lnSpc>
                      </a:pPr>
                      <a:r>
                        <a:rPr sz="2400" spc="-50" dirty="0">
                          <a:latin typeface="Cambria Math"/>
                          <a:cs typeface="Cambria Math"/>
                        </a:rPr>
                        <a:t>𝟎</a:t>
                      </a:r>
                      <a:endParaRPr sz="2400">
                        <a:latin typeface="Cambria Math"/>
                        <a:cs typeface="Cambria Math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50"/>
                        </a:lnSpc>
                      </a:pPr>
                      <a:r>
                        <a:rPr sz="2400" spc="-50" dirty="0">
                          <a:latin typeface="Cambria Math"/>
                          <a:cs typeface="Cambria Math"/>
                        </a:rPr>
                        <a:t>𝟎</a:t>
                      </a:r>
                      <a:endParaRPr sz="24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50"/>
                        </a:lnSpc>
                      </a:pPr>
                      <a:r>
                        <a:rPr sz="2400" spc="-50" dirty="0">
                          <a:latin typeface="Cambria Math"/>
                          <a:cs typeface="Cambria Math"/>
                        </a:rPr>
                        <a:t>𝟏</a:t>
                      </a:r>
                      <a:endParaRPr sz="24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50"/>
                        </a:lnSpc>
                      </a:pPr>
                      <a:r>
                        <a:rPr sz="2400" spc="-50" dirty="0">
                          <a:latin typeface="Cambria Math"/>
                          <a:cs typeface="Cambria Math"/>
                        </a:rPr>
                        <a:t>𝟏</a:t>
                      </a:r>
                      <a:endParaRPr sz="24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2550"/>
                        </a:lnSpc>
                      </a:pPr>
                      <a:r>
                        <a:rPr sz="2400" spc="-50" dirty="0">
                          <a:latin typeface="Cambria Math"/>
                          <a:cs typeface="Cambria Math"/>
                        </a:rPr>
                        <a:t>𝟏</a:t>
                      </a:r>
                      <a:endParaRPr sz="24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64135" algn="r">
                        <a:lnSpc>
                          <a:spcPts val="2550"/>
                        </a:lnSpc>
                      </a:pPr>
                      <a:r>
                        <a:rPr sz="2400" spc="-50" dirty="0">
                          <a:latin typeface="Cambria Math"/>
                          <a:cs typeface="Cambria Math"/>
                        </a:rPr>
                        <a:t>𝟎</a:t>
                      </a:r>
                      <a:endParaRPr sz="2400">
                        <a:latin typeface="Cambria Math"/>
                        <a:cs typeface="Cambria Math"/>
                      </a:endParaRPr>
                    </a:p>
                  </a:txBody>
                  <a:tcPr marL="0" marR="0" marT="0" marB="0"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88772" y="104394"/>
            <a:ext cx="81438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100"/>
              </a:spcBef>
              <a:buFont typeface="Wingdings"/>
              <a:buChar char=""/>
              <a:tabLst>
                <a:tab pos="469265" algn="l"/>
              </a:tabLst>
            </a:pP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Example</a:t>
            </a:r>
            <a:r>
              <a:rPr sz="2400" b="1" spc="-5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3:</a:t>
            </a:r>
            <a:r>
              <a:rPr sz="2400" b="1" spc="-5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The</a:t>
            </a:r>
            <a:r>
              <a:rPr sz="2400" b="1" spc="-5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(5,</a:t>
            </a:r>
            <a:r>
              <a:rPr sz="2400" b="1" spc="-3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3)</a:t>
            </a:r>
            <a:r>
              <a:rPr sz="2400" b="1" spc="-5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linear</a:t>
            </a:r>
            <a:r>
              <a:rPr sz="2400" b="1" spc="-5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code</a:t>
            </a:r>
            <a:r>
              <a:rPr sz="2400" b="1" spc="-5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has</a:t>
            </a:r>
            <a:r>
              <a:rPr sz="2400" b="1" spc="-5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the</a:t>
            </a:r>
            <a:r>
              <a:rPr sz="2400" b="1" spc="-3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20" dirty="0">
                <a:solidFill>
                  <a:srgbClr val="6F2F9F"/>
                </a:solidFill>
                <a:latin typeface="Calibri"/>
                <a:cs typeface="Calibri"/>
              </a:rPr>
              <a:t>generator</a:t>
            </a:r>
            <a:r>
              <a:rPr sz="2400" b="1" spc="-5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Matrix</a:t>
            </a:r>
            <a:r>
              <a:rPr sz="2400" b="1" spc="-5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25" dirty="0">
                <a:solidFill>
                  <a:srgbClr val="6F2F9F"/>
                </a:solidFill>
                <a:latin typeface="Calibri"/>
                <a:cs typeface="Calibri"/>
              </a:rPr>
              <a:t>G: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56640" y="778002"/>
            <a:ext cx="982344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ambria Math"/>
                <a:cs typeface="Cambria Math"/>
              </a:rPr>
              <a:t>⟹</a:t>
            </a:r>
            <a:r>
              <a:rPr sz="2400" spc="110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𝐆</a:t>
            </a:r>
            <a:r>
              <a:rPr sz="2400" spc="130" dirty="0">
                <a:latin typeface="Cambria Math"/>
                <a:cs typeface="Cambria Math"/>
              </a:rPr>
              <a:t> </a:t>
            </a:r>
            <a:r>
              <a:rPr sz="2400" spc="-60" dirty="0">
                <a:latin typeface="Cambria Math"/>
                <a:cs typeface="Cambria Math"/>
              </a:rPr>
              <a:t>=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744218" y="557783"/>
            <a:ext cx="2308225" cy="904240"/>
          </a:xfrm>
          <a:custGeom>
            <a:avLst/>
            <a:gdLst/>
            <a:ahLst/>
            <a:cxnLst/>
            <a:rect l="l" t="t" r="r" b="b"/>
            <a:pathLst>
              <a:path w="2308225" h="904240">
                <a:moveTo>
                  <a:pt x="80899" y="0"/>
                </a:moveTo>
                <a:lnTo>
                  <a:pt x="0" y="0"/>
                </a:lnTo>
                <a:lnTo>
                  <a:pt x="0" y="13970"/>
                </a:lnTo>
                <a:lnTo>
                  <a:pt x="0" y="889000"/>
                </a:lnTo>
                <a:lnTo>
                  <a:pt x="0" y="904240"/>
                </a:lnTo>
                <a:lnTo>
                  <a:pt x="80899" y="904240"/>
                </a:lnTo>
                <a:lnTo>
                  <a:pt x="80899" y="889000"/>
                </a:lnTo>
                <a:lnTo>
                  <a:pt x="30607" y="889000"/>
                </a:lnTo>
                <a:lnTo>
                  <a:pt x="30607" y="13970"/>
                </a:lnTo>
                <a:lnTo>
                  <a:pt x="80899" y="13970"/>
                </a:lnTo>
                <a:lnTo>
                  <a:pt x="80899" y="0"/>
                </a:lnTo>
                <a:close/>
              </a:path>
              <a:path w="2308225" h="904240">
                <a:moveTo>
                  <a:pt x="2307717" y="0"/>
                </a:moveTo>
                <a:lnTo>
                  <a:pt x="2226691" y="0"/>
                </a:lnTo>
                <a:lnTo>
                  <a:pt x="2226691" y="13970"/>
                </a:lnTo>
                <a:lnTo>
                  <a:pt x="2276983" y="13970"/>
                </a:lnTo>
                <a:lnTo>
                  <a:pt x="2276983" y="889000"/>
                </a:lnTo>
                <a:lnTo>
                  <a:pt x="2226691" y="889000"/>
                </a:lnTo>
                <a:lnTo>
                  <a:pt x="2226691" y="904240"/>
                </a:lnTo>
                <a:lnTo>
                  <a:pt x="2307717" y="904240"/>
                </a:lnTo>
                <a:lnTo>
                  <a:pt x="2307717" y="889000"/>
                </a:lnTo>
                <a:lnTo>
                  <a:pt x="2307717" y="13970"/>
                </a:lnTo>
                <a:lnTo>
                  <a:pt x="230771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818258" y="436626"/>
            <a:ext cx="2159000" cy="7480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845"/>
              </a:lnSpc>
              <a:spcBef>
                <a:spcPts val="100"/>
              </a:spcBef>
              <a:tabLst>
                <a:tab pos="499745" algn="l"/>
                <a:tab pos="987425" algn="l"/>
                <a:tab pos="1475105" algn="l"/>
                <a:tab pos="1963420" algn="l"/>
              </a:tabLst>
            </a:pPr>
            <a:r>
              <a:rPr sz="2400" spc="-50" dirty="0">
                <a:latin typeface="Cambria Math"/>
                <a:cs typeface="Cambria Math"/>
              </a:rPr>
              <a:t>𝟏</a:t>
            </a:r>
            <a:r>
              <a:rPr sz="2400" dirty="0">
                <a:latin typeface="Cambria Math"/>
                <a:cs typeface="Cambria Math"/>
              </a:rPr>
              <a:t>	</a:t>
            </a:r>
            <a:r>
              <a:rPr sz="2400" spc="-50" dirty="0">
                <a:latin typeface="Cambria Math"/>
                <a:cs typeface="Cambria Math"/>
              </a:rPr>
              <a:t>𝟎</a:t>
            </a:r>
            <a:r>
              <a:rPr sz="2400" dirty="0">
                <a:latin typeface="Cambria Math"/>
                <a:cs typeface="Cambria Math"/>
              </a:rPr>
              <a:t>	</a:t>
            </a:r>
            <a:r>
              <a:rPr sz="2400" spc="-50" dirty="0">
                <a:latin typeface="Cambria Math"/>
                <a:cs typeface="Cambria Math"/>
              </a:rPr>
              <a:t>𝟏</a:t>
            </a:r>
            <a:r>
              <a:rPr sz="2400" dirty="0">
                <a:latin typeface="Cambria Math"/>
                <a:cs typeface="Cambria Math"/>
              </a:rPr>
              <a:t>	</a:t>
            </a:r>
            <a:r>
              <a:rPr sz="2400" spc="-50" dirty="0">
                <a:latin typeface="Cambria Math"/>
                <a:cs typeface="Cambria Math"/>
              </a:rPr>
              <a:t>𝟎</a:t>
            </a:r>
            <a:r>
              <a:rPr sz="2400" dirty="0">
                <a:latin typeface="Cambria Math"/>
                <a:cs typeface="Cambria Math"/>
              </a:rPr>
              <a:t>	</a:t>
            </a:r>
            <a:r>
              <a:rPr sz="2400" spc="-50" dirty="0">
                <a:latin typeface="Cambria Math"/>
                <a:cs typeface="Cambria Math"/>
              </a:rPr>
              <a:t>𝟎</a:t>
            </a:r>
            <a:endParaRPr sz="2400">
              <a:latin typeface="Cambria Math"/>
              <a:cs typeface="Cambria Math"/>
            </a:endParaRPr>
          </a:p>
          <a:p>
            <a:pPr marL="12700">
              <a:lnSpc>
                <a:spcPts val="2845"/>
              </a:lnSpc>
              <a:tabLst>
                <a:tab pos="499745" algn="l"/>
                <a:tab pos="987425" algn="l"/>
                <a:tab pos="1475105" algn="l"/>
                <a:tab pos="1963420" algn="l"/>
              </a:tabLst>
            </a:pPr>
            <a:r>
              <a:rPr sz="2400" spc="-50" dirty="0">
                <a:latin typeface="Cambria Math"/>
                <a:cs typeface="Cambria Math"/>
              </a:rPr>
              <a:t>𝟎</a:t>
            </a:r>
            <a:r>
              <a:rPr sz="2400" dirty="0">
                <a:latin typeface="Cambria Math"/>
                <a:cs typeface="Cambria Math"/>
              </a:rPr>
              <a:t>	</a:t>
            </a:r>
            <a:r>
              <a:rPr sz="2400" spc="-50" dirty="0">
                <a:latin typeface="Cambria Math"/>
                <a:cs typeface="Cambria Math"/>
              </a:rPr>
              <a:t>𝟏</a:t>
            </a:r>
            <a:r>
              <a:rPr sz="2400" dirty="0">
                <a:latin typeface="Cambria Math"/>
                <a:cs typeface="Cambria Math"/>
              </a:rPr>
              <a:t>	</a:t>
            </a:r>
            <a:r>
              <a:rPr sz="2400" spc="-50" dirty="0">
                <a:latin typeface="Cambria Math"/>
                <a:cs typeface="Cambria Math"/>
              </a:rPr>
              <a:t>𝟎</a:t>
            </a:r>
            <a:r>
              <a:rPr sz="2400" dirty="0">
                <a:latin typeface="Cambria Math"/>
                <a:cs typeface="Cambria Math"/>
              </a:rPr>
              <a:t>	</a:t>
            </a:r>
            <a:r>
              <a:rPr sz="2400" spc="-50" dirty="0">
                <a:latin typeface="Cambria Math"/>
                <a:cs typeface="Cambria Math"/>
              </a:rPr>
              <a:t>𝟎</a:t>
            </a:r>
            <a:r>
              <a:rPr sz="2400" dirty="0">
                <a:latin typeface="Cambria Math"/>
                <a:cs typeface="Cambria Math"/>
              </a:rPr>
              <a:t>	</a:t>
            </a:r>
            <a:r>
              <a:rPr sz="2400" spc="-50" dirty="0">
                <a:latin typeface="Cambria Math"/>
                <a:cs typeface="Cambria Math"/>
              </a:rPr>
              <a:t>𝟏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88772" y="1151077"/>
            <a:ext cx="11000105" cy="1044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42110">
              <a:lnSpc>
                <a:spcPts val="2570"/>
              </a:lnSpc>
              <a:spcBef>
                <a:spcPts val="100"/>
              </a:spcBef>
              <a:tabLst>
                <a:tab pos="2129790" algn="l"/>
                <a:tab pos="2617470" algn="l"/>
                <a:tab pos="3105150" algn="l"/>
                <a:tab pos="3592829" algn="l"/>
              </a:tabLst>
            </a:pPr>
            <a:r>
              <a:rPr sz="2400" spc="-50" dirty="0">
                <a:latin typeface="Cambria Math"/>
                <a:cs typeface="Cambria Math"/>
              </a:rPr>
              <a:t>𝟎</a:t>
            </a:r>
            <a:r>
              <a:rPr sz="2400" dirty="0">
                <a:latin typeface="Cambria Math"/>
                <a:cs typeface="Cambria Math"/>
              </a:rPr>
              <a:t>	</a:t>
            </a:r>
            <a:r>
              <a:rPr sz="2400" spc="-50" dirty="0">
                <a:latin typeface="Cambria Math"/>
                <a:cs typeface="Cambria Math"/>
              </a:rPr>
              <a:t>𝟏</a:t>
            </a:r>
            <a:r>
              <a:rPr sz="2400" dirty="0">
                <a:latin typeface="Cambria Math"/>
                <a:cs typeface="Cambria Math"/>
              </a:rPr>
              <a:t>	</a:t>
            </a:r>
            <a:r>
              <a:rPr sz="2400" spc="-50" dirty="0">
                <a:latin typeface="Cambria Math"/>
                <a:cs typeface="Cambria Math"/>
              </a:rPr>
              <a:t>𝟏</a:t>
            </a:r>
            <a:r>
              <a:rPr sz="2400" dirty="0">
                <a:latin typeface="Cambria Math"/>
                <a:cs typeface="Cambria Math"/>
              </a:rPr>
              <a:t>	</a:t>
            </a:r>
            <a:r>
              <a:rPr sz="2400" spc="-50" dirty="0">
                <a:latin typeface="Cambria Math"/>
                <a:cs typeface="Cambria Math"/>
              </a:rPr>
              <a:t>𝟏</a:t>
            </a:r>
            <a:r>
              <a:rPr sz="2400" dirty="0">
                <a:latin typeface="Cambria Math"/>
                <a:cs typeface="Cambria Math"/>
              </a:rPr>
              <a:t>	</a:t>
            </a:r>
            <a:r>
              <a:rPr sz="2400" spc="-50" dirty="0">
                <a:latin typeface="Cambria Math"/>
                <a:cs typeface="Cambria Math"/>
              </a:rPr>
              <a:t>𝟎</a:t>
            </a:r>
            <a:endParaRPr sz="2400">
              <a:latin typeface="Cambria Math"/>
              <a:cs typeface="Cambria Math"/>
            </a:endParaRPr>
          </a:p>
          <a:p>
            <a:pPr marL="354965" indent="-342265">
              <a:lnSpc>
                <a:spcPts val="2570"/>
              </a:lnSpc>
              <a:buFont typeface="Wingdings"/>
              <a:buChar char=""/>
              <a:tabLst>
                <a:tab pos="354965" algn="l"/>
              </a:tabLst>
            </a:pP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Determine</a:t>
            </a:r>
            <a:r>
              <a:rPr sz="2400" b="1" spc="-6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spc="-20" dirty="0">
                <a:solidFill>
                  <a:srgbClr val="006FC0"/>
                </a:solidFill>
                <a:latin typeface="Calibri"/>
                <a:cs typeface="Calibri"/>
              </a:rPr>
              <a:t>Systematic</a:t>
            </a:r>
            <a:r>
              <a:rPr sz="2400" b="1" spc="-6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form</a:t>
            </a:r>
            <a:r>
              <a:rPr sz="2400" b="1" spc="-6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of</a:t>
            </a:r>
            <a:r>
              <a:rPr sz="2400" b="1" spc="-7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spc="-25" dirty="0">
                <a:solidFill>
                  <a:srgbClr val="006FC0"/>
                </a:solidFill>
                <a:latin typeface="Calibri"/>
                <a:cs typeface="Calibri"/>
              </a:rPr>
              <a:t>G.</a:t>
            </a:r>
            <a:endParaRPr sz="24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buFont typeface="Wingdings"/>
              <a:buChar char=""/>
              <a:tabLst>
                <a:tab pos="354965" algn="l"/>
              </a:tabLst>
            </a:pPr>
            <a:r>
              <a:rPr sz="2400" b="1" spc="-20" dirty="0">
                <a:solidFill>
                  <a:srgbClr val="006FC0"/>
                </a:solidFill>
                <a:latin typeface="Calibri"/>
                <a:cs typeface="Calibri"/>
              </a:rPr>
              <a:t>Generate</a:t>
            </a:r>
            <a:r>
              <a:rPr sz="2400" b="1" spc="-2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006FC0"/>
                </a:solidFill>
                <a:latin typeface="Calibri"/>
                <a:cs typeface="Calibri"/>
              </a:rPr>
              <a:t>Codeword</a:t>
            </a:r>
            <a:r>
              <a:rPr sz="2400" b="1" spc="-3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for</a:t>
            </a:r>
            <a:r>
              <a:rPr sz="2400" b="1" spc="-2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006FC0"/>
                </a:solidFill>
                <a:latin typeface="Calibri"/>
                <a:cs typeface="Calibri"/>
              </a:rPr>
              <a:t>information</a:t>
            </a:r>
            <a:r>
              <a:rPr sz="2400" b="1" spc="-5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[0</a:t>
            </a:r>
            <a:r>
              <a:rPr sz="2400" b="1" spc="-4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1</a:t>
            </a:r>
            <a:r>
              <a:rPr sz="2400" b="1" spc="-3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1]</a:t>
            </a:r>
            <a:r>
              <a:rPr sz="2400" b="1" spc="-3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with</a:t>
            </a:r>
            <a:r>
              <a:rPr sz="2400" b="1" spc="-20" dirty="0">
                <a:solidFill>
                  <a:srgbClr val="006FC0"/>
                </a:solidFill>
                <a:latin typeface="Calibri"/>
                <a:cs typeface="Calibri"/>
              </a:rPr>
              <a:t> systematic</a:t>
            </a:r>
            <a:r>
              <a:rPr sz="2400" b="1" spc="-3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G</a:t>
            </a:r>
            <a:r>
              <a:rPr sz="2400" b="1" spc="-3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and</a:t>
            </a:r>
            <a:r>
              <a:rPr sz="2400" b="1" spc="-3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006FC0"/>
                </a:solidFill>
                <a:latin typeface="Calibri"/>
                <a:cs typeface="Calibri"/>
              </a:rPr>
              <a:t>Non-</a:t>
            </a:r>
            <a:r>
              <a:rPr sz="2400" b="1" spc="-20" dirty="0">
                <a:solidFill>
                  <a:srgbClr val="006FC0"/>
                </a:solidFill>
                <a:latin typeface="Calibri"/>
                <a:cs typeface="Calibri"/>
              </a:rPr>
              <a:t>systematic</a:t>
            </a:r>
            <a:r>
              <a:rPr sz="2400" b="1" spc="-3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spc="-25" dirty="0">
                <a:solidFill>
                  <a:srgbClr val="006FC0"/>
                </a:solidFill>
                <a:latin typeface="Calibri"/>
                <a:cs typeface="Calibri"/>
              </a:rPr>
              <a:t>G.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0" y="-62357"/>
            <a:ext cx="12192000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4400" u="none" spc="-145" dirty="0">
                <a:solidFill>
                  <a:srgbClr val="006600"/>
                </a:solidFill>
                <a:latin typeface="Arial"/>
                <a:cs typeface="Arial"/>
              </a:rPr>
              <a:t>Conversion of Systematic Generator Matrix</a:t>
            </a:r>
            <a:endParaRPr sz="4400" dirty="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74142" y="811225"/>
            <a:ext cx="11805285" cy="4340291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05765" marR="5080" indent="-342900">
              <a:lnSpc>
                <a:spcPct val="100000"/>
              </a:lnSpc>
              <a:spcBef>
                <a:spcPts val="55"/>
              </a:spcBef>
              <a:buFont typeface="Wingdings" pitchFamily="2" charset="2"/>
              <a:buChar char="q"/>
              <a:tabLst>
                <a:tab pos="520065" algn="l"/>
              </a:tabLst>
            </a:pPr>
            <a:r>
              <a:rPr lang="en-US" sz="2400" b="1" dirty="0">
                <a:solidFill>
                  <a:srgbClr val="6F2F9F"/>
                </a:solidFill>
                <a:latin typeface="Calibri"/>
                <a:cs typeface="Calibri"/>
              </a:rPr>
              <a:t>In coding theory, transforming a generator matrix through elementary row operations and column swaps has specific impacts on the resulting linear code</a:t>
            </a:r>
          </a:p>
          <a:p>
            <a:pPr marL="520065" marR="5080" indent="-457200">
              <a:lnSpc>
                <a:spcPct val="100000"/>
              </a:lnSpc>
              <a:spcBef>
                <a:spcPts val="55"/>
              </a:spcBef>
              <a:buFont typeface="Wingdings"/>
              <a:buChar char=""/>
              <a:tabLst>
                <a:tab pos="520065" algn="l"/>
              </a:tabLst>
            </a:pPr>
            <a:r>
              <a:rPr lang="en-US" sz="3200" b="1" u="sng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  <a:latin typeface="Calibri"/>
                <a:cs typeface="Calibri"/>
              </a:rPr>
              <a:t>Impact of Elementary Row Operations (EROs)</a:t>
            </a:r>
            <a:endParaRPr sz="3200" dirty="0">
              <a:latin typeface="Calibri"/>
              <a:cs typeface="Calibri"/>
            </a:endParaRPr>
          </a:p>
          <a:p>
            <a:pPr marL="520065" indent="-457200" algn="just">
              <a:lnSpc>
                <a:spcPct val="100000"/>
              </a:lnSpc>
              <a:spcBef>
                <a:spcPts val="170"/>
              </a:spcBef>
              <a:buAutoNum type="arabicPeriod"/>
              <a:tabLst>
                <a:tab pos="520065" algn="l"/>
              </a:tabLst>
            </a:pPr>
            <a:r>
              <a:rPr lang="en-US" sz="2400" b="1" dirty="0">
                <a:latin typeface="Calibri"/>
                <a:cs typeface="Calibri"/>
              </a:rPr>
              <a:t>Preserves the Code</a:t>
            </a:r>
            <a:r>
              <a:rPr lang="en-US" sz="2400" dirty="0">
                <a:latin typeface="Calibri"/>
                <a:cs typeface="Calibri"/>
              </a:rPr>
              <a:t>: EROs do not change the code itself. The set of all possible </a:t>
            </a:r>
            <a:r>
              <a:rPr lang="en-US" sz="2400" dirty="0" err="1">
                <a:latin typeface="Calibri"/>
                <a:cs typeface="Calibri"/>
              </a:rPr>
              <a:t>codewords</a:t>
            </a:r>
            <a:r>
              <a:rPr lang="en-US" sz="2400" dirty="0">
                <a:latin typeface="Calibri"/>
                <a:cs typeface="Calibri"/>
              </a:rPr>
              <a:t> remains exactly the same because the rows still span the same vector space.</a:t>
            </a:r>
          </a:p>
          <a:p>
            <a:pPr marL="520065" indent="-457200" algn="just">
              <a:lnSpc>
                <a:spcPct val="100000"/>
              </a:lnSpc>
              <a:spcBef>
                <a:spcPts val="170"/>
              </a:spcBef>
              <a:buAutoNum type="arabicPeriod"/>
              <a:tabLst>
                <a:tab pos="520065" algn="l"/>
              </a:tabLst>
            </a:pPr>
            <a:r>
              <a:rPr lang="en-US" sz="2400" b="1" dirty="0">
                <a:latin typeface="Calibri"/>
                <a:cs typeface="Calibri"/>
              </a:rPr>
              <a:t>Changes the Basis</a:t>
            </a:r>
            <a:r>
              <a:rPr lang="en-US" sz="2400" dirty="0">
                <a:latin typeface="Calibri"/>
                <a:cs typeface="Calibri"/>
              </a:rPr>
              <a:t>: It simply provides a different "basis" for the code.</a:t>
            </a:r>
          </a:p>
          <a:p>
            <a:pPr marL="520065" indent="-457200" algn="just">
              <a:lnSpc>
                <a:spcPct val="100000"/>
              </a:lnSpc>
              <a:spcBef>
                <a:spcPts val="170"/>
              </a:spcBef>
              <a:buAutoNum type="arabicPeriod"/>
              <a:tabLst>
                <a:tab pos="520065" algn="l"/>
              </a:tabLst>
            </a:pPr>
            <a:r>
              <a:rPr lang="en-US" sz="2400" b="1" dirty="0">
                <a:latin typeface="Calibri"/>
                <a:cs typeface="Calibri"/>
              </a:rPr>
              <a:t>Distance/Weight Properties</a:t>
            </a:r>
            <a:r>
              <a:rPr lang="en-US" sz="2400" dirty="0">
                <a:latin typeface="Calibri"/>
                <a:cs typeface="Calibri"/>
              </a:rPr>
              <a:t>: The minimum distance (</a:t>
            </a:r>
            <a:r>
              <a:rPr lang="en-US" sz="2400" dirty="0" err="1">
                <a:latin typeface="Calibri"/>
                <a:cs typeface="Calibri"/>
              </a:rPr>
              <a:t>d</a:t>
            </a:r>
            <a:r>
              <a:rPr lang="en-US" sz="2000" dirty="0" err="1">
                <a:latin typeface="Calibri"/>
                <a:cs typeface="Calibri"/>
              </a:rPr>
              <a:t>min</a:t>
            </a:r>
            <a:r>
              <a:rPr lang="en-US" sz="2400" dirty="0">
                <a:latin typeface="Calibri"/>
                <a:cs typeface="Calibri"/>
              </a:rPr>
              <a:t>) and weight distribution of the code are completely unaffected.</a:t>
            </a:r>
          </a:p>
          <a:p>
            <a:pPr marL="520065" indent="-457200" algn="just">
              <a:lnSpc>
                <a:spcPct val="100000"/>
              </a:lnSpc>
              <a:spcBef>
                <a:spcPts val="170"/>
              </a:spcBef>
              <a:buAutoNum type="arabicPeriod"/>
              <a:tabLst>
                <a:tab pos="520065" algn="l"/>
              </a:tabLst>
            </a:pPr>
            <a:r>
              <a:rPr lang="en-US" sz="2400" b="1" dirty="0">
                <a:latin typeface="Calibri"/>
                <a:cs typeface="Calibri"/>
              </a:rPr>
              <a:t>Encoding Logic</a:t>
            </a:r>
            <a:r>
              <a:rPr lang="en-US" sz="2400" dirty="0">
                <a:latin typeface="Calibri"/>
                <a:cs typeface="Calibri"/>
              </a:rPr>
              <a:t>: While the code is the same, the mapping between message bits and </a:t>
            </a:r>
            <a:r>
              <a:rPr lang="en-US" sz="2400" dirty="0" err="1">
                <a:latin typeface="Calibri"/>
                <a:cs typeface="Calibri"/>
              </a:rPr>
              <a:t>codewords</a:t>
            </a:r>
            <a:r>
              <a:rPr lang="en-US" sz="2400" dirty="0">
                <a:latin typeface="Calibri"/>
                <a:cs typeface="Calibri"/>
              </a:rPr>
              <a:t> changes.</a:t>
            </a:r>
          </a:p>
          <a:p>
            <a:pPr marL="62865" algn="just">
              <a:lnSpc>
                <a:spcPct val="100000"/>
              </a:lnSpc>
              <a:spcBef>
                <a:spcPts val="170"/>
              </a:spcBef>
              <a:tabLst>
                <a:tab pos="520065" algn="l"/>
              </a:tabLst>
            </a:pPr>
            <a:endParaRPr sz="2400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9099926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0" y="-62357"/>
            <a:ext cx="12192000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4400" u="none" spc="-145" dirty="0">
                <a:solidFill>
                  <a:srgbClr val="006600"/>
                </a:solidFill>
                <a:latin typeface="Arial"/>
                <a:cs typeface="Arial"/>
              </a:rPr>
              <a:t>Conversion of Systematic Generator Matrix</a:t>
            </a:r>
            <a:endParaRPr sz="4400" dirty="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74142" y="811225"/>
            <a:ext cx="11805285" cy="47480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520065" marR="5080" indent="-457200">
              <a:lnSpc>
                <a:spcPct val="100000"/>
              </a:lnSpc>
              <a:spcBef>
                <a:spcPts val="55"/>
              </a:spcBef>
              <a:buFont typeface="Wingdings"/>
              <a:buChar char=""/>
              <a:tabLst>
                <a:tab pos="520065" algn="l"/>
              </a:tabLst>
            </a:pPr>
            <a:r>
              <a:rPr lang="en-US" sz="3200" b="1" u="sng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  <a:latin typeface="Calibri"/>
                <a:cs typeface="Calibri"/>
              </a:rPr>
              <a:t>Impact of Column Swaps</a:t>
            </a:r>
            <a:endParaRPr sz="3200" dirty="0">
              <a:latin typeface="Calibri"/>
              <a:cs typeface="Calibri"/>
            </a:endParaRPr>
          </a:p>
          <a:p>
            <a:pPr marL="520065" indent="-457200" algn="just">
              <a:lnSpc>
                <a:spcPct val="100000"/>
              </a:lnSpc>
              <a:spcBef>
                <a:spcPts val="170"/>
              </a:spcBef>
              <a:buAutoNum type="arabicPeriod"/>
              <a:tabLst>
                <a:tab pos="520065" algn="l"/>
              </a:tabLst>
            </a:pPr>
            <a:r>
              <a:rPr lang="en-US" sz="2400" b="1" dirty="0">
                <a:latin typeface="Calibri"/>
                <a:cs typeface="Calibri"/>
              </a:rPr>
              <a:t>Creates an Equivalent Code: </a:t>
            </a:r>
            <a:r>
              <a:rPr lang="en-US" sz="2400" dirty="0">
                <a:latin typeface="Calibri"/>
                <a:cs typeface="Calibri"/>
              </a:rPr>
              <a:t>Column swaps do not preserve the exact code; instead, they create a </a:t>
            </a:r>
            <a:r>
              <a:rPr lang="en-US" sz="2400" dirty="0" err="1">
                <a:latin typeface="Calibri"/>
                <a:cs typeface="Calibri"/>
              </a:rPr>
              <a:t>permutationally</a:t>
            </a:r>
            <a:r>
              <a:rPr lang="en-US" sz="2400" dirty="0">
                <a:latin typeface="Calibri"/>
                <a:cs typeface="Calibri"/>
              </a:rPr>
              <a:t> equivalent code.</a:t>
            </a:r>
          </a:p>
          <a:p>
            <a:pPr marL="520065" indent="-457200" algn="just">
              <a:lnSpc>
                <a:spcPct val="100000"/>
              </a:lnSpc>
              <a:spcBef>
                <a:spcPts val="170"/>
              </a:spcBef>
              <a:buAutoNum type="arabicPeriod"/>
              <a:tabLst>
                <a:tab pos="520065" algn="l"/>
              </a:tabLst>
            </a:pPr>
            <a:r>
              <a:rPr lang="en-US" sz="2400" b="1" dirty="0">
                <a:latin typeface="Calibri"/>
                <a:cs typeface="Calibri"/>
              </a:rPr>
              <a:t>Changes the </a:t>
            </a:r>
            <a:r>
              <a:rPr lang="en-US" sz="2400" b="1" dirty="0" err="1">
                <a:latin typeface="Calibri"/>
                <a:cs typeface="Calibri"/>
              </a:rPr>
              <a:t>Codewords</a:t>
            </a:r>
            <a:r>
              <a:rPr lang="en-US" sz="2400" b="1" dirty="0">
                <a:latin typeface="Calibri"/>
                <a:cs typeface="Calibri"/>
              </a:rPr>
              <a:t>: </a:t>
            </a:r>
            <a:r>
              <a:rPr lang="en-US" sz="2400" dirty="0">
                <a:latin typeface="Calibri"/>
                <a:cs typeface="Calibri"/>
              </a:rPr>
              <a:t>The individual </a:t>
            </a:r>
            <a:r>
              <a:rPr lang="en-US" sz="2400" dirty="0" err="1">
                <a:latin typeface="Calibri"/>
                <a:cs typeface="Calibri"/>
              </a:rPr>
              <a:t>codewords</a:t>
            </a:r>
            <a:r>
              <a:rPr lang="en-US" sz="2400" dirty="0">
                <a:latin typeface="Calibri"/>
                <a:cs typeface="Calibri"/>
              </a:rPr>
              <a:t> change because the positions of the bits are rearranged.</a:t>
            </a:r>
          </a:p>
          <a:p>
            <a:pPr marL="520065" indent="-457200" algn="just">
              <a:lnSpc>
                <a:spcPct val="100000"/>
              </a:lnSpc>
              <a:spcBef>
                <a:spcPts val="170"/>
              </a:spcBef>
              <a:buAutoNum type="arabicPeriod"/>
              <a:tabLst>
                <a:tab pos="520065" algn="l"/>
              </a:tabLst>
            </a:pPr>
            <a:r>
              <a:rPr lang="en-US" sz="2400" b="1" dirty="0">
                <a:latin typeface="Calibri"/>
                <a:cs typeface="Calibri"/>
              </a:rPr>
              <a:t>Preserves Fundamental Properties: </a:t>
            </a:r>
            <a:r>
              <a:rPr lang="en-US" sz="2400" dirty="0">
                <a:latin typeface="Calibri"/>
                <a:cs typeface="Calibri"/>
              </a:rPr>
              <a:t>Even though the </a:t>
            </a:r>
            <a:r>
              <a:rPr lang="en-US" sz="2400" dirty="0" err="1">
                <a:latin typeface="Calibri"/>
                <a:cs typeface="Calibri"/>
              </a:rPr>
              <a:t>codewords</a:t>
            </a:r>
            <a:r>
              <a:rPr lang="en-US" sz="2400" dirty="0">
                <a:latin typeface="Calibri"/>
                <a:cs typeface="Calibri"/>
              </a:rPr>
              <a:t> look different, the "quality" of the code remains the same:</a:t>
            </a:r>
          </a:p>
          <a:p>
            <a:pPr marL="62865" lvl="2" algn="just">
              <a:spcBef>
                <a:spcPts val="170"/>
              </a:spcBef>
              <a:tabLst>
                <a:tab pos="520065" algn="l"/>
              </a:tabLst>
            </a:pPr>
            <a:r>
              <a:rPr lang="en-US" sz="2400" dirty="0">
                <a:latin typeface="Calibri"/>
                <a:cs typeface="Calibri"/>
              </a:rPr>
              <a:t>		-The minimum distance (</a:t>
            </a:r>
            <a:r>
              <a:rPr lang="en-US" sz="2400" dirty="0" err="1">
                <a:latin typeface="Calibri"/>
                <a:cs typeface="Calibri"/>
              </a:rPr>
              <a:t>d</a:t>
            </a:r>
            <a:r>
              <a:rPr lang="en-US" sz="2000" dirty="0" err="1">
                <a:latin typeface="Calibri"/>
                <a:cs typeface="Calibri"/>
              </a:rPr>
              <a:t>min</a:t>
            </a:r>
            <a:r>
              <a:rPr lang="en-US" sz="2400" dirty="0">
                <a:latin typeface="Calibri"/>
                <a:cs typeface="Calibri"/>
              </a:rPr>
              <a:t>) remains unchanged.</a:t>
            </a:r>
          </a:p>
          <a:p>
            <a:pPr marL="62865" lvl="2" algn="just">
              <a:spcBef>
                <a:spcPts val="170"/>
              </a:spcBef>
              <a:tabLst>
                <a:tab pos="520065" algn="l"/>
              </a:tabLst>
            </a:pPr>
            <a:r>
              <a:rPr lang="en-US" sz="2400" dirty="0">
                <a:latin typeface="Calibri"/>
                <a:cs typeface="Calibri"/>
              </a:rPr>
              <a:t>		-The error-correcting capability remains identical.</a:t>
            </a:r>
          </a:p>
          <a:p>
            <a:pPr marL="62865" lvl="2" algn="just">
              <a:spcBef>
                <a:spcPts val="170"/>
              </a:spcBef>
              <a:tabLst>
                <a:tab pos="520065" algn="l"/>
              </a:tabLst>
            </a:pPr>
            <a:r>
              <a:rPr lang="en-US" sz="2400" dirty="0">
                <a:latin typeface="Calibri"/>
                <a:cs typeface="Calibri"/>
              </a:rPr>
              <a:t>		-The weight enumerator (how many words have how many 1s) stays the same.</a:t>
            </a:r>
          </a:p>
          <a:p>
            <a:pPr marL="62865" lvl="2" algn="just">
              <a:spcBef>
                <a:spcPts val="170"/>
              </a:spcBef>
              <a:tabLst>
                <a:tab pos="520065" algn="l"/>
              </a:tabLst>
            </a:pPr>
            <a:r>
              <a:rPr lang="en-US" sz="2400" b="1" dirty="0">
                <a:latin typeface="Calibri"/>
                <a:cs typeface="Calibri"/>
              </a:rPr>
              <a:t>4.   Hardware/Software Impact: </a:t>
            </a:r>
            <a:r>
              <a:rPr lang="en-US" sz="2400" dirty="0">
                <a:latin typeface="Calibri"/>
                <a:cs typeface="Calibri"/>
              </a:rPr>
              <a:t>Swapping columns requires you to keep track of the new bit order so that the receiver can "un-swap" them to retrieve the original message.</a:t>
            </a:r>
            <a:endParaRPr sz="2400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6480369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8117" y="29413"/>
            <a:ext cx="11937365" cy="940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0" u="none" spc="-155" dirty="0">
                <a:solidFill>
                  <a:srgbClr val="006600"/>
                </a:solidFill>
                <a:latin typeface="Arial"/>
                <a:cs typeface="Arial"/>
              </a:rPr>
              <a:t>Linear</a:t>
            </a:r>
            <a:r>
              <a:rPr sz="6000" u="none" spc="-220" dirty="0">
                <a:solidFill>
                  <a:srgbClr val="006600"/>
                </a:solidFill>
                <a:latin typeface="Arial"/>
                <a:cs typeface="Arial"/>
              </a:rPr>
              <a:t> </a:t>
            </a:r>
            <a:r>
              <a:rPr sz="6000" u="none" spc="-335" dirty="0">
                <a:solidFill>
                  <a:srgbClr val="006600"/>
                </a:solidFill>
                <a:latin typeface="Arial"/>
                <a:cs typeface="Arial"/>
              </a:rPr>
              <a:t>Block</a:t>
            </a:r>
            <a:r>
              <a:rPr sz="6000" u="none" spc="-170" dirty="0">
                <a:solidFill>
                  <a:srgbClr val="006600"/>
                </a:solidFill>
                <a:latin typeface="Arial"/>
                <a:cs typeface="Arial"/>
              </a:rPr>
              <a:t> </a:t>
            </a:r>
            <a:r>
              <a:rPr sz="6000" u="none" spc="-415" dirty="0">
                <a:solidFill>
                  <a:srgbClr val="006600"/>
                </a:solidFill>
                <a:latin typeface="Arial"/>
                <a:cs typeface="Arial"/>
              </a:rPr>
              <a:t>Code</a:t>
            </a:r>
            <a:r>
              <a:rPr sz="6000" u="none" spc="-170" dirty="0">
                <a:solidFill>
                  <a:srgbClr val="006600"/>
                </a:solidFill>
                <a:latin typeface="Arial"/>
                <a:cs typeface="Arial"/>
              </a:rPr>
              <a:t> </a:t>
            </a:r>
            <a:r>
              <a:rPr sz="6000" u="none" spc="-459" dirty="0">
                <a:solidFill>
                  <a:srgbClr val="006600"/>
                </a:solidFill>
                <a:latin typeface="Arial"/>
                <a:cs typeface="Arial"/>
              </a:rPr>
              <a:t>Solved</a:t>
            </a:r>
            <a:r>
              <a:rPr sz="6000" u="none" spc="-170" dirty="0">
                <a:solidFill>
                  <a:srgbClr val="006600"/>
                </a:solidFill>
                <a:latin typeface="Arial"/>
                <a:cs typeface="Arial"/>
              </a:rPr>
              <a:t> </a:t>
            </a:r>
            <a:r>
              <a:rPr sz="6000" u="none" spc="-365" dirty="0">
                <a:solidFill>
                  <a:srgbClr val="006600"/>
                </a:solidFill>
                <a:latin typeface="Arial"/>
                <a:cs typeface="Arial"/>
              </a:rPr>
              <a:t>Examples</a:t>
            </a:r>
            <a:endParaRPr sz="60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88772" y="884301"/>
            <a:ext cx="10048875" cy="12560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100"/>
              </a:spcBef>
              <a:buFont typeface="Wingdings"/>
              <a:buChar char=""/>
              <a:tabLst>
                <a:tab pos="469265" algn="l"/>
              </a:tabLst>
            </a:pP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Example</a:t>
            </a:r>
            <a:r>
              <a:rPr sz="2400" b="1" spc="-7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4:</a:t>
            </a:r>
            <a:r>
              <a:rPr sz="2400" b="1" spc="-6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Determine</a:t>
            </a:r>
            <a:r>
              <a:rPr sz="2400" b="1" spc="-6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the</a:t>
            </a:r>
            <a:r>
              <a:rPr sz="2400" b="1" spc="-5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parity</a:t>
            </a:r>
            <a:r>
              <a:rPr sz="2400" b="1" spc="-5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check</a:t>
            </a:r>
            <a:r>
              <a:rPr sz="2400" b="1" spc="-7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Matrix</a:t>
            </a:r>
            <a:r>
              <a:rPr sz="2400" b="1" spc="-7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for</a:t>
            </a:r>
            <a:r>
              <a:rPr sz="2400" b="1" spc="-7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(7,</a:t>
            </a:r>
            <a:r>
              <a:rPr sz="2400" b="1" spc="-6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4)</a:t>
            </a:r>
            <a:r>
              <a:rPr sz="2400" b="1" spc="-5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Generator</a:t>
            </a:r>
            <a:r>
              <a:rPr sz="2400" b="1" spc="-6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Matrix</a:t>
            </a:r>
            <a:r>
              <a:rPr sz="2400" b="1" spc="-6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25" dirty="0">
                <a:solidFill>
                  <a:srgbClr val="6F2F9F"/>
                </a:solidFill>
                <a:latin typeface="Calibri"/>
                <a:cs typeface="Calibri"/>
              </a:rPr>
              <a:t>G:</a:t>
            </a:r>
            <a:endParaRPr sz="2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994"/>
              </a:spcBef>
            </a:pPr>
            <a:endParaRPr sz="2400">
              <a:latin typeface="Calibri"/>
              <a:cs typeface="Calibri"/>
            </a:endParaRPr>
          </a:p>
          <a:p>
            <a:pPr marL="480059">
              <a:lnSpc>
                <a:spcPct val="100000"/>
              </a:lnSpc>
            </a:pPr>
            <a:r>
              <a:rPr sz="2400" dirty="0">
                <a:latin typeface="Cambria Math"/>
                <a:cs typeface="Cambria Math"/>
              </a:rPr>
              <a:t>⟹</a:t>
            </a:r>
            <a:r>
              <a:rPr sz="2400" spc="110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𝐆</a:t>
            </a:r>
            <a:r>
              <a:rPr sz="2400" spc="130" dirty="0">
                <a:latin typeface="Cambria Math"/>
                <a:cs typeface="Cambria Math"/>
              </a:rPr>
              <a:t> </a:t>
            </a:r>
            <a:r>
              <a:rPr sz="2400" spc="-60" dirty="0">
                <a:latin typeface="Cambria Math"/>
                <a:cs typeface="Cambria Math"/>
              </a:rPr>
              <a:t>=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744218" y="1328673"/>
            <a:ext cx="3296285" cy="1303020"/>
          </a:xfrm>
          <a:custGeom>
            <a:avLst/>
            <a:gdLst/>
            <a:ahLst/>
            <a:cxnLst/>
            <a:rect l="l" t="t" r="r" b="b"/>
            <a:pathLst>
              <a:path w="3296285" h="1303020">
                <a:moveTo>
                  <a:pt x="87757" y="1286510"/>
                </a:moveTo>
                <a:lnTo>
                  <a:pt x="0" y="1286510"/>
                </a:lnTo>
                <a:lnTo>
                  <a:pt x="0" y="1303020"/>
                </a:lnTo>
                <a:lnTo>
                  <a:pt x="87757" y="1303020"/>
                </a:lnTo>
                <a:lnTo>
                  <a:pt x="87757" y="1286510"/>
                </a:lnTo>
                <a:close/>
              </a:path>
              <a:path w="3296285" h="1303020">
                <a:moveTo>
                  <a:pt x="87757" y="0"/>
                </a:moveTo>
                <a:lnTo>
                  <a:pt x="0" y="0"/>
                </a:lnTo>
                <a:lnTo>
                  <a:pt x="0" y="16510"/>
                </a:lnTo>
                <a:lnTo>
                  <a:pt x="87757" y="16510"/>
                </a:lnTo>
                <a:lnTo>
                  <a:pt x="87757" y="0"/>
                </a:lnTo>
                <a:close/>
              </a:path>
              <a:path w="3296285" h="1303020">
                <a:moveTo>
                  <a:pt x="3295904" y="1286510"/>
                </a:moveTo>
                <a:lnTo>
                  <a:pt x="3208147" y="1286510"/>
                </a:lnTo>
                <a:lnTo>
                  <a:pt x="3208147" y="1303020"/>
                </a:lnTo>
                <a:lnTo>
                  <a:pt x="3295904" y="1303020"/>
                </a:lnTo>
                <a:lnTo>
                  <a:pt x="3295904" y="1286510"/>
                </a:lnTo>
                <a:close/>
              </a:path>
              <a:path w="3296285" h="1303020">
                <a:moveTo>
                  <a:pt x="3295904" y="0"/>
                </a:moveTo>
                <a:lnTo>
                  <a:pt x="3208147" y="0"/>
                </a:lnTo>
                <a:lnTo>
                  <a:pt x="3208147" y="16510"/>
                </a:lnTo>
                <a:lnTo>
                  <a:pt x="3295904" y="16510"/>
                </a:lnTo>
                <a:lnTo>
                  <a:pt x="329590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1744217" y="1333288"/>
          <a:ext cx="3263263" cy="13569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133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70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70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87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876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876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127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marL="77470">
                        <a:lnSpc>
                          <a:spcPts val="2305"/>
                        </a:lnSpc>
                      </a:pPr>
                      <a:r>
                        <a:rPr sz="2400" spc="-50" dirty="0">
                          <a:latin typeface="Cambria Math"/>
                          <a:cs typeface="Cambria Math"/>
                        </a:rPr>
                        <a:t>𝟏</a:t>
                      </a:r>
                      <a:endParaRPr sz="2400">
                        <a:latin typeface="Cambria Math"/>
                        <a:cs typeface="Cambria Math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2305"/>
                        </a:lnSpc>
                      </a:pPr>
                      <a:r>
                        <a:rPr sz="2400" spc="-50" dirty="0">
                          <a:latin typeface="Cambria Math"/>
                          <a:cs typeface="Cambria Math"/>
                        </a:rPr>
                        <a:t>𝟎</a:t>
                      </a:r>
                      <a:endParaRPr sz="24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05"/>
                        </a:lnSpc>
                      </a:pPr>
                      <a:r>
                        <a:rPr sz="2400" spc="-50" dirty="0">
                          <a:latin typeface="Cambria Math"/>
                          <a:cs typeface="Cambria Math"/>
                        </a:rPr>
                        <a:t>𝟎</a:t>
                      </a:r>
                      <a:endParaRPr sz="24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05"/>
                        </a:lnSpc>
                      </a:pPr>
                      <a:r>
                        <a:rPr sz="2400" spc="-50" dirty="0">
                          <a:latin typeface="Cambria Math"/>
                          <a:cs typeface="Cambria Math"/>
                        </a:rPr>
                        <a:t>𝟎</a:t>
                      </a:r>
                      <a:endParaRPr sz="24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05"/>
                        </a:lnSpc>
                      </a:pPr>
                      <a:r>
                        <a:rPr sz="2400" spc="-50" dirty="0">
                          <a:latin typeface="Cambria Math"/>
                          <a:cs typeface="Cambria Math"/>
                        </a:rPr>
                        <a:t>𝟏</a:t>
                      </a:r>
                      <a:endParaRPr sz="24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05"/>
                        </a:lnSpc>
                      </a:pPr>
                      <a:r>
                        <a:rPr sz="2400" spc="-50" dirty="0">
                          <a:latin typeface="Cambria Math"/>
                          <a:cs typeface="Cambria Math"/>
                        </a:rPr>
                        <a:t>𝟎</a:t>
                      </a:r>
                      <a:endParaRPr sz="24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4295" algn="ctr">
                        <a:lnSpc>
                          <a:spcPts val="2305"/>
                        </a:lnSpc>
                      </a:pPr>
                      <a:r>
                        <a:rPr sz="2400" spc="-50" dirty="0">
                          <a:latin typeface="Cambria Math"/>
                          <a:cs typeface="Cambria Math"/>
                        </a:rPr>
                        <a:t>𝟏</a:t>
                      </a:r>
                      <a:endParaRPr sz="2400">
                        <a:latin typeface="Cambria Math"/>
                        <a:cs typeface="Cambria Math"/>
                      </a:endParaRPr>
                    </a:p>
                  </a:txBody>
                  <a:tcPr marL="0" marR="0" marT="0" marB="0"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9890">
                <a:tc>
                  <a:txBody>
                    <a:bodyPr/>
                    <a:lstStyle/>
                    <a:p>
                      <a:pPr marL="77470">
                        <a:lnSpc>
                          <a:spcPts val="2335"/>
                        </a:lnSpc>
                      </a:pPr>
                      <a:r>
                        <a:rPr sz="2400" spc="-50" dirty="0">
                          <a:latin typeface="Cambria Math"/>
                          <a:cs typeface="Cambria Math"/>
                        </a:rPr>
                        <a:t>𝟎</a:t>
                      </a:r>
                      <a:endParaRPr sz="2400">
                        <a:latin typeface="Cambria Math"/>
                        <a:cs typeface="Cambria Math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50"/>
                        </a:lnSpc>
                      </a:pPr>
                      <a:r>
                        <a:rPr sz="2400" spc="-50" dirty="0">
                          <a:latin typeface="Cambria Math"/>
                          <a:cs typeface="Cambria Math"/>
                        </a:rPr>
                        <a:t>𝟏</a:t>
                      </a:r>
                      <a:endParaRPr sz="24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50"/>
                        </a:lnSpc>
                      </a:pPr>
                      <a:r>
                        <a:rPr sz="2400" spc="-50" dirty="0">
                          <a:latin typeface="Cambria Math"/>
                          <a:cs typeface="Cambria Math"/>
                        </a:rPr>
                        <a:t>𝟎</a:t>
                      </a:r>
                      <a:endParaRPr sz="24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60"/>
                        </a:lnSpc>
                      </a:pPr>
                      <a:r>
                        <a:rPr sz="2400" spc="-50" dirty="0">
                          <a:latin typeface="Cambria Math"/>
                          <a:cs typeface="Cambria Math"/>
                        </a:rPr>
                        <a:t>𝟎</a:t>
                      </a:r>
                      <a:endParaRPr sz="24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70"/>
                        </a:lnSpc>
                      </a:pPr>
                      <a:r>
                        <a:rPr sz="2400" spc="-50" dirty="0">
                          <a:latin typeface="Cambria Math"/>
                          <a:cs typeface="Cambria Math"/>
                        </a:rPr>
                        <a:t>𝟏</a:t>
                      </a:r>
                      <a:endParaRPr sz="24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70"/>
                        </a:lnSpc>
                      </a:pPr>
                      <a:r>
                        <a:rPr sz="2400" spc="-50" dirty="0">
                          <a:latin typeface="Cambria Math"/>
                          <a:cs typeface="Cambria Math"/>
                        </a:rPr>
                        <a:t>𝟏</a:t>
                      </a:r>
                      <a:endParaRPr sz="24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4295" algn="ctr">
                        <a:lnSpc>
                          <a:spcPts val="2770"/>
                        </a:lnSpc>
                      </a:pPr>
                      <a:r>
                        <a:rPr sz="2400" spc="-50" dirty="0">
                          <a:latin typeface="Cambria Math"/>
                          <a:cs typeface="Cambria Math"/>
                        </a:rPr>
                        <a:t>𝟏</a:t>
                      </a:r>
                      <a:endParaRPr sz="2400">
                        <a:latin typeface="Cambria Math"/>
                        <a:cs typeface="Cambria Math"/>
                      </a:endParaRPr>
                    </a:p>
                  </a:txBody>
                  <a:tcPr marL="0" marR="0" marT="0" marB="0"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7815">
                <a:tc>
                  <a:txBody>
                    <a:bodyPr/>
                    <a:lstStyle/>
                    <a:p>
                      <a:pPr marL="77470">
                        <a:lnSpc>
                          <a:spcPts val="2085"/>
                        </a:lnSpc>
                      </a:pPr>
                      <a:r>
                        <a:rPr sz="2400" spc="-50" dirty="0">
                          <a:latin typeface="Cambria Math"/>
                          <a:cs typeface="Cambria Math"/>
                        </a:rPr>
                        <a:t>𝟎</a:t>
                      </a:r>
                      <a:endParaRPr sz="2400">
                        <a:latin typeface="Cambria Math"/>
                        <a:cs typeface="Cambria Math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95"/>
                        </a:lnSpc>
                      </a:pPr>
                      <a:r>
                        <a:rPr sz="2400" spc="-50" dirty="0">
                          <a:latin typeface="Cambria Math"/>
                          <a:cs typeface="Cambria Math"/>
                        </a:rPr>
                        <a:t>𝟎</a:t>
                      </a:r>
                      <a:endParaRPr sz="24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95"/>
                        </a:lnSpc>
                      </a:pPr>
                      <a:r>
                        <a:rPr sz="2400" spc="-50" dirty="0">
                          <a:latin typeface="Cambria Math"/>
                          <a:cs typeface="Cambria Math"/>
                        </a:rPr>
                        <a:t>𝟏</a:t>
                      </a:r>
                      <a:endParaRPr sz="24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95"/>
                        </a:lnSpc>
                      </a:pPr>
                      <a:r>
                        <a:rPr sz="2400" spc="-50" dirty="0">
                          <a:latin typeface="Cambria Math"/>
                          <a:cs typeface="Cambria Math"/>
                        </a:rPr>
                        <a:t>𝟎</a:t>
                      </a:r>
                      <a:endParaRPr sz="24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85"/>
                        </a:lnSpc>
                      </a:pPr>
                      <a:r>
                        <a:rPr sz="2400" spc="-50" dirty="0">
                          <a:latin typeface="Cambria Math"/>
                          <a:cs typeface="Cambria Math"/>
                        </a:rPr>
                        <a:t>𝟏</a:t>
                      </a:r>
                      <a:endParaRPr sz="24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85"/>
                        </a:lnSpc>
                      </a:pPr>
                      <a:r>
                        <a:rPr sz="2400" spc="-50" dirty="0">
                          <a:latin typeface="Cambria Math"/>
                          <a:cs typeface="Cambria Math"/>
                        </a:rPr>
                        <a:t>𝟏</a:t>
                      </a:r>
                      <a:endParaRPr sz="24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4295" algn="ctr">
                        <a:lnSpc>
                          <a:spcPts val="2085"/>
                        </a:lnSpc>
                      </a:pPr>
                      <a:r>
                        <a:rPr sz="2400" spc="-50" dirty="0">
                          <a:latin typeface="Cambria Math"/>
                          <a:cs typeface="Cambria Math"/>
                        </a:rPr>
                        <a:t>𝟎</a:t>
                      </a:r>
                      <a:endParaRPr sz="2400">
                        <a:latin typeface="Cambria Math"/>
                        <a:cs typeface="Cambria Math"/>
                      </a:endParaRPr>
                    </a:p>
                  </a:txBody>
                  <a:tcPr marL="0" marR="0" marT="0" marB="0"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4490">
                <a:tc>
                  <a:txBody>
                    <a:bodyPr/>
                    <a:lstStyle/>
                    <a:p>
                      <a:pPr marL="77470">
                        <a:lnSpc>
                          <a:spcPts val="2545"/>
                        </a:lnSpc>
                      </a:pPr>
                      <a:r>
                        <a:rPr sz="2400" spc="-50" dirty="0">
                          <a:latin typeface="Cambria Math"/>
                          <a:cs typeface="Cambria Math"/>
                        </a:rPr>
                        <a:t>𝟎</a:t>
                      </a:r>
                      <a:endParaRPr sz="2400">
                        <a:latin typeface="Cambria Math"/>
                        <a:cs typeface="Cambria Math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55"/>
                        </a:lnSpc>
                      </a:pPr>
                      <a:r>
                        <a:rPr sz="2400" spc="-50" dirty="0">
                          <a:latin typeface="Cambria Math"/>
                          <a:cs typeface="Cambria Math"/>
                        </a:rPr>
                        <a:t>𝟎</a:t>
                      </a:r>
                      <a:endParaRPr sz="24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55"/>
                        </a:lnSpc>
                      </a:pPr>
                      <a:r>
                        <a:rPr sz="2400" spc="-50" dirty="0">
                          <a:latin typeface="Cambria Math"/>
                          <a:cs typeface="Cambria Math"/>
                        </a:rPr>
                        <a:t>𝟎</a:t>
                      </a:r>
                      <a:endParaRPr sz="24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70"/>
                        </a:lnSpc>
                      </a:pPr>
                      <a:r>
                        <a:rPr sz="2400" spc="-50" dirty="0">
                          <a:latin typeface="Cambria Math"/>
                          <a:cs typeface="Cambria Math"/>
                        </a:rPr>
                        <a:t>𝟏</a:t>
                      </a:r>
                      <a:endParaRPr sz="24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45"/>
                        </a:lnSpc>
                      </a:pPr>
                      <a:r>
                        <a:rPr sz="2400" spc="-50" dirty="0">
                          <a:latin typeface="Cambria Math"/>
                          <a:cs typeface="Cambria Math"/>
                        </a:rPr>
                        <a:t>𝟎</a:t>
                      </a:r>
                      <a:endParaRPr sz="24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45"/>
                        </a:lnSpc>
                      </a:pPr>
                      <a:r>
                        <a:rPr sz="2400" spc="-50" dirty="0">
                          <a:latin typeface="Cambria Math"/>
                          <a:cs typeface="Cambria Math"/>
                        </a:rPr>
                        <a:t>𝟏</a:t>
                      </a:r>
                      <a:endParaRPr sz="24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4295" algn="ctr">
                        <a:lnSpc>
                          <a:spcPts val="2545"/>
                        </a:lnSpc>
                      </a:pPr>
                      <a:r>
                        <a:rPr sz="2400" spc="-50" dirty="0">
                          <a:latin typeface="Cambria Math"/>
                          <a:cs typeface="Cambria Math"/>
                        </a:rPr>
                        <a:t>𝟏</a:t>
                      </a:r>
                      <a:endParaRPr sz="2400">
                        <a:latin typeface="Cambria Math"/>
                        <a:cs typeface="Cambria Math"/>
                      </a:endParaRPr>
                    </a:p>
                  </a:txBody>
                  <a:tcPr marL="0" marR="0" marT="0" marB="0"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63372" y="113538"/>
            <a:ext cx="582231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94665" indent="-456565">
              <a:lnSpc>
                <a:spcPct val="100000"/>
              </a:lnSpc>
              <a:spcBef>
                <a:spcPts val="100"/>
              </a:spcBef>
              <a:buFont typeface="Wingdings"/>
              <a:buChar char=""/>
              <a:tabLst>
                <a:tab pos="494665" algn="l"/>
              </a:tabLst>
            </a:pP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Example</a:t>
            </a:r>
            <a:r>
              <a:rPr sz="2400" b="1" spc="-3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5:</a:t>
            </a:r>
            <a:r>
              <a:rPr sz="2400" b="1" spc="-3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Prove</a:t>
            </a:r>
            <a:r>
              <a:rPr sz="2400" b="1" spc="-4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that</a:t>
            </a:r>
            <a:r>
              <a:rPr sz="2400" b="1" spc="-1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F2F9F"/>
                </a:solidFill>
                <a:latin typeface="Cambria Math"/>
                <a:cs typeface="Cambria Math"/>
              </a:rPr>
              <a:t>𝐆𝐇</a:t>
            </a:r>
            <a:r>
              <a:rPr sz="2625" baseline="28571" dirty="0">
                <a:solidFill>
                  <a:srgbClr val="6F2F9F"/>
                </a:solidFill>
                <a:latin typeface="Cambria Math"/>
                <a:cs typeface="Cambria Math"/>
              </a:rPr>
              <a:t>𝐓</a:t>
            </a:r>
            <a:r>
              <a:rPr sz="2625" spc="345" baseline="28571" dirty="0">
                <a:solidFill>
                  <a:srgbClr val="6F2F9F"/>
                </a:solidFill>
                <a:latin typeface="Cambria Math"/>
                <a:cs typeface="Cambria Math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and</a:t>
            </a:r>
            <a:r>
              <a:rPr sz="2400" b="1" spc="-3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F2F9F"/>
                </a:solidFill>
                <a:latin typeface="Cambria Math"/>
                <a:cs typeface="Cambria Math"/>
              </a:rPr>
              <a:t>𝐂𝐇</a:t>
            </a:r>
            <a:r>
              <a:rPr sz="2625" baseline="28571" dirty="0">
                <a:solidFill>
                  <a:srgbClr val="6F2F9F"/>
                </a:solidFill>
                <a:latin typeface="Cambria Math"/>
                <a:cs typeface="Cambria Math"/>
              </a:rPr>
              <a:t>𝐓</a:t>
            </a:r>
            <a:r>
              <a:rPr sz="2625" spc="502" baseline="28571" dirty="0">
                <a:solidFill>
                  <a:srgbClr val="6F2F9F"/>
                </a:solidFill>
                <a:latin typeface="Cambria Math"/>
                <a:cs typeface="Cambria Math"/>
              </a:rPr>
              <a:t> </a:t>
            </a:r>
            <a:r>
              <a:rPr sz="2400" dirty="0">
                <a:solidFill>
                  <a:srgbClr val="6F2F9F"/>
                </a:solidFill>
                <a:latin typeface="Cambria Math"/>
                <a:cs typeface="Cambria Math"/>
              </a:rPr>
              <a:t>=</a:t>
            </a:r>
            <a:r>
              <a:rPr sz="2400" spc="100" dirty="0">
                <a:solidFill>
                  <a:srgbClr val="6F2F9F"/>
                </a:solidFill>
                <a:latin typeface="Cambria Math"/>
                <a:cs typeface="Cambria Math"/>
              </a:rPr>
              <a:t> </a:t>
            </a:r>
            <a:r>
              <a:rPr sz="2400" spc="-25" dirty="0">
                <a:solidFill>
                  <a:srgbClr val="6F2F9F"/>
                </a:solidFill>
                <a:latin typeface="Cambria Math"/>
                <a:cs typeface="Cambria Math"/>
              </a:rPr>
              <a:t>𝟎</a:t>
            </a:r>
            <a:r>
              <a:rPr sz="2400" b="1" spc="-25" dirty="0">
                <a:solidFill>
                  <a:srgbClr val="6F2F9F"/>
                </a:solidFill>
                <a:latin typeface="Calibri"/>
                <a:cs typeface="Calibri"/>
              </a:rPr>
              <a:t>.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88772" y="104394"/>
            <a:ext cx="1176020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900" marR="5080" indent="-457200">
              <a:lnSpc>
                <a:spcPct val="100000"/>
              </a:lnSpc>
              <a:spcBef>
                <a:spcPts val="100"/>
              </a:spcBef>
              <a:buFont typeface="Wingdings"/>
              <a:buChar char=""/>
              <a:tabLst>
                <a:tab pos="469900" algn="l"/>
              </a:tabLst>
            </a:pP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Example</a:t>
            </a:r>
            <a:r>
              <a:rPr sz="2400" b="1" spc="-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6:</a:t>
            </a:r>
            <a:r>
              <a:rPr sz="2400" b="1" spc="-2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Find</a:t>
            </a:r>
            <a:r>
              <a:rPr sz="2400" b="1" spc="-2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the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Error Syndrome</a:t>
            </a:r>
            <a:r>
              <a:rPr sz="2400" b="1" spc="-1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of</a:t>
            </a:r>
            <a:r>
              <a:rPr sz="2400" b="1" spc="-1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received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codeword</a:t>
            </a:r>
            <a:r>
              <a:rPr sz="2400" b="1" spc="-1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V</a:t>
            </a:r>
            <a:r>
              <a:rPr sz="2400" b="1" spc="-1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=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[1</a:t>
            </a:r>
            <a:r>
              <a:rPr sz="2400" b="1" spc="-1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1</a:t>
            </a:r>
            <a:r>
              <a:rPr sz="2400" b="1" spc="-2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0</a:t>
            </a:r>
            <a:r>
              <a:rPr sz="2400" b="1" spc="-1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1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1</a:t>
            </a:r>
            <a:r>
              <a:rPr sz="2400" b="1" spc="-1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0</a:t>
            </a:r>
            <a:r>
              <a:rPr sz="2400" b="1" spc="-2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1],</a:t>
            </a:r>
            <a:r>
              <a:rPr sz="2400" b="1" spc="-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Also</a:t>
            </a:r>
            <a:r>
              <a:rPr sz="2400" b="1" spc="-1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correct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the</a:t>
            </a:r>
            <a:r>
              <a:rPr sz="2400" b="1" spc="-5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35" dirty="0">
                <a:solidFill>
                  <a:srgbClr val="6F2F9F"/>
                </a:solidFill>
                <a:latin typeface="Calibri"/>
                <a:cs typeface="Calibri"/>
              </a:rPr>
              <a:t>Error.</a:t>
            </a:r>
            <a:r>
              <a:rPr sz="2400" b="1" spc="-8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Here</a:t>
            </a:r>
            <a:r>
              <a:rPr sz="2400" b="1" spc="-6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Parity</a:t>
            </a:r>
            <a:r>
              <a:rPr sz="2400" b="1" spc="-7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Check</a:t>
            </a:r>
            <a:r>
              <a:rPr sz="2400" b="1" spc="-5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Matrix</a:t>
            </a:r>
            <a:r>
              <a:rPr sz="2400" b="1" spc="-6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is</a:t>
            </a:r>
            <a:r>
              <a:rPr sz="2400" b="1" spc="-6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given</a:t>
            </a:r>
            <a:r>
              <a:rPr sz="2400" b="1" spc="-6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25" dirty="0">
                <a:solidFill>
                  <a:srgbClr val="6F2F9F"/>
                </a:solidFill>
                <a:latin typeface="Calibri"/>
                <a:cs typeface="Calibri"/>
              </a:rPr>
              <a:t>by: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213610" y="931036"/>
            <a:ext cx="3281679" cy="904240"/>
          </a:xfrm>
          <a:custGeom>
            <a:avLst/>
            <a:gdLst/>
            <a:ahLst/>
            <a:cxnLst/>
            <a:rect l="l" t="t" r="r" b="b"/>
            <a:pathLst>
              <a:path w="3281679" h="904239">
                <a:moveTo>
                  <a:pt x="80899" y="889000"/>
                </a:moveTo>
                <a:lnTo>
                  <a:pt x="0" y="889000"/>
                </a:lnTo>
                <a:lnTo>
                  <a:pt x="0" y="904240"/>
                </a:lnTo>
                <a:lnTo>
                  <a:pt x="80899" y="904240"/>
                </a:lnTo>
                <a:lnTo>
                  <a:pt x="80899" y="889000"/>
                </a:lnTo>
                <a:close/>
              </a:path>
              <a:path w="3281679" h="904239">
                <a:moveTo>
                  <a:pt x="80899" y="0"/>
                </a:moveTo>
                <a:lnTo>
                  <a:pt x="0" y="0"/>
                </a:lnTo>
                <a:lnTo>
                  <a:pt x="0" y="13970"/>
                </a:lnTo>
                <a:lnTo>
                  <a:pt x="80899" y="13970"/>
                </a:lnTo>
                <a:lnTo>
                  <a:pt x="80899" y="0"/>
                </a:lnTo>
                <a:close/>
              </a:path>
              <a:path w="3281679" h="904239">
                <a:moveTo>
                  <a:pt x="3281553" y="889000"/>
                </a:moveTo>
                <a:lnTo>
                  <a:pt x="3200527" y="889000"/>
                </a:lnTo>
                <a:lnTo>
                  <a:pt x="3200527" y="904240"/>
                </a:lnTo>
                <a:lnTo>
                  <a:pt x="3281553" y="904240"/>
                </a:lnTo>
                <a:lnTo>
                  <a:pt x="3281553" y="889000"/>
                </a:lnTo>
                <a:close/>
              </a:path>
              <a:path w="3281679" h="904239">
                <a:moveTo>
                  <a:pt x="3281553" y="0"/>
                </a:moveTo>
                <a:lnTo>
                  <a:pt x="3200527" y="0"/>
                </a:lnTo>
                <a:lnTo>
                  <a:pt x="3200527" y="13970"/>
                </a:lnTo>
                <a:lnTo>
                  <a:pt x="3200527" y="15240"/>
                </a:lnTo>
                <a:lnTo>
                  <a:pt x="3250819" y="15240"/>
                </a:lnTo>
                <a:lnTo>
                  <a:pt x="3250819" y="13970"/>
                </a:lnTo>
                <a:lnTo>
                  <a:pt x="3281553" y="13970"/>
                </a:lnTo>
                <a:lnTo>
                  <a:pt x="328155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1084122" y="849528"/>
          <a:ext cx="4396103" cy="10979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449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766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70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87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876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876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8704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6639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72390">
                        <a:lnSpc>
                          <a:spcPts val="2655"/>
                        </a:lnSpc>
                      </a:pPr>
                      <a:r>
                        <a:rPr sz="2400" spc="-50" dirty="0">
                          <a:latin typeface="Cambria Math"/>
                          <a:cs typeface="Cambria Math"/>
                        </a:rPr>
                        <a:t>𝟏</a:t>
                      </a:r>
                      <a:endParaRPr sz="2400">
                        <a:latin typeface="Cambria Math"/>
                        <a:cs typeface="Cambria Math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5"/>
                        </a:lnSpc>
                      </a:pPr>
                      <a:r>
                        <a:rPr sz="2400" spc="-50" dirty="0">
                          <a:latin typeface="Cambria Math"/>
                          <a:cs typeface="Cambria Math"/>
                        </a:rPr>
                        <a:t>𝟏</a:t>
                      </a:r>
                      <a:endParaRPr sz="24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5"/>
                        </a:lnSpc>
                      </a:pPr>
                      <a:r>
                        <a:rPr sz="2400" spc="-50" dirty="0">
                          <a:latin typeface="Cambria Math"/>
                          <a:cs typeface="Cambria Math"/>
                        </a:rPr>
                        <a:t>𝟏</a:t>
                      </a:r>
                      <a:endParaRPr sz="24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95"/>
                        </a:lnSpc>
                      </a:pPr>
                      <a:r>
                        <a:rPr sz="2400" spc="-50" dirty="0">
                          <a:latin typeface="Cambria Math"/>
                          <a:cs typeface="Cambria Math"/>
                        </a:rPr>
                        <a:t>𝟎</a:t>
                      </a:r>
                      <a:endParaRPr sz="24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95"/>
                        </a:lnSpc>
                      </a:pPr>
                      <a:r>
                        <a:rPr sz="2400" spc="-50" dirty="0">
                          <a:latin typeface="Cambria Math"/>
                          <a:cs typeface="Cambria Math"/>
                        </a:rPr>
                        <a:t>𝟏</a:t>
                      </a:r>
                      <a:endParaRPr sz="24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15"/>
                        </a:lnSpc>
                      </a:pPr>
                      <a:r>
                        <a:rPr sz="2400" spc="-50" dirty="0">
                          <a:latin typeface="Cambria Math"/>
                          <a:cs typeface="Cambria Math"/>
                        </a:rPr>
                        <a:t>𝟎</a:t>
                      </a:r>
                      <a:endParaRPr sz="24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9375" algn="ctr">
                        <a:lnSpc>
                          <a:spcPts val="2715"/>
                        </a:lnSpc>
                      </a:pPr>
                      <a:r>
                        <a:rPr sz="2400" spc="-50" dirty="0">
                          <a:latin typeface="Cambria Math"/>
                          <a:cs typeface="Cambria Math"/>
                        </a:rPr>
                        <a:t>𝟎</a:t>
                      </a:r>
                      <a:endParaRPr sz="2400">
                        <a:latin typeface="Cambria Math"/>
                        <a:cs typeface="Cambria Math"/>
                      </a:endParaRPr>
                    </a:p>
                  </a:txBody>
                  <a:tcPr marL="0" marR="0" marT="0" marB="0"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680">
                <a:tc>
                  <a:txBody>
                    <a:bodyPr/>
                    <a:lstStyle/>
                    <a:p>
                      <a:pPr marL="31750">
                        <a:lnSpc>
                          <a:spcPts val="2470"/>
                        </a:lnSpc>
                      </a:pPr>
                      <a:r>
                        <a:rPr sz="2400" dirty="0">
                          <a:latin typeface="Cambria Math"/>
                          <a:cs typeface="Cambria Math"/>
                        </a:rPr>
                        <a:t>⟹</a:t>
                      </a:r>
                      <a:r>
                        <a:rPr sz="2400" spc="130" dirty="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2400" dirty="0">
                          <a:latin typeface="Cambria Math"/>
                          <a:cs typeface="Cambria Math"/>
                        </a:rPr>
                        <a:t>𝐇</a:t>
                      </a:r>
                      <a:r>
                        <a:rPr sz="2400" spc="125" dirty="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2400" spc="-60" dirty="0">
                          <a:latin typeface="Cambria Math"/>
                          <a:cs typeface="Cambria Math"/>
                        </a:rPr>
                        <a:t>=</a:t>
                      </a:r>
                      <a:endParaRPr sz="2400">
                        <a:latin typeface="Cambria Math"/>
                        <a:cs typeface="Cambria Math"/>
                      </a:endParaRPr>
                    </a:p>
                  </a:txBody>
                  <a:tcPr marL="0" marR="0" marT="0" marB="0"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72390">
                        <a:lnSpc>
                          <a:spcPts val="2590"/>
                        </a:lnSpc>
                      </a:pPr>
                      <a:r>
                        <a:rPr sz="2400" spc="-50" dirty="0">
                          <a:latin typeface="Cambria Math"/>
                          <a:cs typeface="Cambria Math"/>
                        </a:rPr>
                        <a:t>𝟎</a:t>
                      </a:r>
                      <a:endParaRPr sz="2400">
                        <a:latin typeface="Cambria Math"/>
                        <a:cs typeface="Cambria Math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90"/>
                        </a:lnSpc>
                      </a:pPr>
                      <a:r>
                        <a:rPr sz="2400" spc="-50" dirty="0">
                          <a:latin typeface="Cambria Math"/>
                          <a:cs typeface="Cambria Math"/>
                        </a:rPr>
                        <a:t>𝟏</a:t>
                      </a:r>
                      <a:endParaRPr sz="24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90"/>
                        </a:lnSpc>
                      </a:pPr>
                      <a:r>
                        <a:rPr sz="2400" spc="-50" dirty="0">
                          <a:latin typeface="Cambria Math"/>
                          <a:cs typeface="Cambria Math"/>
                        </a:rPr>
                        <a:t>𝟏</a:t>
                      </a:r>
                      <a:endParaRPr sz="24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30"/>
                        </a:lnSpc>
                      </a:pPr>
                      <a:r>
                        <a:rPr sz="2400" spc="-50" dirty="0">
                          <a:latin typeface="Cambria Math"/>
                          <a:cs typeface="Cambria Math"/>
                        </a:rPr>
                        <a:t>𝟏</a:t>
                      </a:r>
                      <a:endParaRPr sz="24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30"/>
                        </a:lnSpc>
                      </a:pPr>
                      <a:r>
                        <a:rPr sz="2400" spc="-50" dirty="0">
                          <a:latin typeface="Cambria Math"/>
                          <a:cs typeface="Cambria Math"/>
                        </a:rPr>
                        <a:t>𝟎</a:t>
                      </a:r>
                      <a:endParaRPr sz="24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2635"/>
                        </a:lnSpc>
                      </a:pPr>
                      <a:r>
                        <a:rPr sz="2400" spc="-50" dirty="0">
                          <a:latin typeface="Cambria Math"/>
                          <a:cs typeface="Cambria Math"/>
                        </a:rPr>
                        <a:t>𝟏</a:t>
                      </a:r>
                      <a:endParaRPr sz="24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9375" algn="ctr">
                        <a:lnSpc>
                          <a:spcPts val="2635"/>
                        </a:lnSpc>
                      </a:pPr>
                      <a:r>
                        <a:rPr sz="2400" spc="-50" dirty="0">
                          <a:latin typeface="Cambria Math"/>
                          <a:cs typeface="Cambria Math"/>
                        </a:rPr>
                        <a:t>𝟎</a:t>
                      </a:r>
                      <a:endParaRPr sz="2400">
                        <a:latin typeface="Cambria Math"/>
                        <a:cs typeface="Cambria Math"/>
                      </a:endParaRPr>
                    </a:p>
                  </a:txBody>
                  <a:tcPr marL="0" marR="0" marT="0" marB="0"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72390">
                        <a:lnSpc>
                          <a:spcPts val="2560"/>
                        </a:lnSpc>
                      </a:pPr>
                      <a:r>
                        <a:rPr sz="2400" spc="-50" dirty="0">
                          <a:latin typeface="Cambria Math"/>
                          <a:cs typeface="Cambria Math"/>
                        </a:rPr>
                        <a:t>𝟏</a:t>
                      </a:r>
                      <a:endParaRPr sz="2400">
                        <a:latin typeface="Cambria Math"/>
                        <a:cs typeface="Cambria Math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60"/>
                        </a:lnSpc>
                      </a:pPr>
                      <a:r>
                        <a:rPr sz="2400" spc="-50" dirty="0">
                          <a:latin typeface="Cambria Math"/>
                          <a:cs typeface="Cambria Math"/>
                        </a:rPr>
                        <a:t>𝟏</a:t>
                      </a:r>
                      <a:endParaRPr sz="24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60"/>
                        </a:lnSpc>
                      </a:pPr>
                      <a:r>
                        <a:rPr sz="2400" spc="-50" dirty="0">
                          <a:latin typeface="Cambria Math"/>
                          <a:cs typeface="Cambria Math"/>
                        </a:rPr>
                        <a:t>𝟎</a:t>
                      </a:r>
                      <a:endParaRPr sz="24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00"/>
                        </a:lnSpc>
                      </a:pPr>
                      <a:r>
                        <a:rPr sz="2400" spc="-50" dirty="0">
                          <a:latin typeface="Cambria Math"/>
                          <a:cs typeface="Cambria Math"/>
                        </a:rPr>
                        <a:t>𝟏</a:t>
                      </a:r>
                      <a:endParaRPr sz="24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00"/>
                        </a:lnSpc>
                      </a:pPr>
                      <a:r>
                        <a:rPr sz="2400" spc="-50" dirty="0">
                          <a:latin typeface="Cambria Math"/>
                          <a:cs typeface="Cambria Math"/>
                        </a:rPr>
                        <a:t>𝟎</a:t>
                      </a:r>
                      <a:endParaRPr sz="24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20"/>
                        </a:lnSpc>
                      </a:pPr>
                      <a:r>
                        <a:rPr sz="2400" spc="-50" dirty="0">
                          <a:latin typeface="Cambria Math"/>
                          <a:cs typeface="Cambria Math"/>
                        </a:rPr>
                        <a:t>𝟎</a:t>
                      </a:r>
                      <a:endParaRPr sz="24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9375" algn="ctr">
                        <a:lnSpc>
                          <a:spcPts val="2620"/>
                        </a:lnSpc>
                      </a:pPr>
                      <a:r>
                        <a:rPr sz="2400" spc="-50" dirty="0">
                          <a:latin typeface="Cambria Math"/>
                          <a:cs typeface="Cambria Math"/>
                        </a:rPr>
                        <a:t>𝟏</a:t>
                      </a:r>
                      <a:endParaRPr sz="2400">
                        <a:latin typeface="Cambria Math"/>
                        <a:cs typeface="Cambria Math"/>
                      </a:endParaRPr>
                    </a:p>
                  </a:txBody>
                  <a:tcPr marL="0" marR="0" marT="0" marB="0"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88772" y="104394"/>
            <a:ext cx="1175575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900" marR="5080" indent="-457200">
              <a:lnSpc>
                <a:spcPct val="100000"/>
              </a:lnSpc>
              <a:spcBef>
                <a:spcPts val="100"/>
              </a:spcBef>
              <a:buFont typeface="Wingdings"/>
              <a:buChar char=""/>
              <a:tabLst>
                <a:tab pos="469900" algn="l"/>
              </a:tabLst>
            </a:pP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Example</a:t>
            </a:r>
            <a:r>
              <a:rPr sz="2400" b="1" spc="2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7:</a:t>
            </a:r>
            <a:r>
              <a:rPr sz="2400" b="1" spc="1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If</a:t>
            </a:r>
            <a:r>
              <a:rPr sz="2400" b="1" spc="2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the</a:t>
            </a:r>
            <a:r>
              <a:rPr sz="2400" b="1" spc="2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minimum</a:t>
            </a:r>
            <a:r>
              <a:rPr sz="2400" b="1" spc="3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hamming</a:t>
            </a:r>
            <a:r>
              <a:rPr sz="2400" b="1" spc="2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distance</a:t>
            </a:r>
            <a:r>
              <a:rPr sz="2400" b="1" spc="3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of</a:t>
            </a:r>
            <a:r>
              <a:rPr sz="2400" b="1" spc="2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a</a:t>
            </a:r>
            <a:r>
              <a:rPr sz="2400" b="1" spc="2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linear</a:t>
            </a:r>
            <a:r>
              <a:rPr sz="2400" b="1" spc="2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block</a:t>
            </a:r>
            <a:r>
              <a:rPr sz="2400" b="1" spc="1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code</a:t>
            </a:r>
            <a:r>
              <a:rPr sz="2400" b="1" spc="2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is</a:t>
            </a:r>
            <a:r>
              <a:rPr sz="2400" b="1" spc="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3.</a:t>
            </a:r>
            <a:r>
              <a:rPr sz="2400" b="1" spc="1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Find</a:t>
            </a:r>
            <a:r>
              <a:rPr sz="2400" b="1" spc="1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Code</a:t>
            </a:r>
            <a:r>
              <a:rPr sz="2400" b="1" spc="2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error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detection</a:t>
            </a:r>
            <a:r>
              <a:rPr sz="2400" b="1" spc="-6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and</a:t>
            </a:r>
            <a:r>
              <a:rPr sz="2400" b="1" spc="-7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error</a:t>
            </a:r>
            <a:r>
              <a:rPr sz="2400" b="1" spc="-9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correction</a:t>
            </a:r>
            <a:r>
              <a:rPr sz="2400" b="1" spc="-8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capability.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0F83966-9A48-4ECC-8B17-CFD89F4085F6}"/>
              </a:ext>
            </a:extLst>
          </p:cNvPr>
          <p:cNvCxnSpPr/>
          <p:nvPr/>
        </p:nvCxnSpPr>
        <p:spPr>
          <a:xfrm>
            <a:off x="4572000" y="2895600"/>
            <a:ext cx="0" cy="60960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ED799F4-6166-426C-B76A-A213CBBCDC55}"/>
              </a:ext>
            </a:extLst>
          </p:cNvPr>
          <p:cNvCxnSpPr/>
          <p:nvPr/>
        </p:nvCxnSpPr>
        <p:spPr>
          <a:xfrm>
            <a:off x="6324600" y="2819400"/>
            <a:ext cx="0" cy="68580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3A93BB8C-A146-4446-8D99-97AED4E9D344}"/>
              </a:ext>
            </a:extLst>
          </p:cNvPr>
          <p:cNvCxnSpPr/>
          <p:nvPr/>
        </p:nvCxnSpPr>
        <p:spPr>
          <a:xfrm flipH="1">
            <a:off x="4572000" y="3505200"/>
            <a:ext cx="152400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B3B3880-87D4-4056-8C51-71144CD7690C}"/>
              </a:ext>
            </a:extLst>
          </p:cNvPr>
          <p:cNvCxnSpPr/>
          <p:nvPr/>
        </p:nvCxnSpPr>
        <p:spPr>
          <a:xfrm flipH="1">
            <a:off x="6172200" y="3505200"/>
            <a:ext cx="152400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3753" y="29413"/>
            <a:ext cx="11670030" cy="940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0" u="none" spc="-135" dirty="0">
                <a:solidFill>
                  <a:srgbClr val="006600"/>
                </a:solidFill>
                <a:latin typeface="Arial"/>
                <a:cs typeface="Arial"/>
              </a:rPr>
              <a:t>Linear</a:t>
            </a:r>
            <a:r>
              <a:rPr sz="6000" u="none" spc="-240" dirty="0">
                <a:solidFill>
                  <a:srgbClr val="006600"/>
                </a:solidFill>
                <a:latin typeface="Arial"/>
                <a:cs typeface="Arial"/>
              </a:rPr>
              <a:t> </a:t>
            </a:r>
            <a:r>
              <a:rPr sz="6000" u="none" spc="-345" dirty="0">
                <a:solidFill>
                  <a:srgbClr val="006600"/>
                </a:solidFill>
                <a:latin typeface="Arial"/>
                <a:cs typeface="Arial"/>
              </a:rPr>
              <a:t>Block</a:t>
            </a:r>
            <a:r>
              <a:rPr sz="6000" u="none" spc="-170" dirty="0">
                <a:solidFill>
                  <a:srgbClr val="006600"/>
                </a:solidFill>
                <a:latin typeface="Arial"/>
                <a:cs typeface="Arial"/>
              </a:rPr>
              <a:t> </a:t>
            </a:r>
            <a:r>
              <a:rPr sz="6000" u="none" spc="-415" dirty="0">
                <a:solidFill>
                  <a:srgbClr val="006600"/>
                </a:solidFill>
                <a:latin typeface="Arial"/>
                <a:cs typeface="Arial"/>
              </a:rPr>
              <a:t>Code</a:t>
            </a:r>
            <a:r>
              <a:rPr sz="6000" u="none" spc="-170" dirty="0">
                <a:solidFill>
                  <a:srgbClr val="006600"/>
                </a:solidFill>
                <a:latin typeface="Arial"/>
                <a:cs typeface="Arial"/>
              </a:rPr>
              <a:t> </a:t>
            </a:r>
            <a:r>
              <a:rPr sz="6000" u="none" spc="-459" dirty="0">
                <a:solidFill>
                  <a:srgbClr val="006600"/>
                </a:solidFill>
                <a:latin typeface="Arial"/>
                <a:cs typeface="Arial"/>
              </a:rPr>
              <a:t>Solved</a:t>
            </a:r>
            <a:r>
              <a:rPr sz="6000" u="none" spc="-170" dirty="0">
                <a:solidFill>
                  <a:srgbClr val="006600"/>
                </a:solidFill>
                <a:latin typeface="Arial"/>
                <a:cs typeface="Arial"/>
              </a:rPr>
              <a:t> </a:t>
            </a:r>
            <a:r>
              <a:rPr sz="6000" u="none" spc="-135" dirty="0">
                <a:solidFill>
                  <a:srgbClr val="006600"/>
                </a:solidFill>
                <a:latin typeface="Arial"/>
                <a:cs typeface="Arial"/>
              </a:rPr>
              <a:t>Example</a:t>
            </a:r>
            <a:endParaRPr sz="60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88772" y="884301"/>
            <a:ext cx="11753850" cy="33185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900" marR="5080" indent="-457200">
              <a:lnSpc>
                <a:spcPct val="100000"/>
              </a:lnSpc>
              <a:spcBef>
                <a:spcPts val="100"/>
              </a:spcBef>
              <a:buFont typeface="Wingdings"/>
              <a:buChar char=""/>
              <a:tabLst>
                <a:tab pos="469900" algn="l"/>
              </a:tabLst>
            </a:pP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Example</a:t>
            </a:r>
            <a:r>
              <a:rPr sz="2400" b="1" spc="-2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8:</a:t>
            </a:r>
            <a:r>
              <a:rPr sz="2400" b="1" spc="-3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For</a:t>
            </a:r>
            <a:r>
              <a:rPr sz="2400" b="1" spc="-2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a</a:t>
            </a:r>
            <a:r>
              <a:rPr sz="2400" b="1" spc="-2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(6,</a:t>
            </a:r>
            <a:r>
              <a:rPr sz="2400" b="1" spc="-2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3)</a:t>
            </a:r>
            <a:r>
              <a:rPr sz="2400" b="1" spc="-3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Systematic</a:t>
            </a:r>
            <a:r>
              <a:rPr sz="2400" b="1" spc="-2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Linear</a:t>
            </a:r>
            <a:r>
              <a:rPr sz="2400" b="1" spc="-2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Block</a:t>
            </a:r>
            <a:r>
              <a:rPr sz="2400" b="1" spc="-3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code,</a:t>
            </a:r>
            <a:r>
              <a:rPr sz="2400" b="1" spc="-1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the</a:t>
            </a:r>
            <a:r>
              <a:rPr sz="2400" b="1" spc="-2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three</a:t>
            </a:r>
            <a:r>
              <a:rPr sz="2400" b="1" spc="-1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parity</a:t>
            </a:r>
            <a:r>
              <a:rPr sz="2400" b="1" spc="-3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check</a:t>
            </a:r>
            <a:r>
              <a:rPr sz="2400" b="1" spc="-2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digits</a:t>
            </a:r>
            <a:r>
              <a:rPr sz="2400" b="1" spc="-2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are</a:t>
            </a:r>
            <a:r>
              <a:rPr sz="2400" b="1" spc="-2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C</a:t>
            </a:r>
            <a:r>
              <a:rPr sz="1800" b="1" dirty="0">
                <a:solidFill>
                  <a:srgbClr val="6F2F9F"/>
                </a:solidFill>
                <a:latin typeface="Calibri"/>
                <a:cs typeface="Calibri"/>
              </a:rPr>
              <a:t>4</a:t>
            </a:r>
            <a:r>
              <a:rPr sz="1800" b="1" spc="11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50" dirty="0">
                <a:solidFill>
                  <a:srgbClr val="6F2F9F"/>
                </a:solidFill>
                <a:latin typeface="Calibri"/>
                <a:cs typeface="Calibri"/>
              </a:rPr>
              <a:t>=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d</a:t>
            </a:r>
            <a:r>
              <a:rPr sz="1800" b="1" dirty="0">
                <a:solidFill>
                  <a:srgbClr val="6F2F9F"/>
                </a:solidFill>
                <a:latin typeface="Calibri"/>
                <a:cs typeface="Calibri"/>
              </a:rPr>
              <a:t>1</a:t>
            </a:r>
            <a:r>
              <a:rPr sz="1800" b="1" spc="114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+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d</a:t>
            </a:r>
            <a:r>
              <a:rPr sz="1800" b="1" dirty="0">
                <a:solidFill>
                  <a:srgbClr val="6F2F9F"/>
                </a:solidFill>
                <a:latin typeface="Calibri"/>
                <a:cs typeface="Calibri"/>
              </a:rPr>
              <a:t>2</a:t>
            </a:r>
            <a:r>
              <a:rPr sz="1800" b="1" spc="114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+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d</a:t>
            </a:r>
            <a:r>
              <a:rPr sz="1800" b="1" dirty="0">
                <a:solidFill>
                  <a:srgbClr val="6F2F9F"/>
                </a:solidFill>
                <a:latin typeface="Calibri"/>
                <a:cs typeface="Calibri"/>
              </a:rPr>
              <a:t>3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,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C</a:t>
            </a:r>
            <a:r>
              <a:rPr sz="1800" b="1" dirty="0">
                <a:solidFill>
                  <a:srgbClr val="6F2F9F"/>
                </a:solidFill>
                <a:latin typeface="Calibri"/>
                <a:cs typeface="Calibri"/>
              </a:rPr>
              <a:t>5</a:t>
            </a:r>
            <a:r>
              <a:rPr sz="1800" b="1" spc="114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=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d</a:t>
            </a:r>
            <a:r>
              <a:rPr sz="1800" b="1" dirty="0">
                <a:solidFill>
                  <a:srgbClr val="6F2F9F"/>
                </a:solidFill>
                <a:latin typeface="Calibri"/>
                <a:cs typeface="Calibri"/>
              </a:rPr>
              <a:t>1</a:t>
            </a:r>
            <a:r>
              <a:rPr sz="1800" b="1" spc="12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+</a:t>
            </a:r>
            <a:r>
              <a:rPr sz="2400" b="1" spc="-1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d</a:t>
            </a:r>
            <a:r>
              <a:rPr sz="1800" b="1" dirty="0">
                <a:solidFill>
                  <a:srgbClr val="6F2F9F"/>
                </a:solidFill>
                <a:latin typeface="Calibri"/>
                <a:cs typeface="Calibri"/>
              </a:rPr>
              <a:t>2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,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and</a:t>
            </a:r>
            <a:r>
              <a:rPr sz="2400" b="1" spc="-2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C</a:t>
            </a:r>
            <a:r>
              <a:rPr sz="1800" b="1" dirty="0">
                <a:solidFill>
                  <a:srgbClr val="6F2F9F"/>
                </a:solidFill>
                <a:latin typeface="Calibri"/>
                <a:cs typeface="Calibri"/>
              </a:rPr>
              <a:t>6</a:t>
            </a:r>
            <a:r>
              <a:rPr sz="1800" b="1" spc="12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=</a:t>
            </a:r>
            <a:r>
              <a:rPr sz="2400" b="1" spc="-1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d</a:t>
            </a:r>
            <a:r>
              <a:rPr sz="1800" b="1" dirty="0">
                <a:solidFill>
                  <a:srgbClr val="6F2F9F"/>
                </a:solidFill>
                <a:latin typeface="Calibri"/>
                <a:cs typeface="Calibri"/>
              </a:rPr>
              <a:t>1</a:t>
            </a:r>
            <a:r>
              <a:rPr sz="1800" b="1" spc="12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+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25" dirty="0">
                <a:solidFill>
                  <a:srgbClr val="6F2F9F"/>
                </a:solidFill>
                <a:latin typeface="Calibri"/>
                <a:cs typeface="Calibri"/>
              </a:rPr>
              <a:t>d</a:t>
            </a:r>
            <a:r>
              <a:rPr sz="1800" b="1" spc="-25" dirty="0">
                <a:solidFill>
                  <a:srgbClr val="6F2F9F"/>
                </a:solidFill>
                <a:latin typeface="Calibri"/>
                <a:cs typeface="Calibri"/>
              </a:rPr>
              <a:t>3</a:t>
            </a:r>
            <a:endParaRPr sz="1800">
              <a:latin typeface="Calibri"/>
              <a:cs typeface="Calibri"/>
            </a:endParaRPr>
          </a:p>
          <a:p>
            <a:pPr marL="469265" indent="-456565">
              <a:lnSpc>
                <a:spcPct val="100000"/>
              </a:lnSpc>
              <a:buFont typeface="Wingdings"/>
              <a:buChar char=""/>
              <a:tabLst>
                <a:tab pos="469265" algn="l"/>
              </a:tabLst>
            </a:pP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Find,</a:t>
            </a:r>
            <a:endParaRPr sz="2400">
              <a:latin typeface="Calibri"/>
              <a:cs typeface="Calibri"/>
            </a:endParaRPr>
          </a:p>
          <a:p>
            <a:pPr marL="984885" lvl="1" indent="-514984">
              <a:lnSpc>
                <a:spcPct val="100000"/>
              </a:lnSpc>
              <a:buAutoNum type="romanUcPeriod"/>
              <a:tabLst>
                <a:tab pos="984885" algn="l"/>
              </a:tabLst>
            </a:pP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All</a:t>
            </a:r>
            <a:r>
              <a:rPr sz="2400" b="1" spc="-7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Corresponding</a:t>
            </a:r>
            <a:r>
              <a:rPr sz="2400" b="1" spc="-7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Code</a:t>
            </a:r>
            <a:r>
              <a:rPr sz="2400" b="1" spc="-7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006FC0"/>
                </a:solidFill>
                <a:latin typeface="Calibri"/>
                <a:cs typeface="Calibri"/>
              </a:rPr>
              <a:t>Vectors</a:t>
            </a:r>
            <a:endParaRPr sz="2400">
              <a:latin typeface="Calibri"/>
              <a:cs typeface="Calibri"/>
            </a:endParaRPr>
          </a:p>
          <a:p>
            <a:pPr marL="984885" lvl="1" indent="-514984">
              <a:lnSpc>
                <a:spcPct val="100000"/>
              </a:lnSpc>
              <a:buAutoNum type="romanUcPeriod"/>
              <a:tabLst>
                <a:tab pos="984885" algn="l"/>
              </a:tabLst>
            </a:pP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Minimum</a:t>
            </a:r>
            <a:r>
              <a:rPr sz="2400" b="1" spc="-3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Hamming</a:t>
            </a:r>
            <a:r>
              <a:rPr sz="2400" b="1" spc="-3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006FC0"/>
                </a:solidFill>
                <a:latin typeface="Calibri"/>
                <a:cs typeface="Calibri"/>
              </a:rPr>
              <a:t>Distance</a:t>
            </a:r>
            <a:endParaRPr sz="2400">
              <a:latin typeface="Calibri"/>
              <a:cs typeface="Calibri"/>
            </a:endParaRPr>
          </a:p>
          <a:p>
            <a:pPr marL="984885" lvl="1" indent="-514984">
              <a:lnSpc>
                <a:spcPct val="100000"/>
              </a:lnSpc>
              <a:buAutoNum type="romanUcPeriod"/>
              <a:tabLst>
                <a:tab pos="984885" algn="l"/>
              </a:tabLst>
            </a:pP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Error</a:t>
            </a:r>
            <a:r>
              <a:rPr sz="2400" b="1" spc="-8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Detection</a:t>
            </a:r>
            <a:r>
              <a:rPr sz="2400" b="1" spc="-5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and</a:t>
            </a:r>
            <a:r>
              <a:rPr sz="2400" b="1" spc="-7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Error</a:t>
            </a:r>
            <a:r>
              <a:rPr sz="2400" b="1" spc="-7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Correction</a:t>
            </a:r>
            <a:r>
              <a:rPr sz="2400" b="1" spc="-7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006FC0"/>
                </a:solidFill>
                <a:latin typeface="Calibri"/>
                <a:cs typeface="Calibri"/>
              </a:rPr>
              <a:t>Capability</a:t>
            </a:r>
            <a:endParaRPr sz="2400">
              <a:latin typeface="Calibri"/>
              <a:cs typeface="Calibri"/>
            </a:endParaRPr>
          </a:p>
          <a:p>
            <a:pPr marL="984885" lvl="1" indent="-514984">
              <a:lnSpc>
                <a:spcPct val="100000"/>
              </a:lnSpc>
              <a:spcBef>
                <a:spcPts val="5"/>
              </a:spcBef>
              <a:buAutoNum type="romanUcPeriod"/>
              <a:tabLst>
                <a:tab pos="984885" algn="l"/>
              </a:tabLst>
            </a:pPr>
            <a:r>
              <a:rPr sz="2400" b="1" spc="-10" dirty="0">
                <a:solidFill>
                  <a:srgbClr val="006FC0"/>
                </a:solidFill>
                <a:latin typeface="Calibri"/>
                <a:cs typeface="Calibri"/>
              </a:rPr>
              <a:t>Generator</a:t>
            </a:r>
            <a:r>
              <a:rPr sz="2400" b="1" spc="-10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006FC0"/>
                </a:solidFill>
                <a:latin typeface="Calibri"/>
                <a:cs typeface="Calibri"/>
              </a:rPr>
              <a:t>Matrix</a:t>
            </a:r>
            <a:endParaRPr sz="2400">
              <a:latin typeface="Calibri"/>
              <a:cs typeface="Calibri"/>
            </a:endParaRPr>
          </a:p>
          <a:p>
            <a:pPr marL="984885" lvl="1" indent="-514984">
              <a:lnSpc>
                <a:spcPct val="100000"/>
              </a:lnSpc>
              <a:buAutoNum type="romanUcPeriod"/>
              <a:tabLst>
                <a:tab pos="984885" algn="l"/>
              </a:tabLst>
            </a:pP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Parity</a:t>
            </a:r>
            <a:r>
              <a:rPr sz="2400" b="1" spc="-9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Check</a:t>
            </a:r>
            <a:r>
              <a:rPr sz="2400" b="1" spc="-8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006FC0"/>
                </a:solidFill>
                <a:latin typeface="Calibri"/>
                <a:cs typeface="Calibri"/>
              </a:rPr>
              <a:t>Matrix</a:t>
            </a:r>
            <a:endParaRPr sz="2400">
              <a:latin typeface="Calibri"/>
              <a:cs typeface="Calibri"/>
            </a:endParaRPr>
          </a:p>
          <a:p>
            <a:pPr marL="984885" lvl="1" indent="-514984">
              <a:lnSpc>
                <a:spcPct val="100000"/>
              </a:lnSpc>
              <a:buAutoNum type="romanUcPeriod"/>
              <a:tabLst>
                <a:tab pos="984885" algn="l"/>
              </a:tabLst>
            </a:pP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Find</a:t>
            </a:r>
            <a:r>
              <a:rPr sz="2400" b="1" spc="-3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error</a:t>
            </a:r>
            <a:r>
              <a:rPr sz="2400" b="1" spc="-4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if</a:t>
            </a:r>
            <a:r>
              <a:rPr sz="2400" b="1" spc="-2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received</a:t>
            </a:r>
            <a:r>
              <a:rPr sz="2400" b="1" spc="-3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code</a:t>
            </a:r>
            <a:r>
              <a:rPr sz="2400" b="1" spc="-3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is</a:t>
            </a:r>
            <a:r>
              <a:rPr sz="2400" b="1" spc="-2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[1</a:t>
            </a:r>
            <a:r>
              <a:rPr sz="2400" b="1" spc="-3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0</a:t>
            </a:r>
            <a:r>
              <a:rPr sz="2400" b="1" spc="-4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1</a:t>
            </a:r>
            <a:r>
              <a:rPr sz="2400" b="1" spc="-3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1</a:t>
            </a:r>
            <a:r>
              <a:rPr sz="2400" b="1" spc="-3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0</a:t>
            </a:r>
            <a:r>
              <a:rPr sz="2400" b="1" spc="-25" dirty="0">
                <a:solidFill>
                  <a:srgbClr val="006FC0"/>
                </a:solidFill>
                <a:latin typeface="Calibri"/>
                <a:cs typeface="Calibri"/>
              </a:rPr>
              <a:t> 0]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1385</TotalTime>
  <Words>1205</Words>
  <Application>Microsoft Office PowerPoint</Application>
  <PresentationFormat>Widescreen</PresentationFormat>
  <Paragraphs>363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8" baseType="lpstr">
      <vt:lpstr>Arial</vt:lpstr>
      <vt:lpstr>Arial Narrow</vt:lpstr>
      <vt:lpstr>Calibri</vt:lpstr>
      <vt:lpstr>Cambria Math</vt:lpstr>
      <vt:lpstr>Times New Roman</vt:lpstr>
      <vt:lpstr>Wingdings</vt:lpstr>
      <vt:lpstr>Office Theme</vt:lpstr>
      <vt:lpstr>Linear Block Code</vt:lpstr>
      <vt:lpstr>Linear Block Code</vt:lpstr>
      <vt:lpstr>Checking whether Hamming Code is a Linear Block Code</vt:lpstr>
      <vt:lpstr>Example of Linear Block Code</vt:lpstr>
      <vt:lpstr>Linear Block Code Solved Example</vt:lpstr>
      <vt:lpstr>PowerPoint Presentation</vt:lpstr>
      <vt:lpstr>PowerPoint Presentation</vt:lpstr>
      <vt:lpstr>Linear Block Code Solved Examples</vt:lpstr>
      <vt:lpstr>PowerPoint Presentation</vt:lpstr>
      <vt:lpstr>PowerPoint Presentation</vt:lpstr>
      <vt:lpstr>PowerPoint Presentation</vt:lpstr>
      <vt:lpstr>Conversion of Systematic Generator Matrix</vt:lpstr>
      <vt:lpstr>Conversion of Systematic Generator Matrix</vt:lpstr>
      <vt:lpstr>Linear Block Code Solved Examples</vt:lpstr>
      <vt:lpstr>PowerPoint Presentation</vt:lpstr>
      <vt:lpstr>PowerPoint Presentation</vt:lpstr>
      <vt:lpstr>PowerPoint Presentation</vt:lpstr>
      <vt:lpstr>Linear Block Code Solved Example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Block Code</dc:title>
  <cp:lastModifiedBy>Rifat Rahman</cp:lastModifiedBy>
  <cp:revision>22</cp:revision>
  <dcterms:created xsi:type="dcterms:W3CDTF">2026-02-16T15:48:50Z</dcterms:created>
  <dcterms:modified xsi:type="dcterms:W3CDTF">2026-02-26T13:22:15Z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2026-02-16T00:00:00Z</vt:filetime>
  </property>
  <property fmtid="{D5CDD505-2E9C-101B-9397-08002B2CF9AE}" pid="3" name="LastSaved">
    <vt:filetime>2026-02-16T00:00:00Z</vt:filetime>
  </property>
  <property fmtid="{D5CDD505-2E9C-101B-9397-08002B2CF9AE}" pid="4" name="Producer">
    <vt:lpwstr>3-Heights™ PDF Merge Split Shell 6.12.1.11 (http://www.pdf-tools.com)</vt:lpwstr>
  </property>
</Properties>
</file>