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26" r:id="rId2"/>
    <p:sldId id="318" r:id="rId3"/>
    <p:sldId id="328" r:id="rId4"/>
    <p:sldId id="319" r:id="rId5"/>
    <p:sldId id="320" r:id="rId6"/>
    <p:sldId id="321" r:id="rId7"/>
    <p:sldId id="322" r:id="rId8"/>
    <p:sldId id="323" r:id="rId9"/>
    <p:sldId id="324" r:id="rId10"/>
    <p:sldId id="32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98221" y="48260"/>
            <a:ext cx="11800205" cy="7264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4142" y="49530"/>
            <a:ext cx="11843715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sng">
                <a:solidFill>
                  <a:srgbClr val="843B0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6639" y="1157605"/>
            <a:ext cx="11905919" cy="41151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rrahman007.buet.ac.bd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.png"/><Relationship Id="rId18" Type="http://schemas.openxmlformats.org/officeDocument/2006/relationships/image" Target="../media/image29.png"/><Relationship Id="rId26" Type="http://schemas.openxmlformats.org/officeDocument/2006/relationships/image" Target="../media/image37.png"/><Relationship Id="rId39" Type="http://schemas.openxmlformats.org/officeDocument/2006/relationships/image" Target="../media/image50.png"/><Relationship Id="rId21" Type="http://schemas.openxmlformats.org/officeDocument/2006/relationships/image" Target="../media/image32.png"/><Relationship Id="rId34" Type="http://schemas.openxmlformats.org/officeDocument/2006/relationships/image" Target="../media/image45.png"/><Relationship Id="rId42" Type="http://schemas.openxmlformats.org/officeDocument/2006/relationships/image" Target="../media/image53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29" Type="http://schemas.openxmlformats.org/officeDocument/2006/relationships/image" Target="../media/image40.png"/><Relationship Id="rId41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24" Type="http://schemas.openxmlformats.org/officeDocument/2006/relationships/image" Target="../media/image35.png"/><Relationship Id="rId32" Type="http://schemas.openxmlformats.org/officeDocument/2006/relationships/image" Target="../media/image43.png"/><Relationship Id="rId37" Type="http://schemas.openxmlformats.org/officeDocument/2006/relationships/image" Target="../media/image48.png"/><Relationship Id="rId40" Type="http://schemas.openxmlformats.org/officeDocument/2006/relationships/image" Target="../media/image51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23" Type="http://schemas.openxmlformats.org/officeDocument/2006/relationships/image" Target="../media/image34.png"/><Relationship Id="rId28" Type="http://schemas.openxmlformats.org/officeDocument/2006/relationships/image" Target="../media/image39.png"/><Relationship Id="rId36" Type="http://schemas.openxmlformats.org/officeDocument/2006/relationships/image" Target="../media/image47.png"/><Relationship Id="rId10" Type="http://schemas.openxmlformats.org/officeDocument/2006/relationships/image" Target="../media/image21.png"/><Relationship Id="rId19" Type="http://schemas.openxmlformats.org/officeDocument/2006/relationships/image" Target="../media/image30.png"/><Relationship Id="rId31" Type="http://schemas.openxmlformats.org/officeDocument/2006/relationships/image" Target="../media/image42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Relationship Id="rId22" Type="http://schemas.openxmlformats.org/officeDocument/2006/relationships/image" Target="../media/image33.png"/><Relationship Id="rId27" Type="http://schemas.openxmlformats.org/officeDocument/2006/relationships/image" Target="../media/image38.png"/><Relationship Id="rId30" Type="http://schemas.openxmlformats.org/officeDocument/2006/relationships/image" Target="../media/image41.png"/><Relationship Id="rId35" Type="http://schemas.openxmlformats.org/officeDocument/2006/relationships/image" Target="../media/image46.png"/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12" Type="http://schemas.openxmlformats.org/officeDocument/2006/relationships/image" Target="../media/image23.png"/><Relationship Id="rId17" Type="http://schemas.openxmlformats.org/officeDocument/2006/relationships/image" Target="../media/image28.png"/><Relationship Id="rId25" Type="http://schemas.openxmlformats.org/officeDocument/2006/relationships/image" Target="../media/image36.png"/><Relationship Id="rId33" Type="http://schemas.openxmlformats.org/officeDocument/2006/relationships/image" Target="../media/image44.png"/><Relationship Id="rId38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18" Type="http://schemas.openxmlformats.org/officeDocument/2006/relationships/image" Target="../media/image69.png"/><Relationship Id="rId26" Type="http://schemas.openxmlformats.org/officeDocument/2006/relationships/image" Target="../media/image77.png"/><Relationship Id="rId3" Type="http://schemas.openxmlformats.org/officeDocument/2006/relationships/image" Target="../media/image55.png"/><Relationship Id="rId21" Type="http://schemas.openxmlformats.org/officeDocument/2006/relationships/image" Target="../media/image72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17" Type="http://schemas.openxmlformats.org/officeDocument/2006/relationships/image" Target="../media/image68.png"/><Relationship Id="rId25" Type="http://schemas.openxmlformats.org/officeDocument/2006/relationships/image" Target="../media/image76.png"/><Relationship Id="rId2" Type="http://schemas.openxmlformats.org/officeDocument/2006/relationships/image" Target="../media/image54.png"/><Relationship Id="rId16" Type="http://schemas.openxmlformats.org/officeDocument/2006/relationships/image" Target="../media/image67.png"/><Relationship Id="rId20" Type="http://schemas.openxmlformats.org/officeDocument/2006/relationships/image" Target="../media/image7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24" Type="http://schemas.openxmlformats.org/officeDocument/2006/relationships/image" Target="../media/image75.png"/><Relationship Id="rId5" Type="http://schemas.openxmlformats.org/officeDocument/2006/relationships/image" Target="../media/image57.png"/><Relationship Id="rId15" Type="http://schemas.openxmlformats.org/officeDocument/2006/relationships/image" Target="../media/image29.png"/><Relationship Id="rId23" Type="http://schemas.openxmlformats.org/officeDocument/2006/relationships/image" Target="../media/image74.png"/><Relationship Id="rId28" Type="http://schemas.openxmlformats.org/officeDocument/2006/relationships/image" Target="../media/image79.png"/><Relationship Id="rId10" Type="http://schemas.openxmlformats.org/officeDocument/2006/relationships/image" Target="../media/image62.png"/><Relationship Id="rId19" Type="http://schemas.openxmlformats.org/officeDocument/2006/relationships/image" Target="../media/image70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Relationship Id="rId22" Type="http://schemas.openxmlformats.org/officeDocument/2006/relationships/image" Target="../media/image73.png"/><Relationship Id="rId27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221" y="1559560"/>
            <a:ext cx="11800205" cy="1354217"/>
          </a:xfrm>
        </p:spPr>
        <p:txBody>
          <a:bodyPr/>
          <a:lstStyle/>
          <a:p>
            <a:pPr algn="ctr"/>
            <a:r>
              <a:rPr lang="en-US" sz="4400" u="none" dirty="0"/>
              <a:t>Convolutional Codes</a:t>
            </a:r>
            <a:br>
              <a:rPr lang="en-US" sz="4400" u="none" dirty="0"/>
            </a:br>
            <a:r>
              <a:rPr lang="en-US" sz="4400" u="none" dirty="0"/>
              <a:t>&amp; Viterbi Algorithm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"/>
          </p:nvPr>
        </p:nvSpPr>
        <p:spPr>
          <a:xfrm>
            <a:off x="1828800" y="3352800"/>
            <a:ext cx="8534400" cy="2215991"/>
          </a:xfrm>
        </p:spPr>
        <p:txBody>
          <a:bodyPr/>
          <a:lstStyle/>
          <a:p>
            <a:pPr algn="ctr"/>
            <a:r>
              <a:rPr lang="en-US" dirty="0"/>
              <a:t>Prepared by</a:t>
            </a:r>
          </a:p>
          <a:p>
            <a:pPr algn="ctr"/>
            <a:r>
              <a:rPr lang="en-US" dirty="0"/>
              <a:t>Prof. Hitesh </a:t>
            </a:r>
            <a:r>
              <a:rPr lang="en-US" dirty="0" err="1"/>
              <a:t>Dholakiya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/>
              <a:t>Modified by</a:t>
            </a:r>
          </a:p>
          <a:p>
            <a:pPr algn="ctr"/>
            <a:r>
              <a:rPr lang="en-US" dirty="0" err="1"/>
              <a:t>Rifat</a:t>
            </a:r>
            <a:r>
              <a:rPr lang="en-US" dirty="0"/>
              <a:t> </a:t>
            </a:r>
            <a:r>
              <a:rPr lang="en-US" dirty="0" err="1"/>
              <a:t>Rahman</a:t>
            </a:r>
            <a:endParaRPr lang="en-US" dirty="0"/>
          </a:p>
          <a:p>
            <a:pPr algn="ctr"/>
            <a:r>
              <a:rPr lang="en-US" dirty="0"/>
              <a:t>Assistant Professor</a:t>
            </a:r>
          </a:p>
          <a:p>
            <a:pPr algn="ctr"/>
            <a:r>
              <a:rPr lang="en-US" dirty="0"/>
              <a:t>Institute of Appropriate Technology, BUET</a:t>
            </a:r>
          </a:p>
          <a:p>
            <a:pPr algn="ctr"/>
            <a:r>
              <a:rPr lang="en-US" dirty="0">
                <a:hlinkClick r:id="rId2"/>
              </a:rPr>
              <a:t>https://rrahman007.buet.ac.bd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214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7297" y="-69392"/>
            <a:ext cx="667956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u="none" spc="-225" dirty="0">
                <a:solidFill>
                  <a:srgbClr val="006600"/>
                </a:solidFill>
                <a:latin typeface="Arial"/>
                <a:cs typeface="Arial"/>
              </a:rPr>
              <a:t>Convolutional</a:t>
            </a:r>
            <a:r>
              <a:rPr sz="6000" u="none" spc="-10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434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endParaRPr sz="6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338" y="836498"/>
            <a:ext cx="11757025" cy="4139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 algn="just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  <a:tab pos="1788160" algn="l"/>
                <a:tab pos="2413000" algn="l"/>
                <a:tab pos="4333240" algn="l"/>
                <a:tab pos="5519420" algn="l"/>
                <a:tab pos="5874385" algn="l"/>
                <a:tab pos="6711315" algn="l"/>
                <a:tab pos="7107555" algn="l"/>
                <a:tab pos="7689850" algn="l"/>
                <a:tab pos="8668385" algn="l"/>
                <a:tab pos="9982200" algn="l"/>
                <a:tab pos="10564495" algn="l"/>
              </a:tabLst>
            </a:pP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A convolutional code is a type of channel coding (error control coding) technique used in digital communication systems to detect and correct errors introduced by noise in the channel.</a:t>
            </a:r>
          </a:p>
          <a:p>
            <a:pPr marL="469265" indent="-456565" algn="just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  <a:tab pos="1788160" algn="l"/>
                <a:tab pos="2413000" algn="l"/>
                <a:tab pos="4333240" algn="l"/>
                <a:tab pos="5519420" algn="l"/>
                <a:tab pos="5874385" algn="l"/>
                <a:tab pos="6711315" algn="l"/>
                <a:tab pos="7107555" algn="l"/>
                <a:tab pos="7689850" algn="l"/>
                <a:tab pos="8668385" algn="l"/>
                <a:tab pos="9982200" algn="l"/>
                <a:tab pos="10564495" algn="l"/>
              </a:tabLst>
            </a:pP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Unlike block codes (e.g., Hamming code), convolutional codes process data continuously, not in fixed-size blocks.</a:t>
            </a:r>
          </a:p>
          <a:p>
            <a:pPr marL="469265" lvl="2" indent="-456565" algn="just">
              <a:spcBef>
                <a:spcPts val="100"/>
              </a:spcBef>
              <a:buFont typeface="Wingdings"/>
              <a:buChar char=""/>
              <a:tabLst>
                <a:tab pos="469265" algn="l"/>
                <a:tab pos="1788160" algn="l"/>
                <a:tab pos="2413000" algn="l"/>
                <a:tab pos="4333240" algn="l"/>
                <a:tab pos="5519420" algn="l"/>
                <a:tab pos="5874385" algn="l"/>
                <a:tab pos="6711315" algn="l"/>
                <a:tab pos="7107555" algn="l"/>
                <a:tab pos="7689850" algn="l"/>
                <a:tab pos="8668385" algn="l"/>
                <a:tab pos="9982200" algn="l"/>
                <a:tab pos="10564495" algn="l"/>
              </a:tabLst>
            </a:pP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Input data bits are passed through a shift register (memory element)</a:t>
            </a:r>
          </a:p>
          <a:p>
            <a:pPr marL="469265" lvl="2" indent="-456565" algn="just">
              <a:spcBef>
                <a:spcPts val="100"/>
              </a:spcBef>
              <a:buFont typeface="Wingdings"/>
              <a:buChar char=""/>
              <a:tabLst>
                <a:tab pos="469265" algn="l"/>
                <a:tab pos="1788160" algn="l"/>
                <a:tab pos="2413000" algn="l"/>
                <a:tab pos="4333240" algn="l"/>
                <a:tab pos="5519420" algn="l"/>
                <a:tab pos="5874385" algn="l"/>
                <a:tab pos="6711315" algn="l"/>
                <a:tab pos="7107555" algn="l"/>
                <a:tab pos="7689850" algn="l"/>
                <a:tab pos="8668385" algn="l"/>
                <a:tab pos="9982200" algn="l"/>
                <a:tab pos="10564495" algn="l"/>
              </a:tabLst>
            </a:pP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Output bits are generated using modulo-2 addition (XOR)</a:t>
            </a:r>
          </a:p>
          <a:p>
            <a:pPr marL="469265" lvl="2" indent="-456565" algn="just">
              <a:spcBef>
                <a:spcPts val="100"/>
              </a:spcBef>
              <a:buFont typeface="Wingdings"/>
              <a:buChar char=""/>
              <a:tabLst>
                <a:tab pos="469265" algn="l"/>
                <a:tab pos="1788160" algn="l"/>
                <a:tab pos="2413000" algn="l"/>
                <a:tab pos="4333240" algn="l"/>
                <a:tab pos="5519420" algn="l"/>
                <a:tab pos="5874385" algn="l"/>
                <a:tab pos="6711315" algn="l"/>
                <a:tab pos="7107555" algn="l"/>
                <a:tab pos="7689850" algn="l"/>
                <a:tab pos="8668385" algn="l"/>
                <a:tab pos="9982200" algn="l"/>
                <a:tab pos="10564495" algn="l"/>
              </a:tabLst>
            </a:pP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Output depends on: Current input bit and Previous input bits (memory). So, the encoder has memory.</a:t>
            </a:r>
            <a:endParaRPr lang="en-US" sz="2400" dirty="0">
              <a:latin typeface="Calibri"/>
              <a:cs typeface="Calibri"/>
            </a:endParaRPr>
          </a:p>
          <a:p>
            <a:pPr marL="469265" lvl="2" indent="-456565" algn="just">
              <a:spcBef>
                <a:spcPts val="100"/>
              </a:spcBef>
              <a:buFont typeface="Wingdings"/>
              <a:buChar char=""/>
              <a:tabLst>
                <a:tab pos="469265" algn="l"/>
                <a:tab pos="1788160" algn="l"/>
                <a:tab pos="2413000" algn="l"/>
                <a:tab pos="4333240" algn="l"/>
                <a:tab pos="5519420" algn="l"/>
                <a:tab pos="5874385" algn="l"/>
                <a:tab pos="6711315" algn="l"/>
                <a:tab pos="7107555" algn="l"/>
                <a:tab pos="7689850" algn="l"/>
                <a:tab pos="8668385" algn="l"/>
                <a:tab pos="9982200" algn="l"/>
                <a:tab pos="10564495" algn="l"/>
              </a:tabLst>
            </a:pP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Because the output sequence is the convolution of the input sequence with the generator sequence (in modulo-2 arithmetic).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7297" y="-69392"/>
            <a:ext cx="667956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u="none" spc="-225" dirty="0">
                <a:solidFill>
                  <a:srgbClr val="006600"/>
                </a:solidFill>
                <a:latin typeface="Arial"/>
                <a:cs typeface="Arial"/>
              </a:rPr>
              <a:t>Convolutional</a:t>
            </a:r>
            <a:r>
              <a:rPr sz="6000" u="none" spc="-105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000" u="none" spc="-434" dirty="0">
                <a:solidFill>
                  <a:srgbClr val="006600"/>
                </a:solidFill>
                <a:latin typeface="Arial"/>
                <a:cs typeface="Arial"/>
              </a:rPr>
              <a:t>Code</a:t>
            </a:r>
            <a:endParaRPr sz="6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8338" y="836498"/>
            <a:ext cx="117570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  <a:tab pos="1788160" algn="l"/>
                <a:tab pos="2413000" algn="l"/>
                <a:tab pos="4333240" algn="l"/>
                <a:tab pos="5519420" algn="l"/>
                <a:tab pos="5874385" algn="l"/>
                <a:tab pos="6711315" algn="l"/>
                <a:tab pos="7107555" algn="l"/>
                <a:tab pos="7689850" algn="l"/>
                <a:tab pos="8668385" algn="l"/>
                <a:tab pos="9982200" algn="l"/>
                <a:tab pos="10564495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Example: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Convolutional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Encoder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given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in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figure.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Calculate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following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338" y="1202816"/>
            <a:ext cx="4162425" cy="368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parameters: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lphaUcPeriod"/>
              <a:tabLst>
                <a:tab pos="469265" algn="l"/>
              </a:tabLst>
            </a:pPr>
            <a:r>
              <a:rPr sz="2400" b="1" spc="-10" dirty="0">
                <a:solidFill>
                  <a:srgbClr val="7E5F00"/>
                </a:solidFill>
                <a:latin typeface="Calibri"/>
                <a:cs typeface="Calibri"/>
              </a:rPr>
              <a:t>Constraint</a:t>
            </a:r>
            <a:r>
              <a:rPr sz="2400" b="1" spc="-8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Length</a:t>
            </a:r>
            <a:r>
              <a:rPr sz="2400" b="1" spc="-10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7E5F00"/>
                </a:solidFill>
                <a:latin typeface="Calibri"/>
                <a:cs typeface="Calibri"/>
              </a:rPr>
              <a:t>K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lphaUcPeriod"/>
              <a:tabLst>
                <a:tab pos="469265" algn="l"/>
              </a:tabLst>
            </a:pP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Code</a:t>
            </a:r>
            <a:r>
              <a:rPr sz="2400" b="1" spc="-6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Dimensions</a:t>
            </a:r>
            <a:r>
              <a:rPr sz="2400" b="1" spc="-6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(n,</a:t>
            </a:r>
            <a:r>
              <a:rPr sz="2400" b="1" spc="-4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7E5F00"/>
                </a:solidFill>
                <a:latin typeface="Calibri"/>
                <a:cs typeface="Calibri"/>
              </a:rPr>
              <a:t>k)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lphaUcPeriod"/>
              <a:tabLst>
                <a:tab pos="469265" algn="l"/>
              </a:tabLst>
            </a:pP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Code</a:t>
            </a:r>
            <a:r>
              <a:rPr sz="2400" b="1" spc="-5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7E5F00"/>
                </a:solidFill>
                <a:latin typeface="Calibri"/>
                <a:cs typeface="Calibri"/>
              </a:rPr>
              <a:t>Representation</a:t>
            </a:r>
            <a:r>
              <a:rPr sz="2400" b="1" spc="-5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(n,</a:t>
            </a:r>
            <a:r>
              <a:rPr sz="2400" b="1" spc="-5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k,</a:t>
            </a:r>
            <a:r>
              <a:rPr sz="2400" b="1" spc="-7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7E5F00"/>
                </a:solidFill>
                <a:latin typeface="Calibri"/>
                <a:cs typeface="Calibri"/>
              </a:rPr>
              <a:t>K)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lphaUcPeriod"/>
              <a:tabLst>
                <a:tab pos="469265" algn="l"/>
              </a:tabLst>
            </a:pP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Code</a:t>
            </a:r>
            <a:r>
              <a:rPr sz="2400" b="1" spc="-7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Rate</a:t>
            </a:r>
            <a:r>
              <a:rPr sz="2400" b="1" spc="-9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50" dirty="0">
                <a:solidFill>
                  <a:srgbClr val="7E5F00"/>
                </a:solidFill>
                <a:latin typeface="Calibri"/>
                <a:cs typeface="Calibri"/>
              </a:rPr>
              <a:t>r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lphaUcPeriod"/>
              <a:tabLst>
                <a:tab pos="469265" algn="l"/>
              </a:tabLst>
            </a:pPr>
            <a:r>
              <a:rPr sz="2400" b="1" spc="-10" dirty="0">
                <a:solidFill>
                  <a:srgbClr val="7E5F00"/>
                </a:solidFill>
                <a:latin typeface="Calibri"/>
                <a:cs typeface="Calibri"/>
              </a:rPr>
              <a:t>States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lphaUcPeriod"/>
              <a:tabLst>
                <a:tab pos="469265" algn="l"/>
              </a:tabLst>
            </a:pP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Output</a:t>
            </a:r>
            <a:r>
              <a:rPr sz="2400" b="1" spc="-2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with</a:t>
            </a:r>
            <a:r>
              <a:rPr sz="2400" b="1" spc="-4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Message</a:t>
            </a:r>
            <a:r>
              <a:rPr sz="2400" b="1" spc="-4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[1</a:t>
            </a:r>
            <a:r>
              <a:rPr sz="2400" b="1" spc="-4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1</a:t>
            </a:r>
            <a:r>
              <a:rPr sz="2400" b="1" spc="-4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7E5F00"/>
                </a:solidFill>
                <a:latin typeface="Calibri"/>
                <a:cs typeface="Calibri"/>
              </a:rPr>
              <a:t>0]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AutoNum type="alphaUcPeriod"/>
              <a:tabLst>
                <a:tab pos="469265" algn="l"/>
              </a:tabLst>
            </a:pP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Code</a:t>
            </a:r>
            <a:r>
              <a:rPr sz="2400" b="1" spc="-5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7E5F00"/>
                </a:solidFill>
                <a:latin typeface="Calibri"/>
                <a:cs typeface="Calibri"/>
              </a:rPr>
              <a:t>Tree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lphaUcPeriod"/>
              <a:tabLst>
                <a:tab pos="469265" algn="l"/>
              </a:tabLst>
            </a:pP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Code</a:t>
            </a:r>
            <a:r>
              <a:rPr sz="2400" b="1" spc="-55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7E5F00"/>
                </a:solidFill>
                <a:latin typeface="Calibri"/>
                <a:cs typeface="Calibri"/>
              </a:rPr>
              <a:t>Trellis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lphaUcPeriod"/>
              <a:tabLst>
                <a:tab pos="469265" algn="l"/>
              </a:tabLst>
            </a:pPr>
            <a:r>
              <a:rPr sz="2400" b="1" dirty="0">
                <a:solidFill>
                  <a:srgbClr val="7E5F00"/>
                </a:solidFill>
                <a:latin typeface="Calibri"/>
                <a:cs typeface="Calibri"/>
              </a:rPr>
              <a:t>State</a:t>
            </a:r>
            <a:r>
              <a:rPr sz="2400" b="1" spc="-120" dirty="0">
                <a:solidFill>
                  <a:srgbClr val="7E5F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7E5F00"/>
                </a:solidFill>
                <a:latin typeface="Calibri"/>
                <a:cs typeface="Calibri"/>
              </a:rPr>
              <a:t>Diagram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522214" y="1827212"/>
            <a:ext cx="1396365" cy="2214880"/>
            <a:chOff x="5522214" y="1827212"/>
            <a:chExt cx="1396365" cy="22148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16802" y="1841500"/>
              <a:ext cx="487172" cy="48882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416802" y="1841500"/>
              <a:ext cx="487680" cy="488950"/>
            </a:xfrm>
            <a:custGeom>
              <a:avLst/>
              <a:gdLst/>
              <a:ahLst/>
              <a:cxnLst/>
              <a:rect l="l" t="t" r="r" b="b"/>
              <a:pathLst>
                <a:path w="487679" h="488950">
                  <a:moveTo>
                    <a:pt x="0" y="244475"/>
                  </a:moveTo>
                  <a:lnTo>
                    <a:pt x="4950" y="195210"/>
                  </a:lnTo>
                  <a:lnTo>
                    <a:pt x="19147" y="149322"/>
                  </a:lnTo>
                  <a:lnTo>
                    <a:pt x="41610" y="107794"/>
                  </a:lnTo>
                  <a:lnTo>
                    <a:pt x="71358" y="71612"/>
                  </a:lnTo>
                  <a:lnTo>
                    <a:pt x="107410" y="41757"/>
                  </a:lnTo>
                  <a:lnTo>
                    <a:pt x="148786" y="19214"/>
                  </a:lnTo>
                  <a:lnTo>
                    <a:pt x="194505" y="4967"/>
                  </a:lnTo>
                  <a:lnTo>
                    <a:pt x="243586" y="0"/>
                  </a:lnTo>
                  <a:lnTo>
                    <a:pt x="292666" y="4967"/>
                  </a:lnTo>
                  <a:lnTo>
                    <a:pt x="338385" y="19214"/>
                  </a:lnTo>
                  <a:lnTo>
                    <a:pt x="379761" y="41757"/>
                  </a:lnTo>
                  <a:lnTo>
                    <a:pt x="415813" y="71612"/>
                  </a:lnTo>
                  <a:lnTo>
                    <a:pt x="445561" y="107794"/>
                  </a:lnTo>
                  <a:lnTo>
                    <a:pt x="468024" y="149322"/>
                  </a:lnTo>
                  <a:lnTo>
                    <a:pt x="482221" y="195210"/>
                  </a:lnTo>
                  <a:lnTo>
                    <a:pt x="487172" y="244475"/>
                  </a:lnTo>
                  <a:lnTo>
                    <a:pt x="482221" y="293697"/>
                  </a:lnTo>
                  <a:lnTo>
                    <a:pt x="468024" y="339554"/>
                  </a:lnTo>
                  <a:lnTo>
                    <a:pt x="445561" y="381059"/>
                  </a:lnTo>
                  <a:lnTo>
                    <a:pt x="415813" y="417226"/>
                  </a:lnTo>
                  <a:lnTo>
                    <a:pt x="379761" y="447072"/>
                  </a:lnTo>
                  <a:lnTo>
                    <a:pt x="338385" y="469610"/>
                  </a:lnTo>
                  <a:lnTo>
                    <a:pt x="292666" y="483855"/>
                  </a:lnTo>
                  <a:lnTo>
                    <a:pt x="243586" y="488822"/>
                  </a:lnTo>
                  <a:lnTo>
                    <a:pt x="194505" y="483855"/>
                  </a:lnTo>
                  <a:lnTo>
                    <a:pt x="148786" y="469610"/>
                  </a:lnTo>
                  <a:lnTo>
                    <a:pt x="107410" y="447072"/>
                  </a:lnTo>
                  <a:lnTo>
                    <a:pt x="71358" y="417226"/>
                  </a:lnTo>
                  <a:lnTo>
                    <a:pt x="41610" y="381059"/>
                  </a:lnTo>
                  <a:lnTo>
                    <a:pt x="19147" y="339554"/>
                  </a:lnTo>
                  <a:lnTo>
                    <a:pt x="4950" y="293697"/>
                  </a:lnTo>
                  <a:lnTo>
                    <a:pt x="0" y="244475"/>
                  </a:lnTo>
                  <a:close/>
                </a:path>
                <a:path w="487679" h="488950">
                  <a:moveTo>
                    <a:pt x="0" y="244475"/>
                  </a:moveTo>
                  <a:lnTo>
                    <a:pt x="487172" y="244475"/>
                  </a:lnTo>
                </a:path>
              </a:pathLst>
            </a:custGeom>
            <a:ln w="28575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60388" y="1841500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h="488950">
                  <a:moveTo>
                    <a:pt x="0" y="488823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16802" y="3538601"/>
              <a:ext cx="487172" cy="48895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6416802" y="3538601"/>
              <a:ext cx="487680" cy="488950"/>
            </a:xfrm>
            <a:custGeom>
              <a:avLst/>
              <a:gdLst/>
              <a:ahLst/>
              <a:cxnLst/>
              <a:rect l="l" t="t" r="r" b="b"/>
              <a:pathLst>
                <a:path w="487679" h="488950">
                  <a:moveTo>
                    <a:pt x="0" y="244475"/>
                  </a:moveTo>
                  <a:lnTo>
                    <a:pt x="4950" y="195210"/>
                  </a:lnTo>
                  <a:lnTo>
                    <a:pt x="19147" y="149322"/>
                  </a:lnTo>
                  <a:lnTo>
                    <a:pt x="41610" y="107794"/>
                  </a:lnTo>
                  <a:lnTo>
                    <a:pt x="71358" y="71612"/>
                  </a:lnTo>
                  <a:lnTo>
                    <a:pt x="107410" y="41757"/>
                  </a:lnTo>
                  <a:lnTo>
                    <a:pt x="148786" y="19214"/>
                  </a:lnTo>
                  <a:lnTo>
                    <a:pt x="194505" y="4967"/>
                  </a:lnTo>
                  <a:lnTo>
                    <a:pt x="243586" y="0"/>
                  </a:lnTo>
                  <a:lnTo>
                    <a:pt x="292666" y="4967"/>
                  </a:lnTo>
                  <a:lnTo>
                    <a:pt x="338385" y="19214"/>
                  </a:lnTo>
                  <a:lnTo>
                    <a:pt x="379761" y="41757"/>
                  </a:lnTo>
                  <a:lnTo>
                    <a:pt x="415813" y="71612"/>
                  </a:lnTo>
                  <a:lnTo>
                    <a:pt x="445561" y="107794"/>
                  </a:lnTo>
                  <a:lnTo>
                    <a:pt x="468024" y="149322"/>
                  </a:lnTo>
                  <a:lnTo>
                    <a:pt x="482221" y="195210"/>
                  </a:lnTo>
                  <a:lnTo>
                    <a:pt x="487172" y="244475"/>
                  </a:lnTo>
                  <a:lnTo>
                    <a:pt x="482221" y="293739"/>
                  </a:lnTo>
                  <a:lnTo>
                    <a:pt x="468024" y="339627"/>
                  </a:lnTo>
                  <a:lnTo>
                    <a:pt x="445561" y="381155"/>
                  </a:lnTo>
                  <a:lnTo>
                    <a:pt x="415813" y="417337"/>
                  </a:lnTo>
                  <a:lnTo>
                    <a:pt x="379761" y="447192"/>
                  </a:lnTo>
                  <a:lnTo>
                    <a:pt x="338385" y="469735"/>
                  </a:lnTo>
                  <a:lnTo>
                    <a:pt x="292666" y="483982"/>
                  </a:lnTo>
                  <a:lnTo>
                    <a:pt x="243586" y="488950"/>
                  </a:lnTo>
                  <a:lnTo>
                    <a:pt x="194505" y="483982"/>
                  </a:lnTo>
                  <a:lnTo>
                    <a:pt x="148786" y="469735"/>
                  </a:lnTo>
                  <a:lnTo>
                    <a:pt x="107410" y="447192"/>
                  </a:lnTo>
                  <a:lnTo>
                    <a:pt x="71358" y="417337"/>
                  </a:lnTo>
                  <a:lnTo>
                    <a:pt x="41610" y="381155"/>
                  </a:lnTo>
                  <a:lnTo>
                    <a:pt x="19147" y="339627"/>
                  </a:lnTo>
                  <a:lnTo>
                    <a:pt x="4950" y="293739"/>
                  </a:lnTo>
                  <a:lnTo>
                    <a:pt x="0" y="244475"/>
                  </a:lnTo>
                  <a:close/>
                </a:path>
                <a:path w="487679" h="488950">
                  <a:moveTo>
                    <a:pt x="0" y="244475"/>
                  </a:moveTo>
                  <a:lnTo>
                    <a:pt x="487172" y="244475"/>
                  </a:lnTo>
                </a:path>
              </a:pathLst>
            </a:custGeom>
            <a:ln w="28575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60388" y="3538601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h="488950">
                  <a:moveTo>
                    <a:pt x="0" y="488950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25389" y="2690266"/>
              <a:ext cx="707643" cy="451967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525389" y="2690266"/>
              <a:ext cx="708025" cy="452120"/>
            </a:xfrm>
            <a:custGeom>
              <a:avLst/>
              <a:gdLst/>
              <a:ahLst/>
              <a:cxnLst/>
              <a:rect l="l" t="t" r="r" b="b"/>
              <a:pathLst>
                <a:path w="708025" h="452119">
                  <a:moveTo>
                    <a:pt x="0" y="451967"/>
                  </a:moveTo>
                  <a:lnTo>
                    <a:pt x="707643" y="451967"/>
                  </a:lnTo>
                  <a:lnTo>
                    <a:pt x="707643" y="0"/>
                  </a:lnTo>
                  <a:lnTo>
                    <a:pt x="0" y="0"/>
                  </a:lnTo>
                  <a:lnTo>
                    <a:pt x="0" y="45196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717159" y="2751835"/>
            <a:ext cx="339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FF1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121270" y="2687091"/>
            <a:ext cx="714375" cy="458470"/>
            <a:chOff x="7121270" y="2687091"/>
            <a:chExt cx="714375" cy="458470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24445" y="2690266"/>
              <a:ext cx="707644" cy="45196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124445" y="2690266"/>
              <a:ext cx="708025" cy="452120"/>
            </a:xfrm>
            <a:custGeom>
              <a:avLst/>
              <a:gdLst/>
              <a:ahLst/>
              <a:cxnLst/>
              <a:rect l="l" t="t" r="r" b="b"/>
              <a:pathLst>
                <a:path w="708025" h="452119">
                  <a:moveTo>
                    <a:pt x="0" y="451967"/>
                  </a:moveTo>
                  <a:lnTo>
                    <a:pt x="707644" y="451967"/>
                  </a:lnTo>
                  <a:lnTo>
                    <a:pt x="707644" y="0"/>
                  </a:lnTo>
                  <a:lnTo>
                    <a:pt x="0" y="0"/>
                  </a:lnTo>
                  <a:lnTo>
                    <a:pt x="0" y="451967"/>
                  </a:lnTo>
                  <a:close/>
                </a:path>
              </a:pathLst>
            </a:custGeom>
            <a:ln w="6350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316469" y="2751835"/>
            <a:ext cx="339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FF2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029073" y="2043048"/>
            <a:ext cx="3294379" cy="1783080"/>
          </a:xfrm>
          <a:custGeom>
            <a:avLst/>
            <a:gdLst/>
            <a:ahLst/>
            <a:cxnLst/>
            <a:rect l="l" t="t" r="r" b="b"/>
            <a:pathLst>
              <a:path w="3294379" h="1783079">
                <a:moveTo>
                  <a:pt x="1387729" y="42926"/>
                </a:moveTo>
                <a:lnTo>
                  <a:pt x="1359065" y="28575"/>
                </a:lnTo>
                <a:lnTo>
                  <a:pt x="1302004" y="0"/>
                </a:lnTo>
                <a:lnTo>
                  <a:pt x="1302004" y="28575"/>
                </a:lnTo>
                <a:lnTo>
                  <a:pt x="15240" y="28575"/>
                </a:lnTo>
                <a:lnTo>
                  <a:pt x="15240" y="858901"/>
                </a:lnTo>
                <a:lnTo>
                  <a:pt x="0" y="858901"/>
                </a:lnTo>
                <a:lnTo>
                  <a:pt x="0" y="887476"/>
                </a:lnTo>
                <a:lnTo>
                  <a:pt x="15240" y="887476"/>
                </a:lnTo>
                <a:lnTo>
                  <a:pt x="20320" y="887476"/>
                </a:lnTo>
                <a:lnTo>
                  <a:pt x="20320" y="1754378"/>
                </a:lnTo>
                <a:lnTo>
                  <a:pt x="1302004" y="1754378"/>
                </a:lnTo>
                <a:lnTo>
                  <a:pt x="1302004" y="1782953"/>
                </a:lnTo>
                <a:lnTo>
                  <a:pt x="1359065" y="1754378"/>
                </a:lnTo>
                <a:lnTo>
                  <a:pt x="1387729" y="1740027"/>
                </a:lnTo>
                <a:lnTo>
                  <a:pt x="1359230" y="1725803"/>
                </a:lnTo>
                <a:lnTo>
                  <a:pt x="1302004" y="1697228"/>
                </a:lnTo>
                <a:lnTo>
                  <a:pt x="1302004" y="1725803"/>
                </a:lnTo>
                <a:lnTo>
                  <a:pt x="48895" y="1725803"/>
                </a:lnTo>
                <a:lnTo>
                  <a:pt x="48895" y="887476"/>
                </a:lnTo>
                <a:lnTo>
                  <a:pt x="496316" y="887476"/>
                </a:lnTo>
                <a:lnTo>
                  <a:pt x="496316" y="873125"/>
                </a:lnTo>
                <a:lnTo>
                  <a:pt x="496316" y="858901"/>
                </a:lnTo>
                <a:lnTo>
                  <a:pt x="48895" y="858901"/>
                </a:lnTo>
                <a:lnTo>
                  <a:pt x="43815" y="858901"/>
                </a:lnTo>
                <a:lnTo>
                  <a:pt x="43815" y="57150"/>
                </a:lnTo>
                <a:lnTo>
                  <a:pt x="1302004" y="57150"/>
                </a:lnTo>
                <a:lnTo>
                  <a:pt x="1302004" y="85725"/>
                </a:lnTo>
                <a:lnTo>
                  <a:pt x="1359230" y="57150"/>
                </a:lnTo>
                <a:lnTo>
                  <a:pt x="1387729" y="42926"/>
                </a:lnTo>
                <a:close/>
              </a:path>
              <a:path w="3294379" h="1783079">
                <a:moveTo>
                  <a:pt x="2095373" y="858901"/>
                </a:moveTo>
                <a:lnTo>
                  <a:pt x="1645539" y="858901"/>
                </a:lnTo>
                <a:lnTo>
                  <a:pt x="1645539" y="372999"/>
                </a:lnTo>
                <a:lnTo>
                  <a:pt x="1674114" y="372999"/>
                </a:lnTo>
                <a:lnTo>
                  <a:pt x="1667002" y="358775"/>
                </a:lnTo>
                <a:lnTo>
                  <a:pt x="1631315" y="287274"/>
                </a:lnTo>
                <a:lnTo>
                  <a:pt x="1588389" y="372999"/>
                </a:lnTo>
                <a:lnTo>
                  <a:pt x="1616964" y="372999"/>
                </a:lnTo>
                <a:lnTo>
                  <a:pt x="1616964" y="858901"/>
                </a:lnTo>
                <a:lnTo>
                  <a:pt x="1289685" y="858901"/>
                </a:lnTo>
                <a:lnTo>
                  <a:pt x="1289685" y="830326"/>
                </a:lnTo>
                <a:lnTo>
                  <a:pt x="1203960" y="873125"/>
                </a:lnTo>
                <a:lnTo>
                  <a:pt x="1289685" y="916051"/>
                </a:lnTo>
                <a:lnTo>
                  <a:pt x="1289685" y="887476"/>
                </a:lnTo>
                <a:lnTo>
                  <a:pt x="2095373" y="887476"/>
                </a:lnTo>
                <a:lnTo>
                  <a:pt x="2095373" y="858901"/>
                </a:lnTo>
                <a:close/>
              </a:path>
              <a:path w="3294379" h="1783079">
                <a:moveTo>
                  <a:pt x="3293872" y="28575"/>
                </a:moveTo>
                <a:lnTo>
                  <a:pt x="1960626" y="28575"/>
                </a:lnTo>
                <a:lnTo>
                  <a:pt x="1960626" y="0"/>
                </a:lnTo>
                <a:lnTo>
                  <a:pt x="1874901" y="42926"/>
                </a:lnTo>
                <a:lnTo>
                  <a:pt x="1960626" y="85725"/>
                </a:lnTo>
                <a:lnTo>
                  <a:pt x="1960626" y="57150"/>
                </a:lnTo>
                <a:lnTo>
                  <a:pt x="3265297" y="57150"/>
                </a:lnTo>
                <a:lnTo>
                  <a:pt x="3265297" y="858901"/>
                </a:lnTo>
                <a:lnTo>
                  <a:pt x="2803017" y="858901"/>
                </a:lnTo>
                <a:lnTo>
                  <a:pt x="2803017" y="887476"/>
                </a:lnTo>
                <a:lnTo>
                  <a:pt x="3264789" y="887476"/>
                </a:lnTo>
                <a:lnTo>
                  <a:pt x="3264789" y="1725803"/>
                </a:lnTo>
                <a:lnTo>
                  <a:pt x="1960626" y="1725803"/>
                </a:lnTo>
                <a:lnTo>
                  <a:pt x="1960626" y="1697228"/>
                </a:lnTo>
                <a:lnTo>
                  <a:pt x="1874901" y="1740027"/>
                </a:lnTo>
                <a:lnTo>
                  <a:pt x="1960626" y="1782953"/>
                </a:lnTo>
                <a:lnTo>
                  <a:pt x="1960626" y="1754378"/>
                </a:lnTo>
                <a:lnTo>
                  <a:pt x="3293364" y="1754378"/>
                </a:lnTo>
                <a:lnTo>
                  <a:pt x="3293364" y="1740027"/>
                </a:lnTo>
                <a:lnTo>
                  <a:pt x="3293364" y="1725803"/>
                </a:lnTo>
                <a:lnTo>
                  <a:pt x="3293364" y="887476"/>
                </a:lnTo>
                <a:lnTo>
                  <a:pt x="3293872" y="887476"/>
                </a:lnTo>
                <a:lnTo>
                  <a:pt x="3293872" y="873125"/>
                </a:lnTo>
                <a:lnTo>
                  <a:pt x="3293872" y="858901"/>
                </a:lnTo>
                <a:lnTo>
                  <a:pt x="3293872" y="57150"/>
                </a:lnTo>
                <a:lnTo>
                  <a:pt x="3293872" y="42926"/>
                </a:lnTo>
                <a:lnTo>
                  <a:pt x="3293872" y="2857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441435" y="2910332"/>
            <a:ext cx="843915" cy="476884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160020" marR="5080" indent="-160020">
              <a:lnSpc>
                <a:spcPct val="64400"/>
              </a:lnSpc>
              <a:spcBef>
                <a:spcPts val="865"/>
              </a:spcBef>
            </a:pPr>
            <a:r>
              <a:rPr sz="1800" b="1" spc="-10" dirty="0">
                <a:latin typeface="Calibri"/>
                <a:cs typeface="Calibri"/>
              </a:rPr>
              <a:t>Message Input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979670" y="2826130"/>
            <a:ext cx="3412490" cy="170815"/>
            <a:chOff x="4979670" y="2826130"/>
            <a:chExt cx="3412490" cy="170815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79670" y="2826130"/>
              <a:ext cx="170941" cy="17030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65900" y="2826130"/>
              <a:ext cx="170942" cy="17030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20837" y="2826130"/>
              <a:ext cx="170942" cy="170306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4700651" y="2559177"/>
            <a:ext cx="302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84721" y="2559177"/>
            <a:ext cx="302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932673" y="2567127"/>
            <a:ext cx="3028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646036" y="1598549"/>
            <a:ext cx="4531995" cy="2672080"/>
            <a:chOff x="6646036" y="1598549"/>
            <a:chExt cx="4531995" cy="2672080"/>
          </a:xfrm>
        </p:grpSpPr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19258" y="2470785"/>
              <a:ext cx="170942" cy="17030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19258" y="3129915"/>
              <a:ext cx="170942" cy="170433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646037" y="1598548"/>
              <a:ext cx="3302000" cy="2672080"/>
            </a:xfrm>
            <a:custGeom>
              <a:avLst/>
              <a:gdLst/>
              <a:ahLst/>
              <a:cxnLst/>
              <a:rect l="l" t="t" r="r" b="b"/>
              <a:pathLst>
                <a:path w="3302000" h="2672079">
                  <a:moveTo>
                    <a:pt x="3301492" y="1781175"/>
                  </a:moveTo>
                  <a:lnTo>
                    <a:pt x="3294316" y="1766824"/>
                  </a:lnTo>
                  <a:lnTo>
                    <a:pt x="3258693" y="1695450"/>
                  </a:lnTo>
                  <a:lnTo>
                    <a:pt x="3215767" y="1781175"/>
                  </a:lnTo>
                  <a:lnTo>
                    <a:pt x="3244342" y="1781175"/>
                  </a:lnTo>
                  <a:lnTo>
                    <a:pt x="3244342" y="2643251"/>
                  </a:lnTo>
                  <a:lnTo>
                    <a:pt x="28575" y="2643251"/>
                  </a:lnTo>
                  <a:lnTo>
                    <a:pt x="28575" y="2429002"/>
                  </a:lnTo>
                  <a:lnTo>
                    <a:pt x="0" y="2429002"/>
                  </a:lnTo>
                  <a:lnTo>
                    <a:pt x="0" y="2671826"/>
                  </a:lnTo>
                  <a:lnTo>
                    <a:pt x="3272917" y="2671826"/>
                  </a:lnTo>
                  <a:lnTo>
                    <a:pt x="3272917" y="2657602"/>
                  </a:lnTo>
                  <a:lnTo>
                    <a:pt x="3272917" y="2643251"/>
                  </a:lnTo>
                  <a:lnTo>
                    <a:pt x="3272917" y="1781175"/>
                  </a:lnTo>
                  <a:lnTo>
                    <a:pt x="3301492" y="1781175"/>
                  </a:lnTo>
                  <a:close/>
                </a:path>
                <a:path w="3302000" h="2672079">
                  <a:moveTo>
                    <a:pt x="3301492" y="792861"/>
                  </a:moveTo>
                  <a:lnTo>
                    <a:pt x="3272917" y="792861"/>
                  </a:lnTo>
                  <a:lnTo>
                    <a:pt x="3272917" y="28575"/>
                  </a:lnTo>
                  <a:lnTo>
                    <a:pt x="3272917" y="14351"/>
                  </a:lnTo>
                  <a:lnTo>
                    <a:pt x="3272917" y="0"/>
                  </a:lnTo>
                  <a:lnTo>
                    <a:pt x="0" y="0"/>
                  </a:lnTo>
                  <a:lnTo>
                    <a:pt x="0" y="242951"/>
                  </a:lnTo>
                  <a:lnTo>
                    <a:pt x="28575" y="242951"/>
                  </a:lnTo>
                  <a:lnTo>
                    <a:pt x="28575" y="28575"/>
                  </a:lnTo>
                  <a:lnTo>
                    <a:pt x="3244342" y="28575"/>
                  </a:lnTo>
                  <a:lnTo>
                    <a:pt x="3244342" y="792861"/>
                  </a:lnTo>
                  <a:lnTo>
                    <a:pt x="3215767" y="792861"/>
                  </a:lnTo>
                  <a:lnTo>
                    <a:pt x="3258693" y="878586"/>
                  </a:lnTo>
                  <a:lnTo>
                    <a:pt x="3294380" y="807085"/>
                  </a:lnTo>
                  <a:lnTo>
                    <a:pt x="3301492" y="792861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236453" y="2826131"/>
              <a:ext cx="170942" cy="17030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9565767" y="2868421"/>
              <a:ext cx="1612265" cy="85725"/>
            </a:xfrm>
            <a:custGeom>
              <a:avLst/>
              <a:gdLst/>
              <a:ahLst/>
              <a:cxnLst/>
              <a:rect l="l" t="t" r="r" b="b"/>
              <a:pathLst>
                <a:path w="1612265" h="85725">
                  <a:moveTo>
                    <a:pt x="677037" y="28575"/>
                  </a:moveTo>
                  <a:lnTo>
                    <a:pt x="85725" y="28575"/>
                  </a:lnTo>
                  <a:lnTo>
                    <a:pt x="85725" y="0"/>
                  </a:lnTo>
                  <a:lnTo>
                    <a:pt x="0" y="42926"/>
                  </a:lnTo>
                  <a:lnTo>
                    <a:pt x="85725" y="85725"/>
                  </a:lnTo>
                  <a:lnTo>
                    <a:pt x="85725" y="57150"/>
                  </a:lnTo>
                  <a:lnTo>
                    <a:pt x="677037" y="57150"/>
                  </a:lnTo>
                  <a:lnTo>
                    <a:pt x="677037" y="28575"/>
                  </a:lnTo>
                  <a:close/>
                </a:path>
                <a:path w="1612265" h="85725">
                  <a:moveTo>
                    <a:pt x="1612138" y="42926"/>
                  </a:moveTo>
                  <a:lnTo>
                    <a:pt x="1583474" y="28575"/>
                  </a:lnTo>
                  <a:lnTo>
                    <a:pt x="1526413" y="0"/>
                  </a:lnTo>
                  <a:lnTo>
                    <a:pt x="1526413" y="28575"/>
                  </a:lnTo>
                  <a:lnTo>
                    <a:pt x="835279" y="28575"/>
                  </a:lnTo>
                  <a:lnTo>
                    <a:pt x="835279" y="57150"/>
                  </a:lnTo>
                  <a:lnTo>
                    <a:pt x="1526413" y="57150"/>
                  </a:lnTo>
                  <a:lnTo>
                    <a:pt x="1526413" y="85725"/>
                  </a:lnTo>
                  <a:lnTo>
                    <a:pt x="1583639" y="57150"/>
                  </a:lnTo>
                  <a:lnTo>
                    <a:pt x="1612138" y="42926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767948" y="2914015"/>
            <a:ext cx="695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Output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542018" y="2369565"/>
            <a:ext cx="229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X</a:t>
            </a:r>
            <a:r>
              <a:rPr sz="1400" b="1" spc="-25" dirty="0"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542018" y="3163570"/>
            <a:ext cx="229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X</a:t>
            </a:r>
            <a:r>
              <a:rPr sz="1400" b="1" spc="-25" dirty="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37" name="object 3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916668" y="2610611"/>
            <a:ext cx="276605" cy="579881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10141966" y="2346705"/>
            <a:ext cx="6419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Switch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0" name="object 40"/>
            <p:cNvSpPr/>
            <p:nvPr/>
          </p:nvSpPr>
          <p:spPr>
            <a:xfrm>
              <a:off x="4630673" y="1379855"/>
              <a:ext cx="6980555" cy="3134995"/>
            </a:xfrm>
            <a:custGeom>
              <a:avLst/>
              <a:gdLst/>
              <a:ahLst/>
              <a:cxnLst/>
              <a:rect l="l" t="t" r="r" b="b"/>
              <a:pathLst>
                <a:path w="6980555" h="3134995">
                  <a:moveTo>
                    <a:pt x="0" y="3134995"/>
                  </a:moveTo>
                  <a:lnTo>
                    <a:pt x="6980301" y="3134995"/>
                  </a:lnTo>
                  <a:lnTo>
                    <a:pt x="6980301" y="0"/>
                  </a:lnTo>
                  <a:lnTo>
                    <a:pt x="0" y="0"/>
                  </a:lnTo>
                  <a:lnTo>
                    <a:pt x="0" y="3134995"/>
                  </a:lnTo>
                  <a:close/>
                </a:path>
              </a:pathLst>
            </a:custGeom>
            <a:ln w="28575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385429" y="2877439"/>
              <a:ext cx="484505" cy="85725"/>
            </a:xfrm>
            <a:custGeom>
              <a:avLst/>
              <a:gdLst/>
              <a:ahLst/>
              <a:cxnLst/>
              <a:rect l="l" t="t" r="r" b="b"/>
              <a:pathLst>
                <a:path w="484504" h="85725">
                  <a:moveTo>
                    <a:pt x="85724" y="0"/>
                  </a:moveTo>
                  <a:lnTo>
                    <a:pt x="0" y="42799"/>
                  </a:lnTo>
                  <a:lnTo>
                    <a:pt x="85724" y="85725"/>
                  </a:lnTo>
                  <a:lnTo>
                    <a:pt x="85724" y="57150"/>
                  </a:lnTo>
                  <a:lnTo>
                    <a:pt x="71373" y="57150"/>
                  </a:lnTo>
                  <a:lnTo>
                    <a:pt x="71373" y="28575"/>
                  </a:lnTo>
                  <a:lnTo>
                    <a:pt x="85724" y="28575"/>
                  </a:lnTo>
                  <a:lnTo>
                    <a:pt x="85724" y="0"/>
                  </a:lnTo>
                  <a:close/>
                </a:path>
                <a:path w="484504" h="85725">
                  <a:moveTo>
                    <a:pt x="85724" y="28575"/>
                  </a:moveTo>
                  <a:lnTo>
                    <a:pt x="71373" y="28575"/>
                  </a:lnTo>
                  <a:lnTo>
                    <a:pt x="71373" y="57150"/>
                  </a:lnTo>
                  <a:lnTo>
                    <a:pt x="85724" y="57150"/>
                  </a:lnTo>
                  <a:lnTo>
                    <a:pt x="85724" y="28575"/>
                  </a:lnTo>
                  <a:close/>
                </a:path>
                <a:path w="484504" h="85725">
                  <a:moveTo>
                    <a:pt x="484250" y="28575"/>
                  </a:moveTo>
                  <a:lnTo>
                    <a:pt x="85724" y="28575"/>
                  </a:lnTo>
                  <a:lnTo>
                    <a:pt x="85724" y="57150"/>
                  </a:lnTo>
                  <a:lnTo>
                    <a:pt x="484250" y="57150"/>
                  </a:lnTo>
                  <a:lnTo>
                    <a:pt x="484250" y="28575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3907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772" y="3383991"/>
            <a:ext cx="12553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265" algn="l"/>
              </a:tabLst>
            </a:pP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States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20700" y="3951859"/>
          <a:ext cx="5196840" cy="18522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2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2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2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4475" y="887983"/>
            <a:ext cx="5381625" cy="408940"/>
            <a:chOff x="244475" y="887983"/>
            <a:chExt cx="5381625" cy="408940"/>
          </a:xfrm>
        </p:grpSpPr>
        <p:sp>
          <p:nvSpPr>
            <p:cNvPr id="3" name="object 3"/>
            <p:cNvSpPr/>
            <p:nvPr/>
          </p:nvSpPr>
          <p:spPr>
            <a:xfrm>
              <a:off x="269875" y="900683"/>
              <a:ext cx="2130425" cy="370840"/>
            </a:xfrm>
            <a:custGeom>
              <a:avLst/>
              <a:gdLst/>
              <a:ahLst/>
              <a:cxnLst/>
              <a:rect l="l" t="t" r="r" b="b"/>
              <a:pathLst>
                <a:path w="2130425" h="370840">
                  <a:moveTo>
                    <a:pt x="2130387" y="0"/>
                  </a:moveTo>
                  <a:lnTo>
                    <a:pt x="1420291" y="0"/>
                  </a:lnTo>
                  <a:lnTo>
                    <a:pt x="710145" y="0"/>
                  </a:lnTo>
                  <a:lnTo>
                    <a:pt x="0" y="0"/>
                  </a:lnTo>
                  <a:lnTo>
                    <a:pt x="0" y="370840"/>
                  </a:lnTo>
                  <a:lnTo>
                    <a:pt x="710145" y="370840"/>
                  </a:lnTo>
                  <a:lnTo>
                    <a:pt x="1420241" y="370840"/>
                  </a:lnTo>
                  <a:lnTo>
                    <a:pt x="2130387" y="370840"/>
                  </a:lnTo>
                  <a:lnTo>
                    <a:pt x="2130387" y="0"/>
                  </a:lnTo>
                  <a:close/>
                </a:path>
              </a:pathLst>
            </a:custGeom>
            <a:solidFill>
              <a:srgbClr val="F4B0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80020" y="89433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90116" y="89433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69875" y="89433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00300" y="89433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3525" y="900683"/>
              <a:ext cx="2143125" cy="0"/>
            </a:xfrm>
            <a:custGeom>
              <a:avLst/>
              <a:gdLst/>
              <a:ahLst/>
              <a:cxnLst/>
              <a:rect l="l" t="t" r="r" b="b"/>
              <a:pathLst>
                <a:path w="21431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63525" y="1271523"/>
              <a:ext cx="2143125" cy="0"/>
            </a:xfrm>
            <a:custGeom>
              <a:avLst/>
              <a:gdLst/>
              <a:ahLst/>
              <a:cxnLst/>
              <a:rect l="l" t="t" r="r" b="b"/>
              <a:pathLst>
                <a:path w="21431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70275" y="900683"/>
              <a:ext cx="2130425" cy="370840"/>
            </a:xfrm>
            <a:custGeom>
              <a:avLst/>
              <a:gdLst/>
              <a:ahLst/>
              <a:cxnLst/>
              <a:rect l="l" t="t" r="r" b="b"/>
              <a:pathLst>
                <a:path w="2130425" h="370840">
                  <a:moveTo>
                    <a:pt x="710145" y="0"/>
                  </a:moveTo>
                  <a:lnTo>
                    <a:pt x="0" y="0"/>
                  </a:lnTo>
                  <a:lnTo>
                    <a:pt x="0" y="370840"/>
                  </a:lnTo>
                  <a:lnTo>
                    <a:pt x="710145" y="370840"/>
                  </a:lnTo>
                  <a:lnTo>
                    <a:pt x="710145" y="0"/>
                  </a:lnTo>
                  <a:close/>
                </a:path>
                <a:path w="2130425" h="370840">
                  <a:moveTo>
                    <a:pt x="2130374" y="0"/>
                  </a:moveTo>
                  <a:lnTo>
                    <a:pt x="1420329" y="0"/>
                  </a:lnTo>
                  <a:lnTo>
                    <a:pt x="710184" y="0"/>
                  </a:lnTo>
                  <a:lnTo>
                    <a:pt x="710184" y="370840"/>
                  </a:lnTo>
                  <a:lnTo>
                    <a:pt x="1420241" y="370840"/>
                  </a:lnTo>
                  <a:lnTo>
                    <a:pt x="2130374" y="370840"/>
                  </a:lnTo>
                  <a:lnTo>
                    <a:pt x="2130374" y="0"/>
                  </a:lnTo>
                  <a:close/>
                </a:path>
              </a:pathLst>
            </a:custGeom>
            <a:solidFill>
              <a:srgbClr val="F4B0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80459" y="89433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890515" y="89433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70275" y="89433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00700" y="89433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463925" y="900683"/>
              <a:ext cx="2143125" cy="0"/>
            </a:xfrm>
            <a:custGeom>
              <a:avLst/>
              <a:gdLst/>
              <a:ahLst/>
              <a:cxnLst/>
              <a:rect l="l" t="t" r="r" b="b"/>
              <a:pathLst>
                <a:path w="21431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463925" y="1271523"/>
              <a:ext cx="2143125" cy="0"/>
            </a:xfrm>
            <a:custGeom>
              <a:avLst/>
              <a:gdLst/>
              <a:ahLst/>
              <a:cxnLst/>
              <a:rect l="l" t="t" r="r" b="b"/>
              <a:pathLst>
                <a:path w="21431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88772" y="-109008"/>
            <a:ext cx="4076700" cy="977265"/>
          </a:xfrm>
          <a:prstGeom prst="rect">
            <a:avLst/>
          </a:prstGeom>
        </p:spPr>
        <p:txBody>
          <a:bodyPr vert="horz" wrap="square" lIns="0" tIns="1905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500"/>
              </a:spcBef>
              <a:buFont typeface="Wingdings"/>
              <a:buChar char=""/>
              <a:tabLst>
                <a:tab pos="469265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Output</a:t>
            </a:r>
            <a:r>
              <a:rPr sz="2400" b="1" spc="-3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with</a:t>
            </a:r>
            <a:r>
              <a:rPr sz="2400" b="1" spc="-5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Message</a:t>
            </a:r>
            <a:r>
              <a:rPr sz="2400" b="1" spc="-5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[1</a:t>
            </a:r>
            <a:r>
              <a:rPr sz="2400" b="1" spc="-5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1</a:t>
            </a:r>
            <a:r>
              <a:rPr sz="2400" b="1" spc="-6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385622"/>
                </a:solidFill>
                <a:latin typeface="Calibri"/>
                <a:cs typeface="Calibri"/>
              </a:rPr>
              <a:t>0]</a:t>
            </a:r>
            <a:endParaRPr sz="2400">
              <a:latin typeface="Calibri"/>
              <a:cs typeface="Calibri"/>
            </a:endParaRPr>
          </a:p>
          <a:p>
            <a:pPr marL="330835">
              <a:lnSpc>
                <a:spcPct val="100000"/>
              </a:lnSpc>
              <a:spcBef>
                <a:spcPts val="1050"/>
              </a:spcBef>
              <a:tabLst>
                <a:tab pos="988060" algn="l"/>
                <a:tab pos="1644650" algn="l"/>
                <a:tab pos="3531870" algn="l"/>
              </a:tabLst>
            </a:pP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0</a:t>
            </a:r>
            <a:r>
              <a:rPr sz="1400" b="1" dirty="0">
                <a:latin typeface="Calibri"/>
                <a:cs typeface="Calibri"/>
              </a:rPr>
              <a:t>	</a:t>
            </a: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1</a:t>
            </a:r>
            <a:r>
              <a:rPr sz="1400" b="1" dirty="0">
                <a:latin typeface="Calibri"/>
                <a:cs typeface="Calibri"/>
              </a:rPr>
              <a:t>	</a:t>
            </a: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2</a:t>
            </a:r>
            <a:r>
              <a:rPr sz="1400" b="1" dirty="0">
                <a:latin typeface="Calibri"/>
                <a:cs typeface="Calibri"/>
              </a:rPr>
              <a:t>	</a:t>
            </a: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0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65116" y="568197"/>
            <a:ext cx="9728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9290" algn="l"/>
              </a:tabLst>
            </a:pP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1</a:t>
            </a:r>
            <a:r>
              <a:rPr sz="1400" b="1" dirty="0">
                <a:latin typeface="Calibri"/>
                <a:cs typeface="Calibri"/>
              </a:rPr>
              <a:t>	</a:t>
            </a: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645275" y="907033"/>
            <a:ext cx="2181225" cy="408940"/>
            <a:chOff x="6645275" y="907033"/>
            <a:chExt cx="2181225" cy="408940"/>
          </a:xfrm>
        </p:grpSpPr>
        <p:sp>
          <p:nvSpPr>
            <p:cNvPr id="20" name="object 20"/>
            <p:cNvSpPr/>
            <p:nvPr/>
          </p:nvSpPr>
          <p:spPr>
            <a:xfrm>
              <a:off x="6670675" y="919733"/>
              <a:ext cx="2130425" cy="370840"/>
            </a:xfrm>
            <a:custGeom>
              <a:avLst/>
              <a:gdLst/>
              <a:ahLst/>
              <a:cxnLst/>
              <a:rect l="l" t="t" r="r" b="b"/>
              <a:pathLst>
                <a:path w="2130425" h="370840">
                  <a:moveTo>
                    <a:pt x="710145" y="0"/>
                  </a:moveTo>
                  <a:lnTo>
                    <a:pt x="0" y="0"/>
                  </a:lnTo>
                  <a:lnTo>
                    <a:pt x="0" y="370840"/>
                  </a:lnTo>
                  <a:lnTo>
                    <a:pt x="710145" y="370840"/>
                  </a:lnTo>
                  <a:lnTo>
                    <a:pt x="710145" y="0"/>
                  </a:lnTo>
                  <a:close/>
                </a:path>
                <a:path w="2130425" h="370840">
                  <a:moveTo>
                    <a:pt x="2130387" y="0"/>
                  </a:moveTo>
                  <a:lnTo>
                    <a:pt x="1420329" y="0"/>
                  </a:lnTo>
                  <a:lnTo>
                    <a:pt x="710184" y="0"/>
                  </a:lnTo>
                  <a:lnTo>
                    <a:pt x="710184" y="370840"/>
                  </a:lnTo>
                  <a:lnTo>
                    <a:pt x="1420241" y="370840"/>
                  </a:lnTo>
                  <a:lnTo>
                    <a:pt x="2130387" y="370840"/>
                  </a:lnTo>
                  <a:lnTo>
                    <a:pt x="2130387" y="0"/>
                  </a:lnTo>
                  <a:close/>
                </a:path>
              </a:pathLst>
            </a:custGeom>
            <a:solidFill>
              <a:srgbClr val="F4B0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380858" y="91338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090916" y="91338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670675" y="91338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801100" y="91338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664325" y="919733"/>
              <a:ext cx="2143125" cy="0"/>
            </a:xfrm>
            <a:custGeom>
              <a:avLst/>
              <a:gdLst/>
              <a:ahLst/>
              <a:cxnLst/>
              <a:rect l="l" t="t" r="r" b="b"/>
              <a:pathLst>
                <a:path w="21431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664325" y="1290573"/>
              <a:ext cx="2143125" cy="0"/>
            </a:xfrm>
            <a:custGeom>
              <a:avLst/>
              <a:gdLst/>
              <a:ahLst/>
              <a:cxnLst/>
              <a:rect l="l" t="t" r="r" b="b"/>
              <a:pathLst>
                <a:path w="21431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909054" y="587502"/>
            <a:ext cx="1629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9290" algn="l"/>
                <a:tab pos="1326515" algn="l"/>
              </a:tabLst>
            </a:pP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0</a:t>
            </a:r>
            <a:r>
              <a:rPr sz="1400" b="1" dirty="0">
                <a:latin typeface="Calibri"/>
                <a:cs typeface="Calibri"/>
              </a:rPr>
              <a:t>	</a:t>
            </a: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1</a:t>
            </a:r>
            <a:r>
              <a:rPr sz="1400" b="1" dirty="0">
                <a:latin typeface="Calibri"/>
                <a:cs typeface="Calibri"/>
              </a:rPr>
              <a:t>	</a:t>
            </a: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9679305" y="907033"/>
            <a:ext cx="2181225" cy="408940"/>
            <a:chOff x="9679305" y="907033"/>
            <a:chExt cx="2181225" cy="408940"/>
          </a:xfrm>
        </p:grpSpPr>
        <p:sp>
          <p:nvSpPr>
            <p:cNvPr id="29" name="object 29"/>
            <p:cNvSpPr/>
            <p:nvPr/>
          </p:nvSpPr>
          <p:spPr>
            <a:xfrm>
              <a:off x="9704705" y="919733"/>
              <a:ext cx="2130425" cy="370840"/>
            </a:xfrm>
            <a:custGeom>
              <a:avLst/>
              <a:gdLst/>
              <a:ahLst/>
              <a:cxnLst/>
              <a:rect l="l" t="t" r="r" b="b"/>
              <a:pathLst>
                <a:path w="2130425" h="370840">
                  <a:moveTo>
                    <a:pt x="710145" y="0"/>
                  </a:moveTo>
                  <a:lnTo>
                    <a:pt x="0" y="0"/>
                  </a:lnTo>
                  <a:lnTo>
                    <a:pt x="0" y="370840"/>
                  </a:lnTo>
                  <a:lnTo>
                    <a:pt x="710145" y="370840"/>
                  </a:lnTo>
                  <a:lnTo>
                    <a:pt x="710145" y="0"/>
                  </a:lnTo>
                  <a:close/>
                </a:path>
                <a:path w="2130425" h="370840">
                  <a:moveTo>
                    <a:pt x="2130387" y="0"/>
                  </a:moveTo>
                  <a:lnTo>
                    <a:pt x="1420329" y="0"/>
                  </a:lnTo>
                  <a:lnTo>
                    <a:pt x="710184" y="0"/>
                  </a:lnTo>
                  <a:lnTo>
                    <a:pt x="710184" y="370840"/>
                  </a:lnTo>
                  <a:lnTo>
                    <a:pt x="1420241" y="370840"/>
                  </a:lnTo>
                  <a:lnTo>
                    <a:pt x="2130387" y="370840"/>
                  </a:lnTo>
                  <a:lnTo>
                    <a:pt x="2130387" y="0"/>
                  </a:lnTo>
                  <a:close/>
                </a:path>
              </a:pathLst>
            </a:custGeom>
            <a:solidFill>
              <a:srgbClr val="F4B0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414889" y="91338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1124946" y="91338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704705" y="91338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1835130" y="913383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9698355" y="919733"/>
              <a:ext cx="2143125" cy="0"/>
            </a:xfrm>
            <a:custGeom>
              <a:avLst/>
              <a:gdLst/>
              <a:ahLst/>
              <a:cxnLst/>
              <a:rect l="l" t="t" r="r" b="b"/>
              <a:pathLst>
                <a:path w="21431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698355" y="1290573"/>
              <a:ext cx="2143125" cy="0"/>
            </a:xfrm>
            <a:custGeom>
              <a:avLst/>
              <a:gdLst/>
              <a:ahLst/>
              <a:cxnLst/>
              <a:rect l="l" t="t" r="r" b="b"/>
              <a:pathLst>
                <a:path w="2143125">
                  <a:moveTo>
                    <a:pt x="0" y="0"/>
                  </a:moveTo>
                  <a:lnTo>
                    <a:pt x="2143125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9943338" y="587502"/>
            <a:ext cx="16294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69290" algn="l"/>
                <a:tab pos="1326515" algn="l"/>
              </a:tabLst>
            </a:pP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0</a:t>
            </a:r>
            <a:r>
              <a:rPr sz="1400" b="1" dirty="0">
                <a:latin typeface="Calibri"/>
                <a:cs typeface="Calibri"/>
              </a:rPr>
              <a:t>	</a:t>
            </a: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1</a:t>
            </a:r>
            <a:r>
              <a:rPr sz="1400" b="1" dirty="0">
                <a:latin typeface="Calibri"/>
                <a:cs typeface="Calibri"/>
              </a:rPr>
              <a:t>	</a:t>
            </a:r>
            <a:r>
              <a:rPr sz="1800" b="1" spc="-25" dirty="0">
                <a:latin typeface="Calibri"/>
                <a:cs typeface="Calibri"/>
              </a:rPr>
              <a:t>M</a:t>
            </a:r>
            <a:r>
              <a:rPr sz="1400" b="1" spc="-25" dirty="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88772" y="3365372"/>
            <a:ext cx="17424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265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Code</a:t>
            </a:r>
            <a:r>
              <a:rPr sz="2400" b="1" spc="-5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385622"/>
                </a:solidFill>
                <a:latin typeface="Calibri"/>
                <a:cs typeface="Calibri"/>
              </a:rPr>
              <a:t>Tree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38" name="object 3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8772" y="68960"/>
            <a:ext cx="4331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469265" algn="l"/>
              </a:tabLst>
            </a:pP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Code</a:t>
            </a:r>
            <a:r>
              <a:rPr sz="2400" b="1" spc="-7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385622"/>
                </a:solidFill>
                <a:latin typeface="Calibri"/>
                <a:cs typeface="Calibri"/>
              </a:rPr>
              <a:t>Trellis</a:t>
            </a:r>
            <a:r>
              <a:rPr sz="2400" b="1" spc="-8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and</a:t>
            </a:r>
            <a:r>
              <a:rPr sz="2400" b="1" spc="-75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85622"/>
                </a:solidFill>
                <a:latin typeface="Calibri"/>
                <a:cs typeface="Calibri"/>
              </a:rPr>
              <a:t>State</a:t>
            </a:r>
            <a:r>
              <a:rPr sz="2400" b="1" spc="-60" dirty="0">
                <a:solidFill>
                  <a:srgbClr val="385622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85622"/>
                </a:solidFill>
                <a:latin typeface="Calibri"/>
                <a:cs typeface="Calibri"/>
              </a:rPr>
              <a:t>Diagram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34581" y="860552"/>
          <a:ext cx="4337681" cy="36023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7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1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77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66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1416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Current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2641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Next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244475">
                        <a:lnSpc>
                          <a:spcPct val="100000"/>
                        </a:lnSpc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20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8A74C24-58FB-4711-B8C6-57EBD2CEF3DB}"/>
              </a:ext>
            </a:extLst>
          </p:cNvPr>
          <p:cNvCxnSpPr/>
          <p:nvPr/>
        </p:nvCxnSpPr>
        <p:spPr>
          <a:xfrm flipV="1">
            <a:off x="5257800" y="5943600"/>
            <a:ext cx="0" cy="45720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98445" y="-62357"/>
            <a:ext cx="659638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u="none" spc="-65" dirty="0">
                <a:solidFill>
                  <a:srgbClr val="006600"/>
                </a:solidFill>
                <a:latin typeface="Arial"/>
                <a:cs typeface="Arial"/>
              </a:rPr>
              <a:t>Viterbi</a:t>
            </a:r>
            <a:r>
              <a:rPr sz="6600" u="none" spc="-350" dirty="0">
                <a:solidFill>
                  <a:srgbClr val="006600"/>
                </a:solidFill>
                <a:latin typeface="Arial"/>
                <a:cs typeface="Arial"/>
              </a:rPr>
              <a:t> </a:t>
            </a:r>
            <a:r>
              <a:rPr sz="6600" u="none" spc="-114" dirty="0">
                <a:solidFill>
                  <a:srgbClr val="006600"/>
                </a:solidFill>
                <a:latin typeface="Arial"/>
                <a:cs typeface="Arial"/>
              </a:rPr>
              <a:t>Algorithm</a:t>
            </a:r>
            <a:endParaRPr sz="6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4142" y="749045"/>
            <a:ext cx="144780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Outlines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4739" y="1243710"/>
            <a:ext cx="4276090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Basics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Viterbi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Algorithm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Objective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8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Viterbi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Algorithm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Process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Viterbi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Algorithm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Example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of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Viterbi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Algorithm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Basics</a:t>
            </a:r>
            <a:r>
              <a:rPr spc="-6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Viterbi</a:t>
            </a:r>
            <a:r>
              <a:rPr spc="-50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88772" y="579501"/>
            <a:ext cx="11753215" cy="56733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lang="en-US" sz="2400" b="1" dirty="0">
                <a:solidFill>
                  <a:srgbClr val="6F2F9F"/>
                </a:solidFill>
                <a:latin typeface="Calibri"/>
                <a:cs typeface="Calibri"/>
              </a:rPr>
              <a:t>It is a maximum-likelihood decoding method for convolutional codes.</a:t>
            </a:r>
          </a:p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lang="en-US" sz="2400" b="1" dirty="0">
                <a:solidFill>
                  <a:srgbClr val="6F2F9F"/>
                </a:solidFill>
                <a:latin typeface="Calibri"/>
                <a:cs typeface="Calibri"/>
              </a:rPr>
              <a:t>A trellis diagram is used to decode the received sequence.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Objective</a:t>
            </a:r>
            <a:r>
              <a:rPr sz="3200" b="1" u="sng" spc="-7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200" b="1" u="sng" spc="-4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Viterbi</a:t>
            </a:r>
            <a:r>
              <a:rPr sz="3200" b="1" u="sng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Algorithm</a:t>
            </a:r>
            <a:endParaRPr sz="32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30"/>
              </a:spcBef>
              <a:buFont typeface="Wingdings"/>
              <a:buChar char=""/>
              <a:tabLst>
                <a:tab pos="469265" algn="l"/>
              </a:tabLst>
            </a:pPr>
            <a:r>
              <a:rPr lang="en-US" sz="2400" b="1" spc="-10" dirty="0">
                <a:solidFill>
                  <a:srgbClr val="6F2F9F"/>
                </a:solidFill>
                <a:latin typeface="Calibri"/>
                <a:cs typeface="Calibri"/>
              </a:rPr>
              <a:t>To find the most likely transmitted bit sequence by selecting the path through the trellis with the minimum path metric (distance from the received sequence)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Process</a:t>
            </a:r>
            <a:r>
              <a:rPr sz="3200" b="1" u="sng" spc="-6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of</a:t>
            </a:r>
            <a:r>
              <a:rPr sz="3200" b="1" u="sng" spc="-4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Viterbi</a:t>
            </a:r>
            <a:r>
              <a:rPr sz="3200" b="1" u="sng" spc="-55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 </a:t>
            </a:r>
            <a:r>
              <a:rPr sz="3200" b="1" u="sng" spc="-10" dirty="0">
                <a:solidFill>
                  <a:srgbClr val="843B0B"/>
                </a:solidFill>
                <a:uFill>
                  <a:solidFill>
                    <a:srgbClr val="843B0B"/>
                  </a:solidFill>
                </a:uFill>
                <a:latin typeface="Calibri"/>
                <a:cs typeface="Calibri"/>
              </a:rPr>
              <a:t>Algorithm</a:t>
            </a:r>
            <a:endParaRPr sz="3200" dirty="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2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following</a:t>
            </a:r>
            <a:r>
              <a:rPr sz="2400" b="1" spc="-7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steps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are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used</a:t>
            </a:r>
            <a:r>
              <a:rPr sz="2400" b="1" spc="-7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to</a:t>
            </a:r>
            <a:r>
              <a:rPr sz="2400" b="1" spc="-6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apply</a:t>
            </a:r>
            <a:r>
              <a:rPr sz="2400" b="1" spc="-6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spc="-4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Viterbi</a:t>
            </a:r>
            <a:r>
              <a:rPr sz="2400" b="1" spc="-5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Algorithm:</a:t>
            </a:r>
            <a:endParaRPr sz="2400" dirty="0">
              <a:latin typeface="Calibri"/>
              <a:cs typeface="Calibri"/>
            </a:endParaRP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lang="en-US" sz="2400" b="1" dirty="0">
                <a:solidFill>
                  <a:srgbClr val="006FC0"/>
                </a:solidFill>
                <a:latin typeface="Calibri"/>
                <a:cs typeface="Calibri"/>
              </a:rPr>
              <a:t>Construct the trellis diagram </a:t>
            </a:r>
            <a:r>
              <a:rPr lang="en-US" sz="2400" dirty="0">
                <a:solidFill>
                  <a:srgbClr val="006FC0"/>
                </a:solidFill>
                <a:latin typeface="Calibri"/>
                <a:cs typeface="Calibri"/>
              </a:rPr>
              <a:t>from the convolutional encoder</a:t>
            </a:r>
            <a:r>
              <a:rPr lang="en-US" sz="2400" b="1" dirty="0">
                <a:solidFill>
                  <a:srgbClr val="006FC0"/>
                </a:solidFill>
                <a:latin typeface="Calibri"/>
                <a:cs typeface="Calibri"/>
              </a:rPr>
              <a:t>.</a:t>
            </a: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lang="en-US" sz="2400" b="1" dirty="0">
                <a:solidFill>
                  <a:srgbClr val="006FC0"/>
                </a:solidFill>
                <a:latin typeface="Calibri"/>
                <a:cs typeface="Calibri"/>
              </a:rPr>
              <a:t>Initialize path metrics </a:t>
            </a:r>
            <a:r>
              <a:rPr lang="en-US" sz="2400" dirty="0">
                <a:solidFill>
                  <a:srgbClr val="006FC0"/>
                </a:solidFill>
                <a:latin typeface="Calibri"/>
                <a:cs typeface="Calibri"/>
              </a:rPr>
              <a:t>(usually zero for the starting state and infinity for others)</a:t>
            </a:r>
            <a:r>
              <a:rPr lang="en-US" sz="2400" b="1" dirty="0">
                <a:solidFill>
                  <a:srgbClr val="006FC0"/>
                </a:solidFill>
                <a:latin typeface="Calibri"/>
                <a:cs typeface="Calibri"/>
              </a:rPr>
              <a:t>.</a:t>
            </a: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lang="en-US" sz="2400" b="1" dirty="0">
                <a:solidFill>
                  <a:srgbClr val="006FC0"/>
                </a:solidFill>
                <a:latin typeface="Calibri"/>
                <a:cs typeface="Calibri"/>
              </a:rPr>
              <a:t>Compute branch metrics </a:t>
            </a:r>
            <a:r>
              <a:rPr lang="en-US" sz="2400" dirty="0">
                <a:solidFill>
                  <a:srgbClr val="006FC0"/>
                </a:solidFill>
                <a:latin typeface="Calibri"/>
                <a:cs typeface="Calibri"/>
              </a:rPr>
              <a:t>by comparing the received sequence with expected outputs</a:t>
            </a:r>
            <a:r>
              <a:rPr lang="en-US" sz="2400" b="1" dirty="0">
                <a:solidFill>
                  <a:srgbClr val="006FC0"/>
                </a:solidFill>
                <a:latin typeface="Calibri"/>
                <a:cs typeface="Calibri"/>
              </a:rPr>
              <a:t>.</a:t>
            </a: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lang="en-US" sz="2400" b="1" dirty="0">
                <a:solidFill>
                  <a:srgbClr val="006FC0"/>
                </a:solidFill>
                <a:latin typeface="Calibri"/>
                <a:cs typeface="Calibri"/>
              </a:rPr>
              <a:t>Update path metrics for each state </a:t>
            </a:r>
            <a:r>
              <a:rPr lang="en-US" sz="2400" dirty="0">
                <a:solidFill>
                  <a:srgbClr val="006FC0"/>
                </a:solidFill>
                <a:latin typeface="Calibri"/>
                <a:cs typeface="Calibri"/>
              </a:rPr>
              <a:t>(Add–Compare–Select operation).</a:t>
            </a: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lang="en-US" sz="2400" b="1" dirty="0">
                <a:solidFill>
                  <a:srgbClr val="006FC0"/>
                </a:solidFill>
                <a:latin typeface="Calibri"/>
                <a:cs typeface="Calibri"/>
              </a:rPr>
              <a:t>Store survivor paths for each state.</a:t>
            </a: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lang="en-US" sz="2400" b="1" dirty="0">
                <a:solidFill>
                  <a:srgbClr val="006FC0"/>
                </a:solidFill>
                <a:latin typeface="Calibri"/>
                <a:cs typeface="Calibri"/>
              </a:rPr>
              <a:t>Trace back through the trellis </a:t>
            </a:r>
            <a:r>
              <a:rPr lang="en-US" sz="2400" dirty="0">
                <a:solidFill>
                  <a:srgbClr val="006FC0"/>
                </a:solidFill>
                <a:latin typeface="Calibri"/>
                <a:cs typeface="Calibri"/>
              </a:rPr>
              <a:t>to obtain the decoded sequence</a:t>
            </a:r>
            <a:r>
              <a:rPr lang="en-US" sz="2400" b="1" dirty="0">
                <a:solidFill>
                  <a:srgbClr val="006FC0"/>
                </a:solidFill>
                <a:latin typeface="Calibri"/>
                <a:cs typeface="Calibri"/>
              </a:rPr>
              <a:t>.</a:t>
            </a:r>
          </a:p>
          <a:p>
            <a:pPr marL="926465" lvl="1" indent="-456565">
              <a:lnSpc>
                <a:spcPct val="100000"/>
              </a:lnSpc>
              <a:buFont typeface="Wingdings"/>
              <a:buChar char=""/>
              <a:tabLst>
                <a:tab pos="926465" algn="l"/>
              </a:tabLst>
            </a:pPr>
            <a:r>
              <a:rPr lang="en-US" sz="2400" b="1" dirty="0">
                <a:solidFill>
                  <a:srgbClr val="006FC0"/>
                </a:solidFill>
                <a:latin typeface="Calibri"/>
                <a:cs typeface="Calibri"/>
              </a:rPr>
              <a:t>Select the path with minimum total metric </a:t>
            </a:r>
            <a:r>
              <a:rPr lang="en-US" sz="2400" dirty="0">
                <a:solidFill>
                  <a:srgbClr val="006FC0"/>
                </a:solidFill>
                <a:latin typeface="Calibri"/>
                <a:cs typeface="Calibri"/>
              </a:rPr>
              <a:t>as the most likely transmitted sequence</a:t>
            </a:r>
            <a:r>
              <a:rPr lang="en-US" sz="2400" b="1" dirty="0">
                <a:solidFill>
                  <a:srgbClr val="006FC0"/>
                </a:solidFill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Example</a:t>
            </a:r>
            <a:r>
              <a:rPr spc="-80" dirty="0"/>
              <a:t> </a:t>
            </a:r>
            <a:r>
              <a:rPr dirty="0"/>
              <a:t>of</a:t>
            </a:r>
            <a:r>
              <a:rPr spc="-70" dirty="0"/>
              <a:t> </a:t>
            </a:r>
            <a:r>
              <a:rPr dirty="0"/>
              <a:t>Viterbi</a:t>
            </a:r>
            <a:r>
              <a:rPr spc="-85" dirty="0"/>
              <a:t> </a:t>
            </a:r>
            <a:r>
              <a:rPr spc="-10" dirty="0"/>
              <a:t>Algorithm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76148" y="1655952"/>
          <a:ext cx="3543300" cy="370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1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2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3856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926585" y="1817497"/>
            <a:ext cx="923290" cy="85725"/>
          </a:xfrm>
          <a:custGeom>
            <a:avLst/>
            <a:gdLst/>
            <a:ahLst/>
            <a:cxnLst/>
            <a:rect l="l" t="t" r="r" b="b"/>
            <a:pathLst>
              <a:path w="923289" h="85725">
                <a:moveTo>
                  <a:pt x="85724" y="0"/>
                </a:moveTo>
                <a:lnTo>
                  <a:pt x="0" y="42926"/>
                </a:lnTo>
                <a:lnTo>
                  <a:pt x="85724" y="85725"/>
                </a:lnTo>
                <a:lnTo>
                  <a:pt x="85724" y="57150"/>
                </a:lnTo>
                <a:lnTo>
                  <a:pt x="71373" y="57150"/>
                </a:lnTo>
                <a:lnTo>
                  <a:pt x="71373" y="28575"/>
                </a:lnTo>
                <a:lnTo>
                  <a:pt x="85724" y="28575"/>
                </a:lnTo>
                <a:lnTo>
                  <a:pt x="85724" y="0"/>
                </a:lnTo>
                <a:close/>
              </a:path>
              <a:path w="923289" h="85725">
                <a:moveTo>
                  <a:pt x="85724" y="28575"/>
                </a:moveTo>
                <a:lnTo>
                  <a:pt x="71373" y="28575"/>
                </a:lnTo>
                <a:lnTo>
                  <a:pt x="71373" y="57150"/>
                </a:lnTo>
                <a:lnTo>
                  <a:pt x="85724" y="57150"/>
                </a:lnTo>
                <a:lnTo>
                  <a:pt x="85724" y="28575"/>
                </a:lnTo>
                <a:close/>
              </a:path>
              <a:path w="923289" h="85725">
                <a:moveTo>
                  <a:pt x="923289" y="28575"/>
                </a:moveTo>
                <a:lnTo>
                  <a:pt x="85724" y="28575"/>
                </a:lnTo>
                <a:lnTo>
                  <a:pt x="85724" y="57150"/>
                </a:lnTo>
                <a:lnTo>
                  <a:pt x="923289" y="57150"/>
                </a:lnTo>
                <a:lnTo>
                  <a:pt x="923289" y="28575"/>
                </a:lnTo>
                <a:close/>
              </a:path>
            </a:pathLst>
          </a:custGeom>
          <a:solidFill>
            <a:srgbClr val="4471C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88772" y="579501"/>
            <a:ext cx="11756390" cy="1415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900" algn="l"/>
                <a:tab pos="1781810" algn="l"/>
                <a:tab pos="2915920" algn="l"/>
                <a:tab pos="3491865" algn="l"/>
                <a:tab pos="4732655" algn="l"/>
                <a:tab pos="5448935" algn="l"/>
                <a:tab pos="6270625" algn="l"/>
                <a:tab pos="6847205" algn="l"/>
                <a:tab pos="7855584" algn="l"/>
                <a:tab pos="9274810" algn="l"/>
                <a:tab pos="9598025" algn="l"/>
                <a:tab pos="10172700" algn="l"/>
                <a:tab pos="11399520" algn="l"/>
              </a:tabLst>
            </a:pP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Example: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Identify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decoded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data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using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Viterbi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Algorithm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if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10" dirty="0">
                <a:solidFill>
                  <a:srgbClr val="6F2F9F"/>
                </a:solidFill>
                <a:latin typeface="Calibri"/>
                <a:cs typeface="Calibri"/>
              </a:rPr>
              <a:t>received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	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bit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sequence</a:t>
            </a:r>
            <a:r>
              <a:rPr sz="2400" b="1" spc="-2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is</a:t>
            </a:r>
            <a:r>
              <a:rPr sz="2400" b="1" spc="-3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01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10</a:t>
            </a:r>
            <a:r>
              <a:rPr sz="2400" b="1" spc="-35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11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6F2F9F"/>
                </a:solidFill>
                <a:latin typeface="Calibri"/>
                <a:cs typeface="Calibri"/>
              </a:rPr>
              <a:t>00</a:t>
            </a:r>
            <a:r>
              <a:rPr sz="2400" b="1" spc="-40" dirty="0">
                <a:solidFill>
                  <a:srgbClr val="6F2F9F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6F2F9F"/>
                </a:solidFill>
                <a:latin typeface="Calibri"/>
                <a:cs typeface="Calibri"/>
              </a:rPr>
              <a:t>00.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2400">
              <a:latin typeface="Calibri"/>
              <a:cs typeface="Calibri"/>
            </a:endParaRPr>
          </a:p>
          <a:p>
            <a:pPr marR="1702435" algn="ctr">
              <a:lnSpc>
                <a:spcPct val="100000"/>
              </a:lnSpc>
            </a:pPr>
            <a:r>
              <a:rPr sz="1800" b="1" spc="-10" dirty="0">
                <a:latin typeface="Calibri"/>
                <a:cs typeface="Calibri"/>
              </a:rPr>
              <a:t>Input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745820" y="2033397"/>
            <a:ext cx="2846705" cy="2198370"/>
            <a:chOff x="745820" y="2033397"/>
            <a:chExt cx="2846705" cy="219837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0107" y="3218052"/>
              <a:ext cx="487083" cy="48882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60107" y="3218052"/>
              <a:ext cx="487680" cy="488950"/>
            </a:xfrm>
            <a:custGeom>
              <a:avLst/>
              <a:gdLst/>
              <a:ahLst/>
              <a:cxnLst/>
              <a:rect l="l" t="t" r="r" b="b"/>
              <a:pathLst>
                <a:path w="487680" h="488950">
                  <a:moveTo>
                    <a:pt x="0" y="244475"/>
                  </a:moveTo>
                  <a:lnTo>
                    <a:pt x="4948" y="195210"/>
                  </a:lnTo>
                  <a:lnTo>
                    <a:pt x="19139" y="149322"/>
                  </a:lnTo>
                  <a:lnTo>
                    <a:pt x="41594" y="107794"/>
                  </a:lnTo>
                  <a:lnTo>
                    <a:pt x="71334" y="71612"/>
                  </a:lnTo>
                  <a:lnTo>
                    <a:pt x="107378" y="41757"/>
                  </a:lnTo>
                  <a:lnTo>
                    <a:pt x="148748" y="19214"/>
                  </a:lnTo>
                  <a:lnTo>
                    <a:pt x="194465" y="4967"/>
                  </a:lnTo>
                  <a:lnTo>
                    <a:pt x="243547" y="0"/>
                  </a:lnTo>
                  <a:lnTo>
                    <a:pt x="292630" y="4967"/>
                  </a:lnTo>
                  <a:lnTo>
                    <a:pt x="338344" y="19214"/>
                  </a:lnTo>
                  <a:lnTo>
                    <a:pt x="379712" y="41757"/>
                  </a:lnTo>
                  <a:lnTo>
                    <a:pt x="415755" y="71612"/>
                  </a:lnTo>
                  <a:lnTo>
                    <a:pt x="445492" y="107794"/>
                  </a:lnTo>
                  <a:lnTo>
                    <a:pt x="467945" y="149322"/>
                  </a:lnTo>
                  <a:lnTo>
                    <a:pt x="482135" y="195210"/>
                  </a:lnTo>
                  <a:lnTo>
                    <a:pt x="487083" y="244475"/>
                  </a:lnTo>
                  <a:lnTo>
                    <a:pt x="482135" y="293734"/>
                  </a:lnTo>
                  <a:lnTo>
                    <a:pt x="467945" y="339607"/>
                  </a:lnTo>
                  <a:lnTo>
                    <a:pt x="445492" y="381114"/>
                  </a:lnTo>
                  <a:lnTo>
                    <a:pt x="415755" y="417274"/>
                  </a:lnTo>
                  <a:lnTo>
                    <a:pt x="379712" y="447105"/>
                  </a:lnTo>
                  <a:lnTo>
                    <a:pt x="338344" y="469628"/>
                  </a:lnTo>
                  <a:lnTo>
                    <a:pt x="292630" y="483860"/>
                  </a:lnTo>
                  <a:lnTo>
                    <a:pt x="243547" y="488822"/>
                  </a:lnTo>
                  <a:lnTo>
                    <a:pt x="194465" y="483860"/>
                  </a:lnTo>
                  <a:lnTo>
                    <a:pt x="148748" y="469628"/>
                  </a:lnTo>
                  <a:lnTo>
                    <a:pt x="107378" y="447105"/>
                  </a:lnTo>
                  <a:lnTo>
                    <a:pt x="71334" y="417274"/>
                  </a:lnTo>
                  <a:lnTo>
                    <a:pt x="41594" y="381114"/>
                  </a:lnTo>
                  <a:lnTo>
                    <a:pt x="19139" y="339607"/>
                  </a:lnTo>
                  <a:lnTo>
                    <a:pt x="4948" y="293734"/>
                  </a:lnTo>
                  <a:lnTo>
                    <a:pt x="0" y="244475"/>
                  </a:lnTo>
                  <a:close/>
                </a:path>
                <a:path w="487680" h="488950">
                  <a:moveTo>
                    <a:pt x="0" y="244475"/>
                  </a:moveTo>
                  <a:lnTo>
                    <a:pt x="487083" y="244475"/>
                  </a:lnTo>
                </a:path>
              </a:pathLst>
            </a:custGeom>
            <a:ln w="28575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3655" y="3218052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h="488950">
                  <a:moveTo>
                    <a:pt x="0" y="488823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0926" y="3218052"/>
              <a:ext cx="487045" cy="48882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090926" y="3218052"/>
              <a:ext cx="487045" cy="488950"/>
            </a:xfrm>
            <a:custGeom>
              <a:avLst/>
              <a:gdLst/>
              <a:ahLst/>
              <a:cxnLst/>
              <a:rect l="l" t="t" r="r" b="b"/>
              <a:pathLst>
                <a:path w="487045" h="488950">
                  <a:moveTo>
                    <a:pt x="0" y="244475"/>
                  </a:moveTo>
                  <a:lnTo>
                    <a:pt x="4950" y="195210"/>
                  </a:lnTo>
                  <a:lnTo>
                    <a:pt x="19147" y="149322"/>
                  </a:lnTo>
                  <a:lnTo>
                    <a:pt x="41610" y="107794"/>
                  </a:lnTo>
                  <a:lnTo>
                    <a:pt x="71358" y="71612"/>
                  </a:lnTo>
                  <a:lnTo>
                    <a:pt x="107410" y="41757"/>
                  </a:lnTo>
                  <a:lnTo>
                    <a:pt x="148786" y="19214"/>
                  </a:lnTo>
                  <a:lnTo>
                    <a:pt x="194505" y="4967"/>
                  </a:lnTo>
                  <a:lnTo>
                    <a:pt x="243586" y="0"/>
                  </a:lnTo>
                  <a:lnTo>
                    <a:pt x="292661" y="4967"/>
                  </a:lnTo>
                  <a:lnTo>
                    <a:pt x="338365" y="19214"/>
                  </a:lnTo>
                  <a:lnTo>
                    <a:pt x="379721" y="41757"/>
                  </a:lnTo>
                  <a:lnTo>
                    <a:pt x="415750" y="71612"/>
                  </a:lnTo>
                  <a:lnTo>
                    <a:pt x="445475" y="107794"/>
                  </a:lnTo>
                  <a:lnTo>
                    <a:pt x="467917" y="149322"/>
                  </a:lnTo>
                  <a:lnTo>
                    <a:pt x="482100" y="195210"/>
                  </a:lnTo>
                  <a:lnTo>
                    <a:pt x="487045" y="244475"/>
                  </a:lnTo>
                  <a:lnTo>
                    <a:pt x="482100" y="293734"/>
                  </a:lnTo>
                  <a:lnTo>
                    <a:pt x="467917" y="339607"/>
                  </a:lnTo>
                  <a:lnTo>
                    <a:pt x="445475" y="381114"/>
                  </a:lnTo>
                  <a:lnTo>
                    <a:pt x="415750" y="417274"/>
                  </a:lnTo>
                  <a:lnTo>
                    <a:pt x="379721" y="447105"/>
                  </a:lnTo>
                  <a:lnTo>
                    <a:pt x="338365" y="469628"/>
                  </a:lnTo>
                  <a:lnTo>
                    <a:pt x="292661" y="483860"/>
                  </a:lnTo>
                  <a:lnTo>
                    <a:pt x="243586" y="488822"/>
                  </a:lnTo>
                  <a:lnTo>
                    <a:pt x="194505" y="483860"/>
                  </a:lnTo>
                  <a:lnTo>
                    <a:pt x="148786" y="469628"/>
                  </a:lnTo>
                  <a:lnTo>
                    <a:pt x="107410" y="447105"/>
                  </a:lnTo>
                  <a:lnTo>
                    <a:pt x="71358" y="417274"/>
                  </a:lnTo>
                  <a:lnTo>
                    <a:pt x="41610" y="381114"/>
                  </a:lnTo>
                  <a:lnTo>
                    <a:pt x="19147" y="339607"/>
                  </a:lnTo>
                  <a:lnTo>
                    <a:pt x="4950" y="293734"/>
                  </a:lnTo>
                  <a:lnTo>
                    <a:pt x="0" y="244475"/>
                  </a:lnTo>
                  <a:close/>
                </a:path>
                <a:path w="487045" h="488950">
                  <a:moveTo>
                    <a:pt x="0" y="244475"/>
                  </a:moveTo>
                  <a:lnTo>
                    <a:pt x="487045" y="244475"/>
                  </a:lnTo>
                </a:path>
              </a:pathLst>
            </a:custGeom>
            <a:ln w="28575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334512" y="3218052"/>
              <a:ext cx="0" cy="488950"/>
            </a:xfrm>
            <a:custGeom>
              <a:avLst/>
              <a:gdLst/>
              <a:ahLst/>
              <a:cxnLst/>
              <a:rect l="l" t="t" r="r" b="b"/>
              <a:pathLst>
                <a:path h="488950">
                  <a:moveTo>
                    <a:pt x="0" y="488823"/>
                  </a:moveTo>
                  <a:lnTo>
                    <a:pt x="0" y="0"/>
                  </a:lnTo>
                </a:path>
              </a:pathLst>
            </a:custGeom>
            <a:ln w="28575">
              <a:solidFill>
                <a:srgbClr val="38562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60793" y="2033396"/>
              <a:ext cx="2416810" cy="2198370"/>
            </a:xfrm>
            <a:custGeom>
              <a:avLst/>
              <a:gdLst/>
              <a:ahLst/>
              <a:cxnLst/>
              <a:rect l="l" t="t" r="r" b="b"/>
              <a:pathLst>
                <a:path w="2416810" h="2198370">
                  <a:moveTo>
                    <a:pt x="85725" y="2112264"/>
                  </a:moveTo>
                  <a:lnTo>
                    <a:pt x="57150" y="2112264"/>
                  </a:lnTo>
                  <a:lnTo>
                    <a:pt x="57150" y="1673479"/>
                  </a:lnTo>
                  <a:lnTo>
                    <a:pt x="28575" y="1673479"/>
                  </a:lnTo>
                  <a:lnTo>
                    <a:pt x="28575" y="2112264"/>
                  </a:lnTo>
                  <a:lnTo>
                    <a:pt x="0" y="2112264"/>
                  </a:lnTo>
                  <a:lnTo>
                    <a:pt x="42862" y="2197989"/>
                  </a:lnTo>
                  <a:lnTo>
                    <a:pt x="78613" y="2126488"/>
                  </a:lnTo>
                  <a:lnTo>
                    <a:pt x="85725" y="2112264"/>
                  </a:lnTo>
                  <a:close/>
                </a:path>
                <a:path w="2416810" h="2198370">
                  <a:moveTo>
                    <a:pt x="2416518" y="2112264"/>
                  </a:moveTo>
                  <a:lnTo>
                    <a:pt x="2387943" y="2112264"/>
                  </a:lnTo>
                  <a:lnTo>
                    <a:pt x="2387943" y="1673479"/>
                  </a:lnTo>
                  <a:lnTo>
                    <a:pt x="2359368" y="1673479"/>
                  </a:lnTo>
                  <a:lnTo>
                    <a:pt x="2359368" y="2112264"/>
                  </a:lnTo>
                  <a:lnTo>
                    <a:pt x="2330793" y="2112264"/>
                  </a:lnTo>
                  <a:lnTo>
                    <a:pt x="2373719" y="2197989"/>
                  </a:lnTo>
                  <a:lnTo>
                    <a:pt x="2409406" y="2126488"/>
                  </a:lnTo>
                  <a:lnTo>
                    <a:pt x="2416518" y="2112264"/>
                  </a:lnTo>
                  <a:close/>
                </a:path>
                <a:path w="2416810" h="2198370">
                  <a:moveTo>
                    <a:pt x="2416518" y="1098931"/>
                  </a:moveTo>
                  <a:lnTo>
                    <a:pt x="2387943" y="1098931"/>
                  </a:lnTo>
                  <a:lnTo>
                    <a:pt x="2387943" y="12446"/>
                  </a:lnTo>
                  <a:lnTo>
                    <a:pt x="2359368" y="12446"/>
                  </a:lnTo>
                  <a:lnTo>
                    <a:pt x="2359368" y="14401"/>
                  </a:lnTo>
                  <a:lnTo>
                    <a:pt x="2349970" y="635"/>
                  </a:lnTo>
                  <a:lnTo>
                    <a:pt x="1300289" y="718413"/>
                  </a:lnTo>
                  <a:lnTo>
                    <a:pt x="857808" y="462407"/>
                  </a:lnTo>
                  <a:lnTo>
                    <a:pt x="1204937" y="21209"/>
                  </a:lnTo>
                  <a:lnTo>
                    <a:pt x="1182458" y="3556"/>
                  </a:lnTo>
                  <a:lnTo>
                    <a:pt x="832815" y="447954"/>
                  </a:lnTo>
                  <a:lnTo>
                    <a:pt x="58585" y="0"/>
                  </a:lnTo>
                  <a:lnTo>
                    <a:pt x="51384" y="12446"/>
                  </a:lnTo>
                  <a:lnTo>
                    <a:pt x="37147" y="12446"/>
                  </a:lnTo>
                  <a:lnTo>
                    <a:pt x="37147" y="1098931"/>
                  </a:lnTo>
                  <a:lnTo>
                    <a:pt x="8572" y="1098931"/>
                  </a:lnTo>
                  <a:lnTo>
                    <a:pt x="51435" y="1184656"/>
                  </a:lnTo>
                  <a:lnTo>
                    <a:pt x="87185" y="1113155"/>
                  </a:lnTo>
                  <a:lnTo>
                    <a:pt x="94297" y="1098931"/>
                  </a:lnTo>
                  <a:lnTo>
                    <a:pt x="65722" y="1098931"/>
                  </a:lnTo>
                  <a:lnTo>
                    <a:pt x="65722" y="37185"/>
                  </a:lnTo>
                  <a:lnTo>
                    <a:pt x="814984" y="470623"/>
                  </a:lnTo>
                  <a:lnTo>
                    <a:pt x="256857" y="1180007"/>
                  </a:lnTo>
                  <a:lnTo>
                    <a:pt x="234391" y="1162304"/>
                  </a:lnTo>
                  <a:lnTo>
                    <a:pt x="215061" y="1256284"/>
                  </a:lnTo>
                  <a:lnTo>
                    <a:pt x="301764" y="1215390"/>
                  </a:lnTo>
                  <a:lnTo>
                    <a:pt x="293535" y="1208913"/>
                  </a:lnTo>
                  <a:lnTo>
                    <a:pt x="279298" y="1197698"/>
                  </a:lnTo>
                  <a:lnTo>
                    <a:pt x="839978" y="485076"/>
                  </a:lnTo>
                  <a:lnTo>
                    <a:pt x="1274191" y="736269"/>
                  </a:lnTo>
                  <a:lnTo>
                    <a:pt x="349059" y="1368869"/>
                  </a:lnTo>
                  <a:lnTo>
                    <a:pt x="332955" y="1345311"/>
                  </a:lnTo>
                  <a:lnTo>
                    <a:pt x="286397" y="1429131"/>
                  </a:lnTo>
                  <a:lnTo>
                    <a:pt x="381342" y="1416050"/>
                  </a:lnTo>
                  <a:lnTo>
                    <a:pt x="370738" y="1400556"/>
                  </a:lnTo>
                  <a:lnTo>
                    <a:pt x="365213" y="1392478"/>
                  </a:lnTo>
                  <a:lnTo>
                    <a:pt x="1301635" y="752144"/>
                  </a:lnTo>
                  <a:lnTo>
                    <a:pt x="2120100" y="1225600"/>
                  </a:lnTo>
                  <a:lnTo>
                    <a:pt x="2105749" y="1250442"/>
                  </a:lnTo>
                  <a:lnTo>
                    <a:pt x="2201507" y="1256284"/>
                  </a:lnTo>
                  <a:lnTo>
                    <a:pt x="2186013" y="1232789"/>
                  </a:lnTo>
                  <a:lnTo>
                    <a:pt x="2148675" y="1176147"/>
                  </a:lnTo>
                  <a:lnTo>
                    <a:pt x="2134336" y="1200962"/>
                  </a:lnTo>
                  <a:lnTo>
                    <a:pt x="1327734" y="734301"/>
                  </a:lnTo>
                  <a:lnTo>
                    <a:pt x="2359368" y="28867"/>
                  </a:lnTo>
                  <a:lnTo>
                    <a:pt x="2359368" y="1098931"/>
                  </a:lnTo>
                  <a:lnTo>
                    <a:pt x="2330793" y="1098931"/>
                  </a:lnTo>
                  <a:lnTo>
                    <a:pt x="2373719" y="1184656"/>
                  </a:lnTo>
                  <a:lnTo>
                    <a:pt x="2409406" y="1113155"/>
                  </a:lnTo>
                  <a:lnTo>
                    <a:pt x="2416518" y="1098931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77011" y="4224273"/>
            <a:ext cx="242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X</a:t>
            </a:r>
            <a:r>
              <a:rPr sz="1400" b="1" spc="-25" dirty="0"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12338" y="4224273"/>
            <a:ext cx="2425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X</a:t>
            </a:r>
            <a:r>
              <a:rPr sz="1400" b="1" spc="-25" dirty="0"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64919" y="4224273"/>
            <a:ext cx="799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Calibri"/>
                <a:cs typeface="Calibri"/>
              </a:rPr>
              <a:t>Outputs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5847460" y="1072769"/>
          <a:ext cx="4344033" cy="35642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3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89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90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77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3944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116839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X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Current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26479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Next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2444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State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4E2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BF0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8" name="object 18"/>
          <p:cNvGrpSpPr/>
          <p:nvPr/>
        </p:nvGrpSpPr>
        <p:grpSpPr>
          <a:xfrm>
            <a:off x="4499864" y="4920996"/>
            <a:ext cx="1757680" cy="1790064"/>
            <a:chOff x="4499864" y="4920996"/>
            <a:chExt cx="1757680" cy="1790064"/>
          </a:xfrm>
        </p:grpSpPr>
        <p:sp>
          <p:nvSpPr>
            <p:cNvPr id="19" name="object 19"/>
            <p:cNvSpPr/>
            <p:nvPr/>
          </p:nvSpPr>
          <p:spPr>
            <a:xfrm>
              <a:off x="4525264" y="4933696"/>
              <a:ext cx="1706245" cy="370840"/>
            </a:xfrm>
            <a:custGeom>
              <a:avLst/>
              <a:gdLst/>
              <a:ahLst/>
              <a:cxnLst/>
              <a:rect l="l" t="t" r="r" b="b"/>
              <a:pathLst>
                <a:path w="1706245" h="370839">
                  <a:moveTo>
                    <a:pt x="1706244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706244" y="370839"/>
                  </a:lnTo>
                  <a:lnTo>
                    <a:pt x="1706244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25264" y="4927346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3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31636" y="4927346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3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18914" y="4933696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79">
                  <a:moveTo>
                    <a:pt x="0" y="0"/>
                  </a:moveTo>
                  <a:lnTo>
                    <a:pt x="171907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18914" y="5304536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79">
                  <a:moveTo>
                    <a:pt x="0" y="0"/>
                  </a:moveTo>
                  <a:lnTo>
                    <a:pt x="1719072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5264" y="5397246"/>
              <a:ext cx="1706245" cy="370840"/>
            </a:xfrm>
            <a:custGeom>
              <a:avLst/>
              <a:gdLst/>
              <a:ahLst/>
              <a:cxnLst/>
              <a:rect l="l" t="t" r="r" b="b"/>
              <a:pathLst>
                <a:path w="1706245" h="370839">
                  <a:moveTo>
                    <a:pt x="1706244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706244" y="370839"/>
                  </a:lnTo>
                  <a:lnTo>
                    <a:pt x="1706244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5264" y="5390896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3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231636" y="5390896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3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18914" y="5397246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79">
                  <a:moveTo>
                    <a:pt x="0" y="0"/>
                  </a:moveTo>
                  <a:lnTo>
                    <a:pt x="171907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18914" y="5768086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79">
                  <a:moveTo>
                    <a:pt x="0" y="0"/>
                  </a:moveTo>
                  <a:lnTo>
                    <a:pt x="1719072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25264" y="5846330"/>
              <a:ext cx="1706245" cy="370840"/>
            </a:xfrm>
            <a:custGeom>
              <a:avLst/>
              <a:gdLst/>
              <a:ahLst/>
              <a:cxnLst/>
              <a:rect l="l" t="t" r="r" b="b"/>
              <a:pathLst>
                <a:path w="1706245" h="370839">
                  <a:moveTo>
                    <a:pt x="1706244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706244" y="370839"/>
                  </a:lnTo>
                  <a:lnTo>
                    <a:pt x="1706244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25264" y="5839980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3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231636" y="5839980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39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518914" y="5846330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79">
                  <a:moveTo>
                    <a:pt x="0" y="0"/>
                  </a:moveTo>
                  <a:lnTo>
                    <a:pt x="171907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18914" y="6217170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79">
                  <a:moveTo>
                    <a:pt x="0" y="0"/>
                  </a:moveTo>
                  <a:lnTo>
                    <a:pt x="1719072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25264" y="6314465"/>
              <a:ext cx="1706245" cy="370840"/>
            </a:xfrm>
            <a:custGeom>
              <a:avLst/>
              <a:gdLst/>
              <a:ahLst/>
              <a:cxnLst/>
              <a:rect l="l" t="t" r="r" b="b"/>
              <a:pathLst>
                <a:path w="1706245" h="370840">
                  <a:moveTo>
                    <a:pt x="1706244" y="0"/>
                  </a:moveTo>
                  <a:lnTo>
                    <a:pt x="0" y="0"/>
                  </a:lnTo>
                  <a:lnTo>
                    <a:pt x="0" y="370840"/>
                  </a:lnTo>
                  <a:lnTo>
                    <a:pt x="1706244" y="370840"/>
                  </a:lnTo>
                  <a:lnTo>
                    <a:pt x="1706244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25264" y="6308115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231636" y="6308115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18914" y="6314465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79">
                  <a:moveTo>
                    <a:pt x="0" y="0"/>
                  </a:moveTo>
                  <a:lnTo>
                    <a:pt x="1719072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18914" y="6685305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79">
                  <a:moveTo>
                    <a:pt x="0" y="0"/>
                  </a:moveTo>
                  <a:lnTo>
                    <a:pt x="1719072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531614" y="4952187"/>
            <a:ext cx="1694180" cy="168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16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r>
              <a:rPr sz="1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[00]</a:t>
            </a:r>
            <a:endParaRPr sz="1800">
              <a:latin typeface="Calibri"/>
              <a:cs typeface="Calibri"/>
            </a:endParaRPr>
          </a:p>
          <a:p>
            <a:pPr marL="299720">
              <a:lnSpc>
                <a:spcPct val="100000"/>
              </a:lnSpc>
              <a:spcBef>
                <a:spcPts val="1495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[01]</a:t>
            </a:r>
            <a:endParaRPr sz="1800">
              <a:latin typeface="Calibri"/>
              <a:cs typeface="Calibri"/>
            </a:endParaRPr>
          </a:p>
          <a:p>
            <a:pPr marL="313055">
              <a:lnSpc>
                <a:spcPct val="100000"/>
              </a:lnSpc>
              <a:spcBef>
                <a:spcPts val="1375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r>
              <a:rPr sz="1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[10]</a:t>
            </a:r>
            <a:endParaRPr sz="1800">
              <a:latin typeface="Calibri"/>
              <a:cs typeface="Calibri"/>
            </a:endParaRPr>
          </a:p>
          <a:p>
            <a:pPr marL="299720">
              <a:lnSpc>
                <a:spcPct val="100000"/>
              </a:lnSpc>
              <a:spcBef>
                <a:spcPts val="153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[11]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92951" y="5012690"/>
              <a:ext cx="233172" cy="21272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89776" y="5009515"/>
              <a:ext cx="239522" cy="21907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92951" y="5476366"/>
              <a:ext cx="233172" cy="212623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89776" y="5473191"/>
              <a:ext cx="239522" cy="21897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92951" y="5925413"/>
              <a:ext cx="233172" cy="212674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89776" y="5922238"/>
              <a:ext cx="239522" cy="219024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592951" y="6353568"/>
              <a:ext cx="233172" cy="212661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589776" y="6350393"/>
              <a:ext cx="239522" cy="219011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432802" y="5012690"/>
              <a:ext cx="233045" cy="21272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429627" y="5009515"/>
              <a:ext cx="239395" cy="219075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432802" y="5476366"/>
              <a:ext cx="233045" cy="212623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29627" y="5473191"/>
              <a:ext cx="239395" cy="218973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432802" y="5925413"/>
              <a:ext cx="233045" cy="21267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429627" y="5922238"/>
              <a:ext cx="239395" cy="219024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432802" y="6353568"/>
              <a:ext cx="233045" cy="212661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429627" y="6350393"/>
              <a:ext cx="239395" cy="219011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310626" y="5012690"/>
              <a:ext cx="233045" cy="212725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307451" y="5009515"/>
              <a:ext cx="239395" cy="219075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310626" y="5476366"/>
              <a:ext cx="233045" cy="212623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307451" y="5473191"/>
              <a:ext cx="239395" cy="218973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310626" y="5925413"/>
              <a:ext cx="233045" cy="212674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307451" y="5922238"/>
              <a:ext cx="239395" cy="219024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310626" y="6353568"/>
              <a:ext cx="233045" cy="212661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307451" y="6350393"/>
              <a:ext cx="239395" cy="219011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223375" y="5012690"/>
              <a:ext cx="233045" cy="21272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220200" y="5009515"/>
              <a:ext cx="239395" cy="219075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223375" y="5476366"/>
              <a:ext cx="233045" cy="212623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220200" y="5473191"/>
              <a:ext cx="239395" cy="218973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223375" y="5925413"/>
              <a:ext cx="233045" cy="212674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220200" y="5922238"/>
              <a:ext cx="239395" cy="219024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223375" y="6353568"/>
              <a:ext cx="233045" cy="212661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220200" y="6350393"/>
              <a:ext cx="239395" cy="219011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0063226" y="5012690"/>
              <a:ext cx="233045" cy="212725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0060051" y="5009515"/>
              <a:ext cx="239395" cy="219075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063226" y="5476366"/>
              <a:ext cx="233045" cy="212623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0060051" y="5473191"/>
              <a:ext cx="239395" cy="218973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063226" y="5925413"/>
              <a:ext cx="233045" cy="212674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0060051" y="5922238"/>
              <a:ext cx="239395" cy="219024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063226" y="6353568"/>
              <a:ext cx="233045" cy="212661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0060051" y="6350393"/>
              <a:ext cx="239395" cy="219011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941050" y="5012690"/>
              <a:ext cx="233045" cy="212725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0937875" y="5009515"/>
              <a:ext cx="239395" cy="219075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941050" y="5476366"/>
              <a:ext cx="233045" cy="212623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0937875" y="5473191"/>
              <a:ext cx="239395" cy="218973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0941050" y="5925413"/>
              <a:ext cx="233045" cy="212674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0937875" y="5922238"/>
              <a:ext cx="239395" cy="219024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0941050" y="6353568"/>
              <a:ext cx="233045" cy="212661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0937875" y="6350393"/>
              <a:ext cx="239395" cy="219011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10883" y="312547"/>
            <a:ext cx="1757680" cy="408940"/>
            <a:chOff x="410883" y="312547"/>
            <a:chExt cx="1757680" cy="408940"/>
          </a:xfrm>
        </p:grpSpPr>
        <p:sp>
          <p:nvSpPr>
            <p:cNvPr id="3" name="object 3"/>
            <p:cNvSpPr/>
            <p:nvPr/>
          </p:nvSpPr>
          <p:spPr>
            <a:xfrm>
              <a:off x="436283" y="325247"/>
              <a:ext cx="1706245" cy="370840"/>
            </a:xfrm>
            <a:custGeom>
              <a:avLst/>
              <a:gdLst/>
              <a:ahLst/>
              <a:cxnLst/>
              <a:rect l="l" t="t" r="r" b="b"/>
              <a:pathLst>
                <a:path w="1706245" h="370840">
                  <a:moveTo>
                    <a:pt x="1706245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706245" y="370839"/>
                  </a:lnTo>
                  <a:lnTo>
                    <a:pt x="1706245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36283" y="318897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142616" y="318897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40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9933" y="325247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80">
                  <a:moveTo>
                    <a:pt x="0" y="0"/>
                  </a:moveTo>
                  <a:lnTo>
                    <a:pt x="1719033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9933" y="696087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80">
                  <a:moveTo>
                    <a:pt x="0" y="0"/>
                  </a:moveTo>
                  <a:lnTo>
                    <a:pt x="1719033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42633" y="342722"/>
            <a:ext cx="16941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289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r>
              <a:rPr sz="1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sz="1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[00]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0883" y="1298575"/>
            <a:ext cx="1757680" cy="408940"/>
            <a:chOff x="410883" y="1298575"/>
            <a:chExt cx="1757680" cy="408940"/>
          </a:xfrm>
        </p:grpSpPr>
        <p:sp>
          <p:nvSpPr>
            <p:cNvPr id="10" name="object 10"/>
            <p:cNvSpPr/>
            <p:nvPr/>
          </p:nvSpPr>
          <p:spPr>
            <a:xfrm>
              <a:off x="436283" y="1311275"/>
              <a:ext cx="1706245" cy="370840"/>
            </a:xfrm>
            <a:custGeom>
              <a:avLst/>
              <a:gdLst/>
              <a:ahLst/>
              <a:cxnLst/>
              <a:rect l="l" t="t" r="r" b="b"/>
              <a:pathLst>
                <a:path w="1706245" h="370839">
                  <a:moveTo>
                    <a:pt x="1706245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706245" y="370839"/>
                  </a:lnTo>
                  <a:lnTo>
                    <a:pt x="1706245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6283" y="1304925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142616" y="1304925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29933" y="1311275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80">
                  <a:moveTo>
                    <a:pt x="0" y="0"/>
                  </a:moveTo>
                  <a:lnTo>
                    <a:pt x="1719033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9933" y="1682115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80">
                  <a:moveTo>
                    <a:pt x="0" y="0"/>
                  </a:moveTo>
                  <a:lnTo>
                    <a:pt x="1719033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42633" y="1329004"/>
            <a:ext cx="16941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r>
              <a:rPr sz="1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b</a:t>
            </a:r>
            <a:r>
              <a:rPr sz="1800" b="1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[01]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10883" y="2284729"/>
            <a:ext cx="1757680" cy="408940"/>
            <a:chOff x="410883" y="2284729"/>
            <a:chExt cx="1757680" cy="408940"/>
          </a:xfrm>
        </p:grpSpPr>
        <p:sp>
          <p:nvSpPr>
            <p:cNvPr id="17" name="object 17"/>
            <p:cNvSpPr/>
            <p:nvPr/>
          </p:nvSpPr>
          <p:spPr>
            <a:xfrm>
              <a:off x="436283" y="2297429"/>
              <a:ext cx="1706245" cy="370840"/>
            </a:xfrm>
            <a:custGeom>
              <a:avLst/>
              <a:gdLst/>
              <a:ahLst/>
              <a:cxnLst/>
              <a:rect l="l" t="t" r="r" b="b"/>
              <a:pathLst>
                <a:path w="1706245" h="370839">
                  <a:moveTo>
                    <a:pt x="1706245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706245" y="370839"/>
                  </a:lnTo>
                  <a:lnTo>
                    <a:pt x="1706245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6283" y="2291079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142616" y="2291079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29933" y="2297429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80">
                  <a:moveTo>
                    <a:pt x="0" y="0"/>
                  </a:moveTo>
                  <a:lnTo>
                    <a:pt x="1719033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29933" y="2668269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80">
                  <a:moveTo>
                    <a:pt x="0" y="0"/>
                  </a:moveTo>
                  <a:lnTo>
                    <a:pt x="1719033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42633" y="2315971"/>
            <a:ext cx="1694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242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c</a:t>
            </a:r>
            <a:r>
              <a:rPr sz="1800" b="1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[10]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10883" y="3270884"/>
            <a:ext cx="1757680" cy="408940"/>
            <a:chOff x="410883" y="3270884"/>
            <a:chExt cx="1757680" cy="408940"/>
          </a:xfrm>
        </p:grpSpPr>
        <p:sp>
          <p:nvSpPr>
            <p:cNvPr id="24" name="object 24"/>
            <p:cNvSpPr/>
            <p:nvPr/>
          </p:nvSpPr>
          <p:spPr>
            <a:xfrm>
              <a:off x="436283" y="3283584"/>
              <a:ext cx="1706245" cy="370840"/>
            </a:xfrm>
            <a:custGeom>
              <a:avLst/>
              <a:gdLst/>
              <a:ahLst/>
              <a:cxnLst/>
              <a:rect l="l" t="t" r="r" b="b"/>
              <a:pathLst>
                <a:path w="1706245" h="370839">
                  <a:moveTo>
                    <a:pt x="1706245" y="0"/>
                  </a:moveTo>
                  <a:lnTo>
                    <a:pt x="0" y="0"/>
                  </a:lnTo>
                  <a:lnTo>
                    <a:pt x="0" y="370839"/>
                  </a:lnTo>
                  <a:lnTo>
                    <a:pt x="1706245" y="370839"/>
                  </a:lnTo>
                  <a:lnTo>
                    <a:pt x="1706245" y="0"/>
                  </a:lnTo>
                  <a:close/>
                </a:path>
              </a:pathLst>
            </a:custGeom>
            <a:solidFill>
              <a:srgbClr val="3856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6283" y="3277234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142616" y="3277234"/>
              <a:ext cx="0" cy="396240"/>
            </a:xfrm>
            <a:custGeom>
              <a:avLst/>
              <a:gdLst/>
              <a:ahLst/>
              <a:cxnLst/>
              <a:rect l="l" t="t" r="r" b="b"/>
              <a:pathLst>
                <a:path h="396239">
                  <a:moveTo>
                    <a:pt x="0" y="0"/>
                  </a:moveTo>
                  <a:lnTo>
                    <a:pt x="0" y="39624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29933" y="3283584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80">
                  <a:moveTo>
                    <a:pt x="0" y="0"/>
                  </a:moveTo>
                  <a:lnTo>
                    <a:pt x="1719033" y="0"/>
                  </a:lnTo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29933" y="3654424"/>
              <a:ext cx="1719580" cy="0"/>
            </a:xfrm>
            <a:custGeom>
              <a:avLst/>
              <a:gdLst/>
              <a:ahLst/>
              <a:cxnLst/>
              <a:rect l="l" t="t" r="r" b="b"/>
              <a:pathLst>
                <a:path w="1719580">
                  <a:moveTo>
                    <a:pt x="0" y="0"/>
                  </a:moveTo>
                  <a:lnTo>
                    <a:pt x="1719033" y="0"/>
                  </a:lnTo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42633" y="3302253"/>
            <a:ext cx="1694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State</a:t>
            </a: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1800" b="1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[11]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910332" y="401193"/>
            <a:ext cx="8153400" cy="3137535"/>
            <a:chOff x="2910332" y="401193"/>
            <a:chExt cx="8153400" cy="3137535"/>
          </a:xfrm>
        </p:grpSpPr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13507" y="404368"/>
              <a:ext cx="233044" cy="21259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10332" y="401193"/>
              <a:ext cx="239394" cy="21894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13507" y="1390395"/>
              <a:ext cx="233044" cy="21272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10332" y="1387220"/>
              <a:ext cx="239394" cy="21907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13507" y="2376550"/>
              <a:ext cx="233044" cy="21259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10332" y="2373375"/>
              <a:ext cx="239394" cy="21894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913507" y="3322700"/>
              <a:ext cx="233044" cy="212598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10332" y="3319525"/>
              <a:ext cx="239394" cy="218948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96893" y="404368"/>
              <a:ext cx="233045" cy="21259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93718" y="401193"/>
              <a:ext cx="239395" cy="218948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96893" y="1390395"/>
              <a:ext cx="233045" cy="21272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93718" y="1387220"/>
              <a:ext cx="239395" cy="21907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96893" y="2376550"/>
              <a:ext cx="233045" cy="21259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093718" y="2373375"/>
              <a:ext cx="239395" cy="218948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096893" y="3322700"/>
              <a:ext cx="233045" cy="212598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093718" y="3319525"/>
              <a:ext cx="239395" cy="218948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80152" y="404368"/>
              <a:ext cx="233172" cy="212598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276977" y="401193"/>
              <a:ext cx="239522" cy="218948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280152" y="1390395"/>
              <a:ext cx="233172" cy="212725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276977" y="1387220"/>
              <a:ext cx="239522" cy="219075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280152" y="2376550"/>
              <a:ext cx="233172" cy="212598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276977" y="2373375"/>
              <a:ext cx="239522" cy="218948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280152" y="3322700"/>
              <a:ext cx="233172" cy="212598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276977" y="3319525"/>
              <a:ext cx="239522" cy="218948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63538" y="404368"/>
              <a:ext cx="233044" cy="212598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0363" y="401193"/>
              <a:ext cx="239394" cy="218948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63538" y="1390395"/>
              <a:ext cx="233044" cy="212725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60363" y="1387220"/>
              <a:ext cx="239394" cy="219075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63538" y="2376550"/>
              <a:ext cx="233044" cy="212598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60363" y="2373375"/>
              <a:ext cx="239394" cy="218948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63538" y="3322700"/>
              <a:ext cx="233044" cy="212598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60363" y="3319525"/>
              <a:ext cx="239394" cy="218948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29016" y="404368"/>
              <a:ext cx="233045" cy="212598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625841" y="401193"/>
              <a:ext cx="239395" cy="218948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9016" y="1390395"/>
              <a:ext cx="233045" cy="21272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625841" y="1387220"/>
              <a:ext cx="239395" cy="219075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29016" y="2376550"/>
              <a:ext cx="233045" cy="212598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625841" y="2373375"/>
              <a:ext cx="239395" cy="218948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629016" y="3322700"/>
              <a:ext cx="233045" cy="212598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625841" y="3319525"/>
              <a:ext cx="239395" cy="218948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812276" y="404368"/>
              <a:ext cx="233172" cy="212598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809101" y="401193"/>
              <a:ext cx="239522" cy="218948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812276" y="1390395"/>
              <a:ext cx="233172" cy="212725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809101" y="1387220"/>
              <a:ext cx="239522" cy="219075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812276" y="2376550"/>
              <a:ext cx="233172" cy="212598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809101" y="2373375"/>
              <a:ext cx="239522" cy="218948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812276" y="3322700"/>
              <a:ext cx="233172" cy="212598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809101" y="3319525"/>
              <a:ext cx="239522" cy="218948"/>
            </a:xfrm>
            <a:prstGeom prst="rect">
              <a:avLst/>
            </a:prstGeom>
          </p:spPr>
        </p:pic>
        <p:sp>
          <p:nvSpPr>
            <p:cNvPr id="79" name="object 79"/>
            <p:cNvSpPr/>
            <p:nvPr/>
          </p:nvSpPr>
          <p:spPr>
            <a:xfrm>
              <a:off x="10067416" y="616965"/>
              <a:ext cx="977265" cy="0"/>
            </a:xfrm>
            <a:custGeom>
              <a:avLst/>
              <a:gdLst/>
              <a:ahLst/>
              <a:cxnLst/>
              <a:rect l="l" t="t" r="r" b="b"/>
              <a:pathLst>
                <a:path w="977265">
                  <a:moveTo>
                    <a:pt x="0" y="0"/>
                  </a:moveTo>
                  <a:lnTo>
                    <a:pt x="977138" y="0"/>
                  </a:lnTo>
                </a:path>
              </a:pathLst>
            </a:custGeom>
            <a:ln w="38100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10208514" y="265557"/>
            <a:ext cx="700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538235"/>
                </a:solidFill>
                <a:latin typeface="Calibri"/>
                <a:cs typeface="Calibri"/>
              </a:rPr>
              <a:t>Input</a:t>
            </a:r>
            <a:r>
              <a:rPr sz="1800" b="1" spc="-30" dirty="0">
                <a:solidFill>
                  <a:srgbClr val="538235"/>
                </a:solidFill>
                <a:latin typeface="Calibri"/>
                <a:cs typeface="Calibri"/>
              </a:rPr>
              <a:t> </a:t>
            </a:r>
            <a:r>
              <a:rPr sz="1800" b="1" spc="-50" dirty="0">
                <a:solidFill>
                  <a:srgbClr val="538235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10067417" y="1263269"/>
            <a:ext cx="977265" cy="0"/>
          </a:xfrm>
          <a:custGeom>
            <a:avLst/>
            <a:gdLst/>
            <a:ahLst/>
            <a:cxnLst/>
            <a:rect l="l" t="t" r="r" b="b"/>
            <a:pathLst>
              <a:path w="977265">
                <a:moveTo>
                  <a:pt x="0" y="0"/>
                </a:moveTo>
                <a:lnTo>
                  <a:pt x="977138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10208514" y="912114"/>
            <a:ext cx="7004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Calibri"/>
                <a:cs typeface="Calibri"/>
              </a:rPr>
              <a:t>Input</a:t>
            </a:r>
            <a:r>
              <a:rPr sz="1800" b="1" spc="-30" dirty="0">
                <a:latin typeface="Calibri"/>
                <a:cs typeface="Calibri"/>
              </a:rPr>
              <a:t> </a:t>
            </a:r>
            <a:r>
              <a:rPr sz="1800" b="1" spc="-50" dirty="0"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3093466" y="566801"/>
            <a:ext cx="5772150" cy="894080"/>
            <a:chOff x="3093466" y="566801"/>
            <a:chExt cx="5772150" cy="894080"/>
          </a:xfrm>
        </p:grpSpPr>
        <p:sp>
          <p:nvSpPr>
            <p:cNvPr id="84" name="object 84"/>
            <p:cNvSpPr/>
            <p:nvPr/>
          </p:nvSpPr>
          <p:spPr>
            <a:xfrm>
              <a:off x="3112516" y="585851"/>
              <a:ext cx="1018540" cy="835660"/>
            </a:xfrm>
            <a:custGeom>
              <a:avLst/>
              <a:gdLst/>
              <a:ahLst/>
              <a:cxnLst/>
              <a:rect l="l" t="t" r="r" b="b"/>
              <a:pathLst>
                <a:path w="1018539" h="835660">
                  <a:moveTo>
                    <a:pt x="0" y="0"/>
                  </a:moveTo>
                  <a:lnTo>
                    <a:pt x="1018540" y="83566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298441" y="605790"/>
              <a:ext cx="1018540" cy="836294"/>
            </a:xfrm>
            <a:custGeom>
              <a:avLst/>
              <a:gdLst/>
              <a:ahLst/>
              <a:cxnLst/>
              <a:rect l="l" t="t" r="r" b="b"/>
              <a:pathLst>
                <a:path w="1018539" h="836294">
                  <a:moveTo>
                    <a:pt x="0" y="0"/>
                  </a:moveTo>
                  <a:lnTo>
                    <a:pt x="1018540" y="835787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5488177" y="585851"/>
              <a:ext cx="1018540" cy="835660"/>
            </a:xfrm>
            <a:custGeom>
              <a:avLst/>
              <a:gdLst/>
              <a:ahLst/>
              <a:cxnLst/>
              <a:rect l="l" t="t" r="r" b="b"/>
              <a:pathLst>
                <a:path w="1018540" h="835660">
                  <a:moveTo>
                    <a:pt x="0" y="0"/>
                  </a:moveTo>
                  <a:lnTo>
                    <a:pt x="1018413" y="83566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662547" y="590423"/>
              <a:ext cx="1018540" cy="835660"/>
            </a:xfrm>
            <a:custGeom>
              <a:avLst/>
              <a:gdLst/>
              <a:ahLst/>
              <a:cxnLst/>
              <a:rect l="l" t="t" r="r" b="b"/>
              <a:pathLst>
                <a:path w="1018540" h="835660">
                  <a:moveTo>
                    <a:pt x="0" y="0"/>
                  </a:moveTo>
                  <a:lnTo>
                    <a:pt x="1018540" y="83566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7827899" y="586232"/>
              <a:ext cx="1018540" cy="836294"/>
            </a:xfrm>
            <a:custGeom>
              <a:avLst/>
              <a:gdLst/>
              <a:ahLst/>
              <a:cxnLst/>
              <a:rect l="l" t="t" r="r" b="b"/>
              <a:pathLst>
                <a:path w="1018540" h="836294">
                  <a:moveTo>
                    <a:pt x="0" y="0"/>
                  </a:moveTo>
                  <a:lnTo>
                    <a:pt x="1018540" y="835787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3107054" y="140843"/>
            <a:ext cx="5748020" cy="76771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  <a:tabLst>
                <a:tab pos="405765" algn="l"/>
                <a:tab pos="989330" algn="l"/>
                <a:tab pos="1222375" algn="l"/>
                <a:tab pos="1616075" algn="l"/>
                <a:tab pos="2199640" algn="l"/>
                <a:tab pos="2381885" algn="l"/>
                <a:tab pos="2775585" algn="l"/>
                <a:tab pos="3359150" algn="l"/>
                <a:tab pos="3546475" algn="l"/>
                <a:tab pos="3940175" algn="l"/>
                <a:tab pos="4523105" algn="l"/>
                <a:tab pos="4758055" algn="l"/>
                <a:tab pos="5151755" algn="l"/>
                <a:tab pos="5734685" algn="l"/>
              </a:tabLst>
            </a:pPr>
            <a:r>
              <a:rPr sz="1800" b="1" u="heavy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	</a:t>
            </a:r>
            <a:r>
              <a:rPr sz="1800" b="1" u="heavy" spc="-25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00</a:t>
            </a:r>
            <a:r>
              <a:rPr sz="1800" b="1" u="heavy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	</a:t>
            </a:r>
            <a:r>
              <a:rPr sz="1800" b="1" dirty="0">
                <a:solidFill>
                  <a:srgbClr val="538235"/>
                </a:solidFill>
                <a:latin typeface="Calibri"/>
                <a:cs typeface="Calibri"/>
              </a:rPr>
              <a:t>	</a:t>
            </a:r>
            <a:r>
              <a:rPr sz="1800" b="1" u="heavy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	</a:t>
            </a:r>
            <a:r>
              <a:rPr sz="1800" b="1" u="heavy" spc="-25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00</a:t>
            </a:r>
            <a:r>
              <a:rPr sz="1800" b="1" u="heavy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	</a:t>
            </a:r>
            <a:r>
              <a:rPr sz="1800" b="1" dirty="0">
                <a:solidFill>
                  <a:srgbClr val="538235"/>
                </a:solidFill>
                <a:latin typeface="Calibri"/>
                <a:cs typeface="Calibri"/>
              </a:rPr>
              <a:t>	</a:t>
            </a:r>
            <a:r>
              <a:rPr sz="1800" b="1" u="heavy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	</a:t>
            </a:r>
            <a:r>
              <a:rPr sz="1800" b="1" u="heavy" spc="-25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00</a:t>
            </a:r>
            <a:r>
              <a:rPr sz="1800" b="1" u="heavy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	</a:t>
            </a:r>
            <a:r>
              <a:rPr sz="1800" b="1" dirty="0">
                <a:solidFill>
                  <a:srgbClr val="538235"/>
                </a:solidFill>
                <a:latin typeface="Calibri"/>
                <a:cs typeface="Calibri"/>
              </a:rPr>
              <a:t>	</a:t>
            </a:r>
            <a:r>
              <a:rPr sz="1800" b="1" u="heavy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	</a:t>
            </a:r>
            <a:r>
              <a:rPr sz="1800" b="1" u="heavy" spc="-25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00</a:t>
            </a:r>
            <a:r>
              <a:rPr sz="1800" b="1" u="heavy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	</a:t>
            </a:r>
            <a:r>
              <a:rPr sz="1800" b="1" dirty="0">
                <a:solidFill>
                  <a:srgbClr val="538235"/>
                </a:solidFill>
                <a:latin typeface="Calibri"/>
                <a:cs typeface="Calibri"/>
              </a:rPr>
              <a:t>	</a:t>
            </a:r>
            <a:r>
              <a:rPr sz="1800" b="1" u="heavy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	</a:t>
            </a:r>
            <a:r>
              <a:rPr sz="1800" b="1" u="heavy" spc="-25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00</a:t>
            </a:r>
            <a:r>
              <a:rPr sz="1800" b="1" u="heavy" dirty="0">
                <a:solidFill>
                  <a:srgbClr val="538235"/>
                </a:solidFill>
                <a:uFill>
                  <a:solidFill>
                    <a:srgbClr val="A9D18E"/>
                  </a:solidFill>
                </a:uFill>
                <a:latin typeface="Calibri"/>
                <a:cs typeface="Calibri"/>
              </a:rPr>
              <a:t>	</a:t>
            </a:r>
            <a:endParaRPr sz="1800" dirty="0">
              <a:latin typeface="Calibri"/>
              <a:cs typeface="Calibri"/>
            </a:endParaRPr>
          </a:p>
          <a:p>
            <a:pPr marL="370205">
              <a:lnSpc>
                <a:spcPct val="100000"/>
              </a:lnSpc>
              <a:spcBef>
                <a:spcPts val="760"/>
              </a:spcBef>
              <a:tabLst>
                <a:tab pos="1555750" algn="l"/>
                <a:tab pos="2745740" algn="l"/>
                <a:tab pos="3920490" algn="l"/>
                <a:tab pos="5085715" algn="l"/>
              </a:tabLst>
            </a:pPr>
            <a:r>
              <a:rPr sz="2700" b="1" spc="-37" baseline="1543" dirty="0">
                <a:latin typeface="Calibri"/>
                <a:cs typeface="Calibri"/>
              </a:rPr>
              <a:t>11</a:t>
            </a:r>
            <a:r>
              <a:rPr sz="2700" b="1" baseline="1543" dirty="0">
                <a:latin typeface="Calibri"/>
                <a:cs typeface="Calibri"/>
              </a:rPr>
              <a:t>	</a:t>
            </a:r>
            <a:r>
              <a:rPr sz="2700" b="1" spc="-37" baseline="-3086" dirty="0">
                <a:latin typeface="Calibri"/>
                <a:cs typeface="Calibri"/>
              </a:rPr>
              <a:t>11</a:t>
            </a:r>
            <a:r>
              <a:rPr sz="2700" b="1" baseline="-3086" dirty="0">
                <a:latin typeface="Calibri"/>
                <a:cs typeface="Calibri"/>
              </a:rPr>
              <a:t>	</a:t>
            </a:r>
            <a:r>
              <a:rPr sz="2700" b="1" spc="-37" baseline="1543" dirty="0">
                <a:latin typeface="Calibri"/>
                <a:cs typeface="Calibri"/>
              </a:rPr>
              <a:t>11</a:t>
            </a:r>
            <a:r>
              <a:rPr sz="2700" b="1" baseline="1543" dirty="0">
                <a:latin typeface="Calibri"/>
                <a:cs typeface="Calibri"/>
              </a:rPr>
              <a:t>	</a:t>
            </a:r>
            <a:r>
              <a:rPr sz="1800" b="1" spc="-25" dirty="0">
                <a:latin typeface="Calibri"/>
                <a:cs typeface="Calibri"/>
              </a:rPr>
              <a:t>11</a:t>
            </a:r>
            <a:r>
              <a:rPr sz="1800" b="1" dirty="0">
                <a:latin typeface="Calibri"/>
                <a:cs typeface="Calibri"/>
              </a:rPr>
              <a:t>	</a:t>
            </a:r>
            <a:r>
              <a:rPr sz="2700" b="1" spc="-37" baseline="1543" dirty="0">
                <a:latin typeface="Calibri"/>
                <a:cs typeface="Calibri"/>
              </a:rPr>
              <a:t>11</a:t>
            </a:r>
            <a:endParaRPr sz="2700" baseline="1543" dirty="0">
              <a:latin typeface="Calibri"/>
              <a:cs typeface="Calibri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4295775" y="1572005"/>
            <a:ext cx="1018540" cy="835660"/>
          </a:xfrm>
          <a:custGeom>
            <a:avLst/>
            <a:gdLst/>
            <a:ahLst/>
            <a:cxnLst/>
            <a:rect l="l" t="t" r="r" b="b"/>
            <a:pathLst>
              <a:path w="1018539" h="835660">
                <a:moveTo>
                  <a:pt x="0" y="0"/>
                </a:moveTo>
                <a:lnTo>
                  <a:pt x="1018540" y="835660"/>
                </a:lnTo>
              </a:path>
            </a:pathLst>
          </a:custGeom>
          <a:ln w="38100">
            <a:solidFill>
              <a:srgbClr val="A9D1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 txBox="1"/>
          <p:nvPr/>
        </p:nvSpPr>
        <p:spPr>
          <a:xfrm>
            <a:off x="5054346" y="1926793"/>
            <a:ext cx="257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538235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2" name="object 92"/>
          <p:cNvSpPr/>
          <p:nvPr/>
        </p:nvSpPr>
        <p:spPr>
          <a:xfrm>
            <a:off x="5488178" y="1572005"/>
            <a:ext cx="1018540" cy="835660"/>
          </a:xfrm>
          <a:custGeom>
            <a:avLst/>
            <a:gdLst/>
            <a:ahLst/>
            <a:cxnLst/>
            <a:rect l="l" t="t" r="r" b="b"/>
            <a:pathLst>
              <a:path w="1018540" h="835660">
                <a:moveTo>
                  <a:pt x="0" y="0"/>
                </a:moveTo>
                <a:lnTo>
                  <a:pt x="1018413" y="835660"/>
                </a:lnTo>
              </a:path>
            </a:pathLst>
          </a:custGeom>
          <a:ln w="38100">
            <a:solidFill>
              <a:srgbClr val="A9D1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 txBox="1"/>
          <p:nvPr/>
        </p:nvSpPr>
        <p:spPr>
          <a:xfrm>
            <a:off x="6246621" y="1926793"/>
            <a:ext cx="257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538235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4" name="object 94"/>
          <p:cNvSpPr/>
          <p:nvPr/>
        </p:nvSpPr>
        <p:spPr>
          <a:xfrm>
            <a:off x="6672580" y="1572005"/>
            <a:ext cx="1018540" cy="835660"/>
          </a:xfrm>
          <a:custGeom>
            <a:avLst/>
            <a:gdLst/>
            <a:ahLst/>
            <a:cxnLst/>
            <a:rect l="l" t="t" r="r" b="b"/>
            <a:pathLst>
              <a:path w="1018540" h="835660">
                <a:moveTo>
                  <a:pt x="0" y="0"/>
                </a:moveTo>
                <a:lnTo>
                  <a:pt x="1018540" y="835660"/>
                </a:lnTo>
              </a:path>
            </a:pathLst>
          </a:custGeom>
          <a:ln w="38100">
            <a:solidFill>
              <a:srgbClr val="A9D1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 txBox="1"/>
          <p:nvPr/>
        </p:nvSpPr>
        <p:spPr>
          <a:xfrm>
            <a:off x="7431405" y="1926793"/>
            <a:ext cx="257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538235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6" name="object 96"/>
          <p:cNvSpPr/>
          <p:nvPr/>
        </p:nvSpPr>
        <p:spPr>
          <a:xfrm>
            <a:off x="7847330" y="1571497"/>
            <a:ext cx="1018540" cy="836294"/>
          </a:xfrm>
          <a:custGeom>
            <a:avLst/>
            <a:gdLst/>
            <a:ahLst/>
            <a:cxnLst/>
            <a:rect l="l" t="t" r="r" b="b"/>
            <a:pathLst>
              <a:path w="1018540" h="836294">
                <a:moveTo>
                  <a:pt x="0" y="0"/>
                </a:moveTo>
                <a:lnTo>
                  <a:pt x="1018413" y="835787"/>
                </a:lnTo>
              </a:path>
            </a:pathLst>
          </a:custGeom>
          <a:ln w="38100">
            <a:solidFill>
              <a:srgbClr val="A9D1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 txBox="1"/>
          <p:nvPr/>
        </p:nvSpPr>
        <p:spPr>
          <a:xfrm>
            <a:off x="8624061" y="1926716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538235"/>
                </a:solidFill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4276725" y="555244"/>
            <a:ext cx="4598035" cy="2827020"/>
            <a:chOff x="4276725" y="555244"/>
            <a:chExt cx="4598035" cy="2827020"/>
          </a:xfrm>
        </p:grpSpPr>
        <p:sp>
          <p:nvSpPr>
            <p:cNvPr id="99" name="object 99"/>
            <p:cNvSpPr/>
            <p:nvPr/>
          </p:nvSpPr>
          <p:spPr>
            <a:xfrm>
              <a:off x="4295775" y="1572005"/>
              <a:ext cx="1018540" cy="1781810"/>
            </a:xfrm>
            <a:custGeom>
              <a:avLst/>
              <a:gdLst/>
              <a:ahLst/>
              <a:cxnLst/>
              <a:rect l="l" t="t" r="r" b="b"/>
              <a:pathLst>
                <a:path w="1018539" h="1781810">
                  <a:moveTo>
                    <a:pt x="0" y="0"/>
                  </a:moveTo>
                  <a:lnTo>
                    <a:pt x="1018540" y="178181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5479161" y="1572005"/>
              <a:ext cx="1018540" cy="1781810"/>
            </a:xfrm>
            <a:custGeom>
              <a:avLst/>
              <a:gdLst/>
              <a:ahLst/>
              <a:cxnLst/>
              <a:rect l="l" t="t" r="r" b="b"/>
              <a:pathLst>
                <a:path w="1018539" h="1781810">
                  <a:moveTo>
                    <a:pt x="0" y="0"/>
                  </a:moveTo>
                  <a:lnTo>
                    <a:pt x="1018540" y="178181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6662547" y="1572005"/>
              <a:ext cx="1018540" cy="1781810"/>
            </a:xfrm>
            <a:custGeom>
              <a:avLst/>
              <a:gdLst/>
              <a:ahLst/>
              <a:cxnLst/>
              <a:rect l="l" t="t" r="r" b="b"/>
              <a:pathLst>
                <a:path w="1018540" h="1781810">
                  <a:moveTo>
                    <a:pt x="0" y="0"/>
                  </a:moveTo>
                  <a:lnTo>
                    <a:pt x="1018413" y="178181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7836915" y="1571497"/>
              <a:ext cx="1018540" cy="1782445"/>
            </a:xfrm>
            <a:custGeom>
              <a:avLst/>
              <a:gdLst/>
              <a:ahLst/>
              <a:cxnLst/>
              <a:rect l="l" t="t" r="r" b="b"/>
              <a:pathLst>
                <a:path w="1018540" h="1782445">
                  <a:moveTo>
                    <a:pt x="0" y="0"/>
                  </a:moveTo>
                  <a:lnTo>
                    <a:pt x="1018540" y="1781937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5479161" y="585851"/>
              <a:ext cx="1018540" cy="1821814"/>
            </a:xfrm>
            <a:custGeom>
              <a:avLst/>
              <a:gdLst/>
              <a:ahLst/>
              <a:cxnLst/>
              <a:rect l="l" t="t" r="r" b="b"/>
              <a:pathLst>
                <a:path w="1018539" h="1821814">
                  <a:moveTo>
                    <a:pt x="0" y="1821814"/>
                  </a:moveTo>
                  <a:lnTo>
                    <a:pt x="1018540" y="0"/>
                  </a:lnTo>
                </a:path>
              </a:pathLst>
            </a:custGeom>
            <a:ln w="38100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6651751" y="574294"/>
              <a:ext cx="1018540" cy="1821814"/>
            </a:xfrm>
            <a:custGeom>
              <a:avLst/>
              <a:gdLst/>
              <a:ahLst/>
              <a:cxnLst/>
              <a:rect l="l" t="t" r="r" b="b"/>
              <a:pathLst>
                <a:path w="1018540" h="1821814">
                  <a:moveTo>
                    <a:pt x="0" y="1821814"/>
                  </a:moveTo>
                  <a:lnTo>
                    <a:pt x="1018540" y="0"/>
                  </a:lnTo>
                </a:path>
              </a:pathLst>
            </a:custGeom>
            <a:ln w="38100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7824470" y="586613"/>
              <a:ext cx="1018540" cy="1822450"/>
            </a:xfrm>
            <a:custGeom>
              <a:avLst/>
              <a:gdLst/>
              <a:ahLst/>
              <a:cxnLst/>
              <a:rect l="l" t="t" r="r" b="b"/>
              <a:pathLst>
                <a:path w="1018540" h="1822450">
                  <a:moveTo>
                    <a:pt x="0" y="1821942"/>
                  </a:moveTo>
                  <a:lnTo>
                    <a:pt x="1018540" y="0"/>
                  </a:lnTo>
                </a:path>
              </a:pathLst>
            </a:custGeom>
            <a:ln w="38100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5479161" y="2558033"/>
              <a:ext cx="1018540" cy="796290"/>
            </a:xfrm>
            <a:custGeom>
              <a:avLst/>
              <a:gdLst/>
              <a:ahLst/>
              <a:cxnLst/>
              <a:rect l="l" t="t" r="r" b="b"/>
              <a:pathLst>
                <a:path w="1018539" h="796289">
                  <a:moveTo>
                    <a:pt x="0" y="795782"/>
                  </a:moveTo>
                  <a:lnTo>
                    <a:pt x="1018540" y="0"/>
                  </a:lnTo>
                </a:path>
              </a:pathLst>
            </a:custGeom>
            <a:ln w="38100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6652641" y="2559939"/>
              <a:ext cx="1018540" cy="796290"/>
            </a:xfrm>
            <a:custGeom>
              <a:avLst/>
              <a:gdLst/>
              <a:ahLst/>
              <a:cxnLst/>
              <a:rect l="l" t="t" r="r" b="b"/>
              <a:pathLst>
                <a:path w="1018540" h="796289">
                  <a:moveTo>
                    <a:pt x="0" y="795781"/>
                  </a:moveTo>
                  <a:lnTo>
                    <a:pt x="1018540" y="0"/>
                  </a:lnTo>
                </a:path>
              </a:pathLst>
            </a:custGeom>
            <a:ln w="38100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7824470" y="2566923"/>
              <a:ext cx="1018540" cy="796290"/>
            </a:xfrm>
            <a:custGeom>
              <a:avLst/>
              <a:gdLst/>
              <a:ahLst/>
              <a:cxnLst/>
              <a:rect l="l" t="t" r="r" b="b"/>
              <a:pathLst>
                <a:path w="1018540" h="796289">
                  <a:moveTo>
                    <a:pt x="0" y="795781"/>
                  </a:moveTo>
                  <a:lnTo>
                    <a:pt x="1018540" y="0"/>
                  </a:lnTo>
                </a:path>
              </a:pathLst>
            </a:custGeom>
            <a:ln w="38100">
              <a:solidFill>
                <a:srgbClr val="A9D18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9" name="object 109"/>
          <p:cNvSpPr txBox="1"/>
          <p:nvPr/>
        </p:nvSpPr>
        <p:spPr>
          <a:xfrm>
            <a:off x="5083555" y="2739974"/>
            <a:ext cx="37985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0230" algn="l"/>
                <a:tab pos="1195705" algn="l"/>
                <a:tab pos="1743710" algn="l"/>
                <a:tab pos="2379345" algn="l"/>
                <a:tab pos="2915920" algn="l"/>
                <a:tab pos="3554095" algn="l"/>
              </a:tabLst>
            </a:pPr>
            <a:r>
              <a:rPr sz="2700" b="1" spc="-37" baseline="1543" dirty="0">
                <a:latin typeface="Calibri"/>
                <a:cs typeface="Calibri"/>
              </a:rPr>
              <a:t>01</a:t>
            </a:r>
            <a:r>
              <a:rPr sz="2700" b="1" baseline="1543" dirty="0">
                <a:latin typeface="Calibri"/>
                <a:cs typeface="Calibri"/>
              </a:rPr>
              <a:t>	</a:t>
            </a:r>
            <a:r>
              <a:rPr sz="2700" b="1" spc="-37" baseline="1543" dirty="0">
                <a:solidFill>
                  <a:srgbClr val="538235"/>
                </a:solidFill>
                <a:latin typeface="Calibri"/>
                <a:cs typeface="Calibri"/>
              </a:rPr>
              <a:t>01</a:t>
            </a:r>
            <a:r>
              <a:rPr sz="2700" b="1" baseline="1543" dirty="0">
                <a:solidFill>
                  <a:srgbClr val="538235"/>
                </a:solidFill>
                <a:latin typeface="Calibri"/>
                <a:cs typeface="Calibri"/>
              </a:rPr>
              <a:t>	</a:t>
            </a:r>
            <a:r>
              <a:rPr sz="2700" b="1" spc="-37" baseline="1543" dirty="0">
                <a:latin typeface="Calibri"/>
                <a:cs typeface="Calibri"/>
              </a:rPr>
              <a:t>01</a:t>
            </a:r>
            <a:r>
              <a:rPr sz="2700" b="1" baseline="1543" dirty="0">
                <a:latin typeface="Calibri"/>
                <a:cs typeface="Calibri"/>
              </a:rPr>
              <a:t>	</a:t>
            </a:r>
            <a:r>
              <a:rPr sz="2700" b="1" spc="-37" baseline="1543" dirty="0">
                <a:solidFill>
                  <a:srgbClr val="538235"/>
                </a:solidFill>
                <a:latin typeface="Calibri"/>
                <a:cs typeface="Calibri"/>
              </a:rPr>
              <a:t>01</a:t>
            </a:r>
            <a:r>
              <a:rPr sz="2700" b="1" baseline="1543" dirty="0">
                <a:solidFill>
                  <a:srgbClr val="538235"/>
                </a:solidFill>
                <a:latin typeface="Calibri"/>
                <a:cs typeface="Calibri"/>
              </a:rPr>
              <a:t>	</a:t>
            </a:r>
            <a:r>
              <a:rPr sz="2700" b="1" spc="-37" baseline="1543" dirty="0">
                <a:latin typeface="Calibri"/>
                <a:cs typeface="Calibri"/>
              </a:rPr>
              <a:t>01</a:t>
            </a:r>
            <a:r>
              <a:rPr sz="2700" b="1" baseline="1543" dirty="0">
                <a:latin typeface="Calibri"/>
                <a:cs typeface="Calibri"/>
              </a:rPr>
              <a:t>	</a:t>
            </a:r>
            <a:r>
              <a:rPr sz="1800" b="1" spc="-25" dirty="0">
                <a:solidFill>
                  <a:srgbClr val="538235"/>
                </a:solidFill>
                <a:latin typeface="Calibri"/>
                <a:cs typeface="Calibri"/>
              </a:rPr>
              <a:t>01</a:t>
            </a:r>
            <a:r>
              <a:rPr sz="1800" b="1" dirty="0">
                <a:solidFill>
                  <a:srgbClr val="538235"/>
                </a:solidFill>
                <a:latin typeface="Calibri"/>
                <a:cs typeface="Calibri"/>
              </a:rPr>
              <a:t>	</a:t>
            </a:r>
            <a:r>
              <a:rPr sz="2700" b="1" spc="-37" baseline="1543" dirty="0">
                <a:latin typeface="Calibri"/>
                <a:cs typeface="Calibri"/>
              </a:rPr>
              <a:t>01</a:t>
            </a:r>
            <a:endParaRPr sz="2700" baseline="1543">
              <a:latin typeface="Calibri"/>
              <a:cs typeface="Calibri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5513323" y="1572005"/>
            <a:ext cx="984885" cy="911225"/>
          </a:xfrm>
          <a:custGeom>
            <a:avLst/>
            <a:gdLst/>
            <a:ahLst/>
            <a:cxnLst/>
            <a:rect l="l" t="t" r="r" b="b"/>
            <a:pathLst>
              <a:path w="984885" h="911225">
                <a:moveTo>
                  <a:pt x="0" y="910844"/>
                </a:moveTo>
                <a:lnTo>
                  <a:pt x="984377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 txBox="1"/>
          <p:nvPr/>
        </p:nvSpPr>
        <p:spPr>
          <a:xfrm>
            <a:off x="5723382" y="1227074"/>
            <a:ext cx="531495" cy="629920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0"/>
              </a:spcBef>
            </a:pPr>
            <a:r>
              <a:rPr sz="1800" b="1" spc="-25" dirty="0">
                <a:solidFill>
                  <a:srgbClr val="538235"/>
                </a:solidFill>
                <a:latin typeface="Calibri"/>
                <a:cs typeface="Calibri"/>
              </a:rPr>
              <a:t>11</a:t>
            </a:r>
            <a:endParaRPr sz="1800">
              <a:latin typeface="Calibri"/>
              <a:cs typeface="Calibri"/>
            </a:endParaRPr>
          </a:p>
          <a:p>
            <a:pPr marL="286385">
              <a:lnSpc>
                <a:spcPct val="100000"/>
              </a:lnSpc>
              <a:spcBef>
                <a:spcPts val="219"/>
              </a:spcBef>
            </a:pPr>
            <a:r>
              <a:rPr sz="1800" b="1" spc="-25" dirty="0">
                <a:latin typeface="Calibri"/>
                <a:cs typeface="Calibri"/>
              </a:rPr>
              <a:t>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2" name="object 112"/>
          <p:cNvSpPr/>
          <p:nvPr/>
        </p:nvSpPr>
        <p:spPr>
          <a:xfrm>
            <a:off x="6668896" y="1536319"/>
            <a:ext cx="984885" cy="911225"/>
          </a:xfrm>
          <a:custGeom>
            <a:avLst/>
            <a:gdLst/>
            <a:ahLst/>
            <a:cxnLst/>
            <a:rect l="l" t="t" r="r" b="b"/>
            <a:pathLst>
              <a:path w="984884" h="911225">
                <a:moveTo>
                  <a:pt x="0" y="910843"/>
                </a:moveTo>
                <a:lnTo>
                  <a:pt x="984377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 txBox="1"/>
          <p:nvPr/>
        </p:nvSpPr>
        <p:spPr>
          <a:xfrm>
            <a:off x="6895845" y="1243025"/>
            <a:ext cx="514350" cy="5784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538235"/>
                </a:solidFill>
                <a:latin typeface="Calibri"/>
                <a:cs typeface="Calibri"/>
              </a:rPr>
              <a:t>11</a:t>
            </a:r>
            <a:endParaRPr sz="1800">
              <a:latin typeface="Calibri"/>
              <a:cs typeface="Calibri"/>
            </a:endParaRPr>
          </a:p>
          <a:p>
            <a:pPr marL="269875">
              <a:lnSpc>
                <a:spcPct val="100000"/>
              </a:lnSpc>
              <a:spcBef>
                <a:spcPts val="35"/>
              </a:spcBef>
            </a:pPr>
            <a:r>
              <a:rPr sz="1800" b="1" spc="-25" dirty="0">
                <a:latin typeface="Calibri"/>
                <a:cs typeface="Calibri"/>
              </a:rPr>
              <a:t>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7845043" y="1549780"/>
            <a:ext cx="984885" cy="911225"/>
          </a:xfrm>
          <a:custGeom>
            <a:avLst/>
            <a:gdLst/>
            <a:ahLst/>
            <a:cxnLst/>
            <a:rect l="l" t="t" r="r" b="b"/>
            <a:pathLst>
              <a:path w="984884" h="911225">
                <a:moveTo>
                  <a:pt x="0" y="910971"/>
                </a:moveTo>
                <a:lnTo>
                  <a:pt x="984377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 txBox="1"/>
          <p:nvPr/>
        </p:nvSpPr>
        <p:spPr>
          <a:xfrm>
            <a:off x="8068818" y="1255903"/>
            <a:ext cx="518159" cy="579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538235"/>
                </a:solidFill>
                <a:latin typeface="Calibri"/>
                <a:cs typeface="Calibri"/>
              </a:rPr>
              <a:t>11</a:t>
            </a:r>
            <a:endParaRPr sz="1800">
              <a:latin typeface="Calibri"/>
              <a:cs typeface="Calibri"/>
            </a:endParaRPr>
          </a:p>
          <a:p>
            <a:pPr marL="273050">
              <a:lnSpc>
                <a:spcPct val="100000"/>
              </a:lnSpc>
              <a:spcBef>
                <a:spcPts val="35"/>
              </a:spcBef>
            </a:pPr>
            <a:r>
              <a:rPr sz="1800" b="1" spc="-25" dirty="0">
                <a:latin typeface="Calibri"/>
                <a:cs typeface="Calibri"/>
              </a:rPr>
              <a:t>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6" name="object 116"/>
          <p:cNvSpPr/>
          <p:nvPr/>
        </p:nvSpPr>
        <p:spPr>
          <a:xfrm>
            <a:off x="5513323" y="3429000"/>
            <a:ext cx="950594" cy="0"/>
          </a:xfrm>
          <a:custGeom>
            <a:avLst/>
            <a:gdLst/>
            <a:ahLst/>
            <a:cxnLst/>
            <a:rect l="l" t="t" r="r" b="b"/>
            <a:pathLst>
              <a:path w="950595">
                <a:moveTo>
                  <a:pt x="0" y="0"/>
                </a:moveTo>
                <a:lnTo>
                  <a:pt x="950213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 txBox="1"/>
          <p:nvPr/>
        </p:nvSpPr>
        <p:spPr>
          <a:xfrm>
            <a:off x="5837046" y="3398011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6690486" y="3420871"/>
            <a:ext cx="950594" cy="0"/>
          </a:xfrm>
          <a:custGeom>
            <a:avLst/>
            <a:gdLst/>
            <a:ahLst/>
            <a:cxnLst/>
            <a:rect l="l" t="t" r="r" b="b"/>
            <a:pathLst>
              <a:path w="950595">
                <a:moveTo>
                  <a:pt x="0" y="0"/>
                </a:moveTo>
                <a:lnTo>
                  <a:pt x="950213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 txBox="1"/>
          <p:nvPr/>
        </p:nvSpPr>
        <p:spPr>
          <a:xfrm>
            <a:off x="7014209" y="3389452"/>
            <a:ext cx="25717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7865744" y="3427603"/>
            <a:ext cx="950594" cy="0"/>
          </a:xfrm>
          <a:custGeom>
            <a:avLst/>
            <a:gdLst/>
            <a:ahLst/>
            <a:cxnLst/>
            <a:rect l="l" t="t" r="r" b="b"/>
            <a:pathLst>
              <a:path w="950595">
                <a:moveTo>
                  <a:pt x="0" y="0"/>
                </a:moveTo>
                <a:lnTo>
                  <a:pt x="950213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 txBox="1"/>
          <p:nvPr/>
        </p:nvSpPr>
        <p:spPr>
          <a:xfrm>
            <a:off x="8189721" y="3396488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Calibri"/>
                <a:cs typeface="Calibri"/>
              </a:rPr>
              <a:t>10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22" name="object 122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1525</TotalTime>
  <Words>648</Words>
  <Application>Microsoft Office PowerPoint</Application>
  <PresentationFormat>Widescreen</PresentationFormat>
  <Paragraphs>168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Wingdings</vt:lpstr>
      <vt:lpstr>Office Theme</vt:lpstr>
      <vt:lpstr>Convolutional Codes &amp; Viterbi Algorithm</vt:lpstr>
      <vt:lpstr>Convolutional Code</vt:lpstr>
      <vt:lpstr>Convolutional Code</vt:lpstr>
      <vt:lpstr>PowerPoint Presentation</vt:lpstr>
      <vt:lpstr>PowerPoint Presentation</vt:lpstr>
      <vt:lpstr>PowerPoint Presentation</vt:lpstr>
      <vt:lpstr>Viterbi Algorithm</vt:lpstr>
      <vt:lpstr>Basics of Viterbi Algorithm</vt:lpstr>
      <vt:lpstr>Example of Viterbi Algorithm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 Code</dc:title>
  <cp:lastModifiedBy>Rifat Rahman</cp:lastModifiedBy>
  <cp:revision>16</cp:revision>
  <dcterms:created xsi:type="dcterms:W3CDTF">2026-02-16T15:48:50Z</dcterms:created>
  <dcterms:modified xsi:type="dcterms:W3CDTF">2026-03-05T17:56:36Z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2026-02-16T00:00:00Z</vt:filetime>
  </property>
  <property fmtid="{D5CDD505-2E9C-101B-9397-08002B2CF9AE}" pid="3" name="LastSaved">
    <vt:filetime>2026-02-16T00:00:00Z</vt:filetime>
  </property>
  <property fmtid="{D5CDD505-2E9C-101B-9397-08002B2CF9AE}" pid="4" name="Producer">
    <vt:lpwstr>3-Heights™ PDF Merge Split Shell 6.12.1.11 (http://www.pdf-tools.com)</vt:lpwstr>
  </property>
</Properties>
</file>