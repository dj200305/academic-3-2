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394" y="-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 smtClean="0"/>
              <a:t>Introduction to Block Codes, Type of Block Codes</a:t>
            </a:r>
            <a:endParaRPr lang="en-US" sz="4400" u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1938992"/>
          </a:xfrm>
        </p:spPr>
        <p:txBody>
          <a:bodyPr/>
          <a:lstStyle/>
          <a:p>
            <a:pPr algn="ctr"/>
            <a:r>
              <a:rPr lang="en-US" dirty="0" smtClean="0"/>
              <a:t>Prepared by</a:t>
            </a:r>
          </a:p>
          <a:p>
            <a:pPr algn="ctr"/>
            <a:r>
              <a:rPr lang="en-US" dirty="0" smtClean="0"/>
              <a:t>Prof. Hitesh </a:t>
            </a:r>
            <a:r>
              <a:rPr lang="en-US" dirty="0" err="1" smtClean="0"/>
              <a:t>Dholakiya</a:t>
            </a:r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Modified by</a:t>
            </a:r>
          </a:p>
          <a:p>
            <a:pPr algn="ctr"/>
            <a:r>
              <a:rPr lang="en-US" dirty="0" err="1" smtClean="0"/>
              <a:t>Rifat</a:t>
            </a:r>
            <a:r>
              <a:rPr lang="en-US" dirty="0" smtClean="0"/>
              <a:t> </a:t>
            </a:r>
            <a:r>
              <a:rPr lang="en-US" dirty="0" err="1" smtClean="0"/>
              <a:t>Rahman</a:t>
            </a:r>
            <a:endParaRPr lang="en-US" dirty="0" smtClean="0"/>
          </a:p>
          <a:p>
            <a:pPr algn="ctr"/>
            <a:r>
              <a:rPr lang="en-US" dirty="0" smtClean="0"/>
              <a:t>Assistant Professor</a:t>
            </a:r>
          </a:p>
          <a:p>
            <a:pPr algn="ctr"/>
            <a:r>
              <a:rPr lang="en-US" dirty="0" smtClean="0"/>
              <a:t>Institute of Appropriate Technology, BUET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76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1929" y="-62357"/>
            <a:ext cx="41700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587184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Channel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Structure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Important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Parameters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(4,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Channel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Codeword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6453"/>
            <a:ext cx="11757660" cy="4906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</a:tabLst>
            </a:pPr>
            <a:r>
              <a:rPr sz="2800" b="1" spc="-10" dirty="0">
                <a:solidFill>
                  <a:srgbClr val="385622"/>
                </a:solidFill>
                <a:latin typeface="Calibri"/>
                <a:cs typeface="Calibri"/>
              </a:rPr>
              <a:t>Channel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3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systems,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channel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medium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through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which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travels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receiver.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Examples:</a:t>
            </a:r>
            <a:r>
              <a:rPr sz="2400" b="1" spc="-8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air</a:t>
            </a:r>
            <a:r>
              <a:rPr sz="2400" b="1" spc="-6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(for</a:t>
            </a:r>
            <a:r>
              <a:rPr sz="2400" b="1" spc="-5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wireless),</a:t>
            </a:r>
            <a:r>
              <a:rPr sz="2400" b="1" spc="-6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cables,</a:t>
            </a:r>
            <a:r>
              <a:rPr sz="2400" b="1" spc="-6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optical</a:t>
            </a:r>
            <a:r>
              <a:rPr sz="2400" b="1" spc="-8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fiber,</a:t>
            </a:r>
            <a:r>
              <a:rPr sz="2400" b="1" spc="-5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2D75B6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927100" marR="635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  <a:tab pos="2279015" algn="l"/>
                <a:tab pos="3014980" algn="l"/>
                <a:tab pos="4431030" algn="l"/>
                <a:tab pos="5386705" algn="l"/>
                <a:tab pos="7214234" algn="l"/>
                <a:tab pos="7889240" algn="l"/>
                <a:tab pos="9406255" algn="l"/>
                <a:tab pos="10549255" algn="l"/>
                <a:tab pos="11504930" algn="l"/>
              </a:tabLst>
            </a:pP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Channels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may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introduce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noise,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interference,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distortion,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causing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errors</a:t>
            </a:r>
            <a:r>
              <a:rPr sz="2400" b="1" dirty="0">
                <a:solidFill>
                  <a:srgbClr val="2D75B6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2D75B6"/>
                </a:solidFill>
                <a:latin typeface="Calibri"/>
                <a:cs typeface="Calibri"/>
              </a:rPr>
              <a:t>in </a:t>
            </a:r>
            <a:r>
              <a:rPr sz="2400" b="1" spc="-10" dirty="0">
                <a:solidFill>
                  <a:srgbClr val="2D75B6"/>
                </a:solidFill>
                <a:latin typeface="Calibri"/>
                <a:cs typeface="Calibri"/>
              </a:rPr>
              <a:t>transmission.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ts val="3335"/>
              </a:lnSpc>
              <a:buFont typeface="Wingdings"/>
              <a:buChar char=""/>
              <a:tabLst>
                <a:tab pos="469265" algn="l"/>
              </a:tabLst>
            </a:pPr>
            <a:r>
              <a:rPr sz="2800" b="1" spc="-10" dirty="0">
                <a:solidFill>
                  <a:srgbClr val="385622"/>
                </a:solidFill>
                <a:latin typeface="Calibri"/>
                <a:cs typeface="Calibri"/>
              </a:rPr>
              <a:t>Codeword</a:t>
            </a:r>
            <a:endParaRPr sz="2800">
              <a:latin typeface="Calibri"/>
              <a:cs typeface="Calibri"/>
            </a:endParaRPr>
          </a:p>
          <a:p>
            <a:pPr marL="469900" marR="8890" indent="-457200">
              <a:lnSpc>
                <a:spcPct val="100000"/>
              </a:lnSpc>
              <a:spcBef>
                <a:spcPts val="30"/>
              </a:spcBef>
              <a:buFont typeface="Wingdings"/>
              <a:buChar char=""/>
              <a:tabLst>
                <a:tab pos="469900" algn="l"/>
                <a:tab pos="841375" algn="l"/>
                <a:tab pos="1754505" algn="l"/>
                <a:tab pos="3932554" algn="l"/>
                <a:tab pos="5569585" algn="l"/>
                <a:tab pos="5895340" algn="l"/>
                <a:tab pos="7511415" algn="l"/>
                <a:tab pos="7914005" algn="l"/>
                <a:tab pos="9462135" algn="l"/>
                <a:tab pos="9865995" algn="l"/>
                <a:tab pos="1093470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digital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—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specific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binary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sequences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after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encoding.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Example:</a:t>
            </a:r>
            <a:r>
              <a:rPr sz="24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message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101,</a:t>
            </a:r>
            <a:r>
              <a:rPr sz="24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encoder</a:t>
            </a:r>
            <a:r>
              <a:rPr sz="24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may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convert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101110.</a:t>
            </a:r>
            <a:endParaRPr sz="2400">
              <a:latin typeface="Calibri"/>
              <a:cs typeface="Calibri"/>
            </a:endParaRPr>
          </a:p>
          <a:p>
            <a:pPr marL="927100" marR="889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Each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follows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certain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rules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designed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errors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caused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channel.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70" dirty="0"/>
              <a:t> </a:t>
            </a:r>
            <a:r>
              <a:rPr dirty="0"/>
              <a:t>Structure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Communication</a:t>
            </a:r>
            <a:r>
              <a:rPr spc="-85" dirty="0"/>
              <a:t> </a:t>
            </a:r>
            <a:r>
              <a:rPr spc="-10" dirty="0"/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984" y="726097"/>
            <a:ext cx="1488186" cy="6813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984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554" y="726097"/>
            <a:ext cx="1488186" cy="6813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662554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Transmitter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2583" y="815733"/>
            <a:ext cx="1488186" cy="5020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72583" y="815733"/>
            <a:ext cx="1488440" cy="502284"/>
          </a:xfrm>
          <a:prstGeom prst="rect">
            <a:avLst/>
          </a:prstGeom>
          <a:ln w="6350">
            <a:solidFill>
              <a:srgbClr val="A4A4A4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775"/>
              </a:spcBef>
            </a:pPr>
            <a:r>
              <a:rPr sz="1800" b="1" spc="-10" dirty="0">
                <a:latin typeface="Calibri"/>
                <a:cs typeface="Calibri"/>
              </a:rPr>
              <a:t>Channel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13807" y="1317751"/>
            <a:ext cx="1205865" cy="421640"/>
          </a:xfrm>
          <a:custGeom>
            <a:avLst/>
            <a:gdLst/>
            <a:ahLst/>
            <a:cxnLst/>
            <a:rect l="l" t="t" r="r" b="b"/>
            <a:pathLst>
              <a:path w="1205865" h="421639">
                <a:moveTo>
                  <a:pt x="76200" y="76200"/>
                </a:move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421386"/>
                </a:lnTo>
                <a:lnTo>
                  <a:pt x="47625" y="421386"/>
                </a:lnTo>
                <a:lnTo>
                  <a:pt x="47625" y="76200"/>
                </a:lnTo>
                <a:lnTo>
                  <a:pt x="76200" y="76200"/>
                </a:lnTo>
                <a:close/>
              </a:path>
              <a:path w="1205865" h="421639">
                <a:moveTo>
                  <a:pt x="309245" y="76200"/>
                </a:moveTo>
                <a:lnTo>
                  <a:pt x="302895" y="63500"/>
                </a:lnTo>
                <a:lnTo>
                  <a:pt x="271145" y="0"/>
                </a:lnTo>
                <a:lnTo>
                  <a:pt x="233045" y="76200"/>
                </a:lnTo>
                <a:lnTo>
                  <a:pt x="261620" y="76200"/>
                </a:lnTo>
                <a:lnTo>
                  <a:pt x="261620" y="421386"/>
                </a:lnTo>
                <a:lnTo>
                  <a:pt x="280670" y="421386"/>
                </a:lnTo>
                <a:lnTo>
                  <a:pt x="280670" y="76200"/>
                </a:lnTo>
                <a:lnTo>
                  <a:pt x="309245" y="76200"/>
                </a:lnTo>
                <a:close/>
              </a:path>
              <a:path w="1205865" h="421639">
                <a:moveTo>
                  <a:pt x="524510" y="76200"/>
                </a:moveTo>
                <a:lnTo>
                  <a:pt x="518160" y="63500"/>
                </a:lnTo>
                <a:lnTo>
                  <a:pt x="486410" y="0"/>
                </a:lnTo>
                <a:lnTo>
                  <a:pt x="448310" y="76200"/>
                </a:lnTo>
                <a:lnTo>
                  <a:pt x="476885" y="76200"/>
                </a:lnTo>
                <a:lnTo>
                  <a:pt x="476885" y="421386"/>
                </a:lnTo>
                <a:lnTo>
                  <a:pt x="495935" y="421386"/>
                </a:lnTo>
                <a:lnTo>
                  <a:pt x="495935" y="76200"/>
                </a:lnTo>
                <a:lnTo>
                  <a:pt x="524510" y="76200"/>
                </a:lnTo>
                <a:close/>
              </a:path>
              <a:path w="1205865" h="421639">
                <a:moveTo>
                  <a:pt x="757555" y="76200"/>
                </a:moveTo>
                <a:lnTo>
                  <a:pt x="751205" y="63500"/>
                </a:lnTo>
                <a:lnTo>
                  <a:pt x="719455" y="0"/>
                </a:lnTo>
                <a:lnTo>
                  <a:pt x="681355" y="76200"/>
                </a:lnTo>
                <a:lnTo>
                  <a:pt x="709930" y="76200"/>
                </a:lnTo>
                <a:lnTo>
                  <a:pt x="709930" y="421386"/>
                </a:lnTo>
                <a:lnTo>
                  <a:pt x="728980" y="421386"/>
                </a:lnTo>
                <a:lnTo>
                  <a:pt x="728980" y="76200"/>
                </a:lnTo>
                <a:lnTo>
                  <a:pt x="757555" y="76200"/>
                </a:lnTo>
                <a:close/>
              </a:path>
              <a:path w="1205865" h="421639">
                <a:moveTo>
                  <a:pt x="972693" y="76200"/>
                </a:moveTo>
                <a:lnTo>
                  <a:pt x="966343" y="63500"/>
                </a:lnTo>
                <a:lnTo>
                  <a:pt x="934593" y="0"/>
                </a:lnTo>
                <a:lnTo>
                  <a:pt x="896493" y="76200"/>
                </a:lnTo>
                <a:lnTo>
                  <a:pt x="925068" y="76200"/>
                </a:lnTo>
                <a:lnTo>
                  <a:pt x="925068" y="421386"/>
                </a:lnTo>
                <a:lnTo>
                  <a:pt x="944118" y="421386"/>
                </a:lnTo>
                <a:lnTo>
                  <a:pt x="944118" y="76200"/>
                </a:lnTo>
                <a:lnTo>
                  <a:pt x="972693" y="76200"/>
                </a:lnTo>
                <a:close/>
              </a:path>
              <a:path w="1205865" h="421639">
                <a:moveTo>
                  <a:pt x="1205738" y="76200"/>
                </a:moveTo>
                <a:lnTo>
                  <a:pt x="1199388" y="63500"/>
                </a:lnTo>
                <a:lnTo>
                  <a:pt x="1167638" y="0"/>
                </a:lnTo>
                <a:lnTo>
                  <a:pt x="1129538" y="76200"/>
                </a:lnTo>
                <a:lnTo>
                  <a:pt x="1158113" y="76200"/>
                </a:lnTo>
                <a:lnTo>
                  <a:pt x="1158113" y="421386"/>
                </a:lnTo>
                <a:lnTo>
                  <a:pt x="1177163" y="421386"/>
                </a:lnTo>
                <a:lnTo>
                  <a:pt x="1177163" y="76200"/>
                </a:lnTo>
                <a:lnTo>
                  <a:pt x="1205738" y="762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83173" y="1656715"/>
            <a:ext cx="740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Noise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2738" y="726097"/>
            <a:ext cx="1488186" cy="68131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82738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Receiver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9847" y="726097"/>
            <a:ext cx="1488186" cy="68131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959847" y="726097"/>
            <a:ext cx="1488440" cy="6813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485"/>
              </a:spcBef>
            </a:pPr>
            <a:r>
              <a:rPr sz="1800" b="1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99107" y="1024000"/>
            <a:ext cx="7960995" cy="85725"/>
          </a:xfrm>
          <a:custGeom>
            <a:avLst/>
            <a:gdLst/>
            <a:ahLst/>
            <a:cxnLst/>
            <a:rect l="l" t="t" r="r" b="b"/>
            <a:pathLst>
              <a:path w="7960995" h="85725">
                <a:moveTo>
                  <a:pt x="663448" y="42799"/>
                </a:moveTo>
                <a:lnTo>
                  <a:pt x="634949" y="28575"/>
                </a:lnTo>
                <a:lnTo>
                  <a:pt x="577723" y="0"/>
                </a:lnTo>
                <a:lnTo>
                  <a:pt x="577723" y="28575"/>
                </a:lnTo>
                <a:lnTo>
                  <a:pt x="0" y="28575"/>
                </a:lnTo>
                <a:lnTo>
                  <a:pt x="0" y="57150"/>
                </a:lnTo>
                <a:lnTo>
                  <a:pt x="577723" y="57150"/>
                </a:lnTo>
                <a:lnTo>
                  <a:pt x="577723" y="85725"/>
                </a:lnTo>
                <a:lnTo>
                  <a:pt x="634784" y="57150"/>
                </a:lnTo>
                <a:lnTo>
                  <a:pt x="663448" y="42799"/>
                </a:lnTo>
                <a:close/>
              </a:path>
              <a:path w="7960995" h="85725">
                <a:moveTo>
                  <a:pt x="3173476" y="42799"/>
                </a:moveTo>
                <a:lnTo>
                  <a:pt x="3144977" y="28575"/>
                </a:lnTo>
                <a:lnTo>
                  <a:pt x="3087751" y="0"/>
                </a:lnTo>
                <a:lnTo>
                  <a:pt x="3087751" y="28575"/>
                </a:lnTo>
                <a:lnTo>
                  <a:pt x="2151507" y="28575"/>
                </a:lnTo>
                <a:lnTo>
                  <a:pt x="2151507" y="57150"/>
                </a:lnTo>
                <a:lnTo>
                  <a:pt x="3087751" y="57150"/>
                </a:lnTo>
                <a:lnTo>
                  <a:pt x="3087751" y="85725"/>
                </a:lnTo>
                <a:lnTo>
                  <a:pt x="3144812" y="57150"/>
                </a:lnTo>
                <a:lnTo>
                  <a:pt x="3173476" y="42799"/>
                </a:lnTo>
                <a:close/>
              </a:path>
              <a:path w="7960995" h="85725">
                <a:moveTo>
                  <a:pt x="5683631" y="42799"/>
                </a:moveTo>
                <a:lnTo>
                  <a:pt x="5655132" y="28575"/>
                </a:lnTo>
                <a:lnTo>
                  <a:pt x="5597906" y="0"/>
                </a:lnTo>
                <a:lnTo>
                  <a:pt x="5597906" y="28575"/>
                </a:lnTo>
                <a:lnTo>
                  <a:pt x="4661662" y="28575"/>
                </a:lnTo>
                <a:lnTo>
                  <a:pt x="4661662" y="57150"/>
                </a:lnTo>
                <a:lnTo>
                  <a:pt x="5597906" y="57150"/>
                </a:lnTo>
                <a:lnTo>
                  <a:pt x="5597906" y="85725"/>
                </a:lnTo>
                <a:lnTo>
                  <a:pt x="5654967" y="57150"/>
                </a:lnTo>
                <a:lnTo>
                  <a:pt x="5683631" y="42799"/>
                </a:lnTo>
                <a:close/>
              </a:path>
              <a:path w="7960995" h="85725">
                <a:moveTo>
                  <a:pt x="7960614" y="42799"/>
                </a:moveTo>
                <a:lnTo>
                  <a:pt x="7932115" y="28575"/>
                </a:lnTo>
                <a:lnTo>
                  <a:pt x="7874889" y="0"/>
                </a:lnTo>
                <a:lnTo>
                  <a:pt x="7874889" y="28575"/>
                </a:lnTo>
                <a:lnTo>
                  <a:pt x="7171817" y="28575"/>
                </a:lnTo>
                <a:lnTo>
                  <a:pt x="7171817" y="57150"/>
                </a:lnTo>
                <a:lnTo>
                  <a:pt x="7874889" y="57150"/>
                </a:lnTo>
                <a:lnTo>
                  <a:pt x="7874889" y="85725"/>
                </a:lnTo>
                <a:lnTo>
                  <a:pt x="7931950" y="57150"/>
                </a:lnTo>
                <a:lnTo>
                  <a:pt x="7960614" y="42799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4612" y="2095525"/>
            <a:ext cx="5194300" cy="1051560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90"/>
              </a:lnSpc>
            </a:pPr>
            <a:r>
              <a:rPr sz="1800" b="1" spc="-10" dirty="0">
                <a:latin typeface="Calibri"/>
                <a:cs typeface="Calibri"/>
              </a:rPr>
              <a:t>Transmitter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233" y="2315806"/>
            <a:ext cx="1165415" cy="5378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8233" y="2315806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9715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6723" y="2309710"/>
            <a:ext cx="1165415" cy="5378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236723" y="2309710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5580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Channel</a:t>
            </a:r>
            <a:endParaRPr sz="1800">
              <a:latin typeface="Calibri"/>
              <a:cs typeface="Calibri"/>
            </a:endParaRPr>
          </a:p>
          <a:p>
            <a:pPr marL="19748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5138" y="2315806"/>
            <a:ext cx="1326768" cy="5378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025138" y="2315806"/>
            <a:ext cx="132715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919"/>
              </a:spcBef>
            </a:pPr>
            <a:r>
              <a:rPr sz="1800" b="1" spc="-10" dirty="0">
                <a:latin typeface="Calibri"/>
                <a:cs typeface="Calibri"/>
              </a:rPr>
              <a:t>Modulator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13535" y="2536570"/>
            <a:ext cx="2411730" cy="90170"/>
          </a:xfrm>
          <a:custGeom>
            <a:avLst/>
            <a:gdLst/>
            <a:ahLst/>
            <a:cxnLst/>
            <a:rect l="l" t="t" r="r" b="b"/>
            <a:pathLst>
              <a:path w="2411729" h="90169">
                <a:moveTo>
                  <a:pt x="623189" y="42037"/>
                </a:moveTo>
                <a:lnTo>
                  <a:pt x="595312" y="28448"/>
                </a:lnTo>
                <a:lnTo>
                  <a:pt x="536956" y="0"/>
                </a:lnTo>
                <a:lnTo>
                  <a:pt x="537248" y="28448"/>
                </a:lnTo>
                <a:lnTo>
                  <a:pt x="537248" y="28587"/>
                </a:lnTo>
                <a:lnTo>
                  <a:pt x="0" y="33782"/>
                </a:lnTo>
                <a:lnTo>
                  <a:pt x="203" y="57023"/>
                </a:lnTo>
                <a:lnTo>
                  <a:pt x="254" y="62357"/>
                </a:lnTo>
                <a:lnTo>
                  <a:pt x="537540" y="57162"/>
                </a:lnTo>
                <a:lnTo>
                  <a:pt x="537464" y="49885"/>
                </a:lnTo>
                <a:lnTo>
                  <a:pt x="537540" y="57023"/>
                </a:lnTo>
                <a:lnTo>
                  <a:pt x="537540" y="57162"/>
                </a:lnTo>
                <a:lnTo>
                  <a:pt x="537845" y="85725"/>
                </a:lnTo>
                <a:lnTo>
                  <a:pt x="623189" y="42037"/>
                </a:lnTo>
                <a:close/>
              </a:path>
              <a:path w="2411729" h="90169">
                <a:moveTo>
                  <a:pt x="2383764" y="61722"/>
                </a:moveTo>
                <a:lnTo>
                  <a:pt x="2340102" y="61722"/>
                </a:lnTo>
                <a:lnTo>
                  <a:pt x="2325738" y="61722"/>
                </a:lnTo>
                <a:lnTo>
                  <a:pt x="2325497" y="90170"/>
                </a:lnTo>
                <a:lnTo>
                  <a:pt x="2383764" y="61722"/>
                </a:lnTo>
                <a:close/>
              </a:path>
              <a:path w="2411729" h="90169">
                <a:moveTo>
                  <a:pt x="2411603" y="48133"/>
                </a:moveTo>
                <a:lnTo>
                  <a:pt x="2326259" y="4445"/>
                </a:lnTo>
                <a:lnTo>
                  <a:pt x="2326043" y="27686"/>
                </a:lnTo>
                <a:lnTo>
                  <a:pt x="2326005" y="33007"/>
                </a:lnTo>
                <a:lnTo>
                  <a:pt x="1788668" y="27686"/>
                </a:lnTo>
                <a:lnTo>
                  <a:pt x="1788477" y="48133"/>
                </a:lnTo>
                <a:lnTo>
                  <a:pt x="1788414" y="56261"/>
                </a:lnTo>
                <a:lnTo>
                  <a:pt x="2325751" y="61582"/>
                </a:lnTo>
                <a:lnTo>
                  <a:pt x="2325992" y="33147"/>
                </a:lnTo>
                <a:lnTo>
                  <a:pt x="2325865" y="48133"/>
                </a:lnTo>
                <a:lnTo>
                  <a:pt x="2325751" y="61582"/>
                </a:lnTo>
                <a:lnTo>
                  <a:pt x="2340102" y="61722"/>
                </a:lnTo>
                <a:lnTo>
                  <a:pt x="2384056" y="61582"/>
                </a:lnTo>
                <a:lnTo>
                  <a:pt x="2411603" y="48133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78651" y="2095525"/>
            <a:ext cx="5194300" cy="1051560"/>
          </a:xfrm>
          <a:prstGeom prst="rect">
            <a:avLst/>
          </a:prstGeom>
          <a:ln w="28575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ts val="2090"/>
              </a:lnSpc>
            </a:pPr>
            <a:r>
              <a:rPr sz="1800" b="1" spc="-10" dirty="0">
                <a:latin typeface="Calibri"/>
                <a:cs typeface="Calibri"/>
              </a:rPr>
              <a:t>Receiver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52259" y="2315806"/>
            <a:ext cx="1442466" cy="5378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652259" y="2315806"/>
            <a:ext cx="144272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919"/>
              </a:spcBef>
            </a:pPr>
            <a:r>
              <a:rPr sz="1800" b="1" spc="-10" dirty="0">
                <a:latin typeface="Calibri"/>
                <a:cs typeface="Calibri"/>
              </a:rPr>
              <a:t>Demodulator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782" y="2309710"/>
            <a:ext cx="1165415" cy="53788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677782" y="2309710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Channel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90505" y="2315806"/>
            <a:ext cx="1165415" cy="53788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390505" y="2315806"/>
            <a:ext cx="1165860" cy="538480"/>
          </a:xfrm>
          <a:prstGeom prst="rect">
            <a:avLst/>
          </a:prstGeom>
          <a:ln w="635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985">
              <a:lnSpc>
                <a:spcPts val="2000"/>
              </a:lnSpc>
            </a:pPr>
            <a:r>
              <a:rPr sz="1800" b="1" spc="-10" dirty="0">
                <a:latin typeface="Calibri"/>
                <a:cs typeface="Calibri"/>
              </a:rPr>
              <a:t>Source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94599" y="2536570"/>
            <a:ext cx="2296160" cy="90170"/>
          </a:xfrm>
          <a:custGeom>
            <a:avLst/>
            <a:gdLst/>
            <a:ahLst/>
            <a:cxnLst/>
            <a:rect l="l" t="t" r="r" b="b"/>
            <a:pathLst>
              <a:path w="2296159" h="90169">
                <a:moveTo>
                  <a:pt x="583184" y="42037"/>
                </a:moveTo>
                <a:lnTo>
                  <a:pt x="555345" y="28448"/>
                </a:lnTo>
                <a:lnTo>
                  <a:pt x="497078" y="0"/>
                </a:lnTo>
                <a:lnTo>
                  <a:pt x="497370" y="28448"/>
                </a:lnTo>
                <a:lnTo>
                  <a:pt x="497370" y="28600"/>
                </a:lnTo>
                <a:lnTo>
                  <a:pt x="0" y="33782"/>
                </a:lnTo>
                <a:lnTo>
                  <a:pt x="203" y="57023"/>
                </a:lnTo>
                <a:lnTo>
                  <a:pt x="254" y="62357"/>
                </a:lnTo>
                <a:lnTo>
                  <a:pt x="497662" y="57175"/>
                </a:lnTo>
                <a:lnTo>
                  <a:pt x="497586" y="49720"/>
                </a:lnTo>
                <a:lnTo>
                  <a:pt x="497662" y="57023"/>
                </a:lnTo>
                <a:lnTo>
                  <a:pt x="497662" y="57175"/>
                </a:lnTo>
                <a:lnTo>
                  <a:pt x="497967" y="85725"/>
                </a:lnTo>
                <a:lnTo>
                  <a:pt x="583184" y="42037"/>
                </a:lnTo>
                <a:close/>
              </a:path>
              <a:path w="2296159" h="90169">
                <a:moveTo>
                  <a:pt x="2268194" y="61595"/>
                </a:moveTo>
                <a:lnTo>
                  <a:pt x="2224278" y="61595"/>
                </a:lnTo>
                <a:lnTo>
                  <a:pt x="2210003" y="61595"/>
                </a:lnTo>
                <a:lnTo>
                  <a:pt x="2209673" y="90043"/>
                </a:lnTo>
                <a:lnTo>
                  <a:pt x="2268194" y="61595"/>
                </a:lnTo>
                <a:close/>
              </a:path>
              <a:path w="2296159" h="90169">
                <a:moveTo>
                  <a:pt x="2295906" y="48133"/>
                </a:moveTo>
                <a:lnTo>
                  <a:pt x="2210689" y="4318"/>
                </a:lnTo>
                <a:lnTo>
                  <a:pt x="2210409" y="27686"/>
                </a:lnTo>
                <a:lnTo>
                  <a:pt x="2210346" y="32867"/>
                </a:lnTo>
                <a:lnTo>
                  <a:pt x="1748790" y="27686"/>
                </a:lnTo>
                <a:lnTo>
                  <a:pt x="1748599" y="48133"/>
                </a:lnTo>
                <a:lnTo>
                  <a:pt x="1748536" y="56261"/>
                </a:lnTo>
                <a:lnTo>
                  <a:pt x="2210003" y="61442"/>
                </a:lnTo>
                <a:lnTo>
                  <a:pt x="2210282" y="37287"/>
                </a:lnTo>
                <a:lnTo>
                  <a:pt x="2210168" y="48133"/>
                </a:lnTo>
                <a:lnTo>
                  <a:pt x="2210066" y="56261"/>
                </a:lnTo>
                <a:lnTo>
                  <a:pt x="2210003" y="61442"/>
                </a:lnTo>
                <a:lnTo>
                  <a:pt x="2224278" y="61442"/>
                </a:lnTo>
                <a:lnTo>
                  <a:pt x="2268524" y="61442"/>
                </a:lnTo>
                <a:lnTo>
                  <a:pt x="2295906" y="48133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8772" y="3242564"/>
            <a:ext cx="11755755" cy="325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Source</a:t>
            </a:r>
            <a:r>
              <a:rPr sz="2400" b="1" spc="-7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Encoding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5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remove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redundancy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sz="2000" b="1" spc="2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original</a:t>
            </a:r>
            <a:r>
              <a:rPr sz="2000" b="1" spc="2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so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000" b="1" spc="2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000" b="1" spc="2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fewer</a:t>
            </a:r>
            <a:r>
              <a:rPr sz="2000" b="1" spc="2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—</a:t>
            </a:r>
            <a:r>
              <a:rPr sz="2000" b="1" spc="2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i.e.,</a:t>
            </a:r>
            <a:r>
              <a:rPr sz="20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compress</a:t>
            </a:r>
            <a:r>
              <a:rPr sz="20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0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efficiently.</a:t>
            </a:r>
            <a:endParaRPr sz="2000" dirty="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Text</a:t>
            </a:r>
            <a:r>
              <a:rPr sz="20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compression: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Huffman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coding,</a:t>
            </a:r>
            <a:r>
              <a:rPr sz="2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Arithmetic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coding</a:t>
            </a:r>
            <a:endParaRPr sz="2000" dirty="0">
              <a:latin typeface="Calibri"/>
              <a:cs typeface="Calibri"/>
            </a:endParaRPr>
          </a:p>
          <a:p>
            <a:pPr marL="926465" lvl="1" indent="-456565">
              <a:lnSpc>
                <a:spcPts val="2385"/>
              </a:lnSpc>
              <a:buFont typeface="Wingdings"/>
              <a:buChar char=""/>
              <a:tabLst>
                <a:tab pos="926465" algn="l"/>
              </a:tabLs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Image/video</a:t>
            </a:r>
            <a:r>
              <a:rPr sz="20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compression:</a:t>
            </a:r>
            <a:r>
              <a:rPr sz="20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JPEG,</a:t>
            </a:r>
            <a:r>
              <a:rPr sz="20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MPEG</a:t>
            </a:r>
            <a:endParaRPr sz="2000" dirty="0">
              <a:latin typeface="Calibri"/>
              <a:cs typeface="Calibri"/>
            </a:endParaRPr>
          </a:p>
          <a:p>
            <a:pPr marL="469265" indent="-456565">
              <a:lnSpc>
                <a:spcPts val="2865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Channel</a:t>
            </a:r>
            <a:r>
              <a:rPr sz="2400" b="1" spc="-6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Encoding</a:t>
            </a:r>
            <a:endParaRPr sz="24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30"/>
              </a:spcBef>
              <a:buFont typeface="Wingdings"/>
              <a:buChar char=""/>
              <a:tabLst>
                <a:tab pos="469900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add</a:t>
            </a:r>
            <a:r>
              <a:rPr sz="20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redundancy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make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robust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0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0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errors</a:t>
            </a:r>
            <a:r>
              <a:rPr sz="20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0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0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 channel.</a:t>
            </a:r>
            <a:endParaRPr sz="2000" dirty="0">
              <a:latin typeface="Calibri"/>
              <a:cs typeface="Calibri"/>
            </a:endParaRPr>
          </a:p>
          <a:p>
            <a:pPr marL="926465" lvl="1" indent="-456565">
              <a:lnSpc>
                <a:spcPts val="2385"/>
              </a:lnSpc>
              <a:buFont typeface="Wingdings"/>
              <a:buChar char=""/>
              <a:tabLst>
                <a:tab pos="926465" algn="l"/>
              </a:tabLst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Examples:</a:t>
            </a: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Linear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(Hamming</a:t>
            </a:r>
            <a:r>
              <a:rPr sz="2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Code),</a:t>
            </a: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Convolution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Codes,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Turbo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Codes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469265" indent="-456565">
              <a:lnSpc>
                <a:spcPts val="2865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Encoding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makes</a:t>
            </a:r>
            <a:r>
              <a:rPr sz="24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smaller,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Channel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Encoding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makes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Stronger.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/>
      <p:bldP spid="12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4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Block</a:t>
            </a:r>
            <a:r>
              <a:rPr spc="-3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639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k)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n-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Redundant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Systematic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codes</a:t>
            </a:r>
            <a:endParaRPr sz="2400">
              <a:latin typeface="Calibri"/>
              <a:cs typeface="Calibri"/>
            </a:endParaRPr>
          </a:p>
          <a:p>
            <a:pPr marL="469900" marR="762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  <a:tab pos="1963420" algn="l"/>
                <a:tab pos="2825750" algn="l"/>
                <a:tab pos="3627754" algn="l"/>
                <a:tab pos="4853305" algn="l"/>
                <a:tab pos="5448935" algn="l"/>
                <a:tab pos="5836285" algn="l"/>
                <a:tab pos="6392545" algn="l"/>
                <a:tab pos="7771765" algn="l"/>
                <a:tab pos="8165465" algn="l"/>
                <a:tab pos="8720455" algn="l"/>
                <a:tab pos="10195560" algn="l"/>
                <a:tab pos="1143635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place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beginning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followed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by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making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original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easily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identifiable.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Non-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Systematic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codes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Non-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codes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intersperse</a:t>
            </a:r>
            <a:r>
              <a:rPr sz="2400" b="1" spc="1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bits,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so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original</a:t>
            </a:r>
            <a:r>
              <a:rPr sz="2400" b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located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fixed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Parameters</a:t>
            </a:r>
            <a:r>
              <a:rPr spc="-6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Block</a:t>
            </a:r>
            <a:r>
              <a:rPr spc="-45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(n,</a:t>
            </a:r>
            <a:r>
              <a:rPr spc="-40" dirty="0"/>
              <a:t> </a:t>
            </a:r>
            <a:r>
              <a:rPr spc="-25" dirty="0"/>
              <a:t>k)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43" y="1004912"/>
            <a:ext cx="7133463" cy="7139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309" y="689154"/>
            <a:ext cx="4900267" cy="2304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239" y="1818060"/>
            <a:ext cx="2674600" cy="268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416" y="2195907"/>
            <a:ext cx="2822223" cy="281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62864"/>
            <a:ext cx="28416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spc="-45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(4,</a:t>
            </a:r>
            <a:r>
              <a:rPr spc="-25" dirty="0"/>
              <a:t> 3)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7241" y="584834"/>
          <a:ext cx="8128000" cy="6219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20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919209" y="417017"/>
            <a:ext cx="21729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298450" algn="l"/>
              </a:tabLst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0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0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85619" y="976947"/>
            <a:ext cx="930275" cy="287020"/>
            <a:chOff x="8385619" y="976947"/>
            <a:chExt cx="930275" cy="287020"/>
          </a:xfrm>
        </p:grpSpPr>
        <p:sp>
          <p:nvSpPr>
            <p:cNvPr id="6" name="object 6"/>
            <p:cNvSpPr/>
            <p:nvPr/>
          </p:nvSpPr>
          <p:spPr>
            <a:xfrm>
              <a:off x="8399906" y="997966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59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9606" y="991235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5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545512" y="1372933"/>
            <a:ext cx="307975" cy="284480"/>
            <a:chOff x="8545512" y="1372933"/>
            <a:chExt cx="307975" cy="284480"/>
          </a:xfrm>
        </p:grpSpPr>
        <p:sp>
          <p:nvSpPr>
            <p:cNvPr id="9" name="object 9"/>
            <p:cNvSpPr/>
            <p:nvPr/>
          </p:nvSpPr>
          <p:spPr>
            <a:xfrm>
              <a:off x="8559800" y="138722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0" y="0"/>
                  </a:moveTo>
                  <a:lnTo>
                    <a:pt x="27940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59800" y="138722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2794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545512" y="1736407"/>
            <a:ext cx="307975" cy="284480"/>
            <a:chOff x="8545512" y="1736407"/>
            <a:chExt cx="307975" cy="284480"/>
          </a:xfrm>
        </p:grpSpPr>
        <p:sp>
          <p:nvSpPr>
            <p:cNvPr id="12" name="object 12"/>
            <p:cNvSpPr/>
            <p:nvPr/>
          </p:nvSpPr>
          <p:spPr>
            <a:xfrm>
              <a:off x="8559800" y="17506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0" y="0"/>
                  </a:moveTo>
                  <a:lnTo>
                    <a:pt x="27940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59800" y="17506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2794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385619" y="2071306"/>
            <a:ext cx="930275" cy="287020"/>
            <a:chOff x="8385619" y="2071306"/>
            <a:chExt cx="930275" cy="287020"/>
          </a:xfrm>
        </p:grpSpPr>
        <p:sp>
          <p:nvSpPr>
            <p:cNvPr id="15" name="object 15"/>
            <p:cNvSpPr/>
            <p:nvPr/>
          </p:nvSpPr>
          <p:spPr>
            <a:xfrm>
              <a:off x="8399906" y="2092325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39606" y="2085594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5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545512" y="2485707"/>
            <a:ext cx="307975" cy="284480"/>
            <a:chOff x="8545512" y="2485707"/>
            <a:chExt cx="307975" cy="284480"/>
          </a:xfrm>
        </p:grpSpPr>
        <p:sp>
          <p:nvSpPr>
            <p:cNvPr id="18" name="object 18"/>
            <p:cNvSpPr/>
            <p:nvPr/>
          </p:nvSpPr>
          <p:spPr>
            <a:xfrm>
              <a:off x="8559800" y="24999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0" y="0"/>
                  </a:moveTo>
                  <a:lnTo>
                    <a:pt x="27940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59800" y="2499995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5">
                  <a:moveTo>
                    <a:pt x="2794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390826" y="2834830"/>
            <a:ext cx="930275" cy="287020"/>
            <a:chOff x="8390826" y="2834830"/>
            <a:chExt cx="930275" cy="287020"/>
          </a:xfrm>
        </p:grpSpPr>
        <p:sp>
          <p:nvSpPr>
            <p:cNvPr id="21" name="object 21"/>
            <p:cNvSpPr/>
            <p:nvPr/>
          </p:nvSpPr>
          <p:spPr>
            <a:xfrm>
              <a:off x="8405114" y="2855848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44814" y="2849117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5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390826" y="3183953"/>
            <a:ext cx="930275" cy="287020"/>
            <a:chOff x="8390826" y="3183953"/>
            <a:chExt cx="930275" cy="287020"/>
          </a:xfrm>
        </p:grpSpPr>
        <p:sp>
          <p:nvSpPr>
            <p:cNvPr id="24" name="object 24"/>
            <p:cNvSpPr/>
            <p:nvPr/>
          </p:nvSpPr>
          <p:spPr>
            <a:xfrm>
              <a:off x="8405114" y="3204972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44814" y="3198241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525319" y="3595814"/>
            <a:ext cx="307975" cy="284480"/>
            <a:chOff x="8525319" y="3595814"/>
            <a:chExt cx="307975" cy="284480"/>
          </a:xfrm>
        </p:grpSpPr>
        <p:sp>
          <p:nvSpPr>
            <p:cNvPr id="27" name="object 27"/>
            <p:cNvSpPr/>
            <p:nvPr/>
          </p:nvSpPr>
          <p:spPr>
            <a:xfrm>
              <a:off x="8539606" y="3610102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539606" y="3610102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525319" y="3959288"/>
            <a:ext cx="307975" cy="284480"/>
            <a:chOff x="8525319" y="3959288"/>
            <a:chExt cx="307975" cy="284480"/>
          </a:xfrm>
        </p:grpSpPr>
        <p:sp>
          <p:nvSpPr>
            <p:cNvPr id="30" name="object 30"/>
            <p:cNvSpPr/>
            <p:nvPr/>
          </p:nvSpPr>
          <p:spPr>
            <a:xfrm>
              <a:off x="8539606" y="3973576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39606" y="3973576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8385619" y="4310824"/>
            <a:ext cx="930275" cy="287020"/>
            <a:chOff x="8385619" y="4310824"/>
            <a:chExt cx="930275" cy="287020"/>
          </a:xfrm>
        </p:grpSpPr>
        <p:sp>
          <p:nvSpPr>
            <p:cNvPr id="33" name="object 33"/>
            <p:cNvSpPr/>
            <p:nvPr/>
          </p:nvSpPr>
          <p:spPr>
            <a:xfrm>
              <a:off x="8399906" y="4331842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59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539606" y="4325111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8385619" y="4659947"/>
            <a:ext cx="930275" cy="287020"/>
            <a:chOff x="8385619" y="4659947"/>
            <a:chExt cx="930275" cy="287020"/>
          </a:xfrm>
        </p:grpSpPr>
        <p:sp>
          <p:nvSpPr>
            <p:cNvPr id="36" name="object 36"/>
            <p:cNvSpPr/>
            <p:nvPr/>
          </p:nvSpPr>
          <p:spPr>
            <a:xfrm>
              <a:off x="8399906" y="4680965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59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539606" y="4674234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397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8525319" y="5065966"/>
            <a:ext cx="307975" cy="284480"/>
            <a:chOff x="8525319" y="5065966"/>
            <a:chExt cx="307975" cy="284480"/>
          </a:xfrm>
        </p:grpSpPr>
        <p:sp>
          <p:nvSpPr>
            <p:cNvPr id="39" name="object 39"/>
            <p:cNvSpPr/>
            <p:nvPr/>
          </p:nvSpPr>
          <p:spPr>
            <a:xfrm>
              <a:off x="8539606" y="5080253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539606" y="5080253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52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387143" y="5416740"/>
            <a:ext cx="930275" cy="287020"/>
            <a:chOff x="8387143" y="5416740"/>
            <a:chExt cx="930275" cy="287020"/>
          </a:xfrm>
        </p:grpSpPr>
        <p:sp>
          <p:nvSpPr>
            <p:cNvPr id="42" name="object 42"/>
            <p:cNvSpPr/>
            <p:nvPr/>
          </p:nvSpPr>
          <p:spPr>
            <a:xfrm>
              <a:off x="8401431" y="5437759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60">
                  <a:moveTo>
                    <a:pt x="0" y="0"/>
                  </a:moveTo>
                  <a:lnTo>
                    <a:pt x="152400" y="251434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41131" y="5431028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8547036" y="5812713"/>
            <a:ext cx="307975" cy="284480"/>
            <a:chOff x="8547036" y="5812713"/>
            <a:chExt cx="307975" cy="284480"/>
          </a:xfrm>
        </p:grpSpPr>
        <p:sp>
          <p:nvSpPr>
            <p:cNvPr id="45" name="object 45"/>
            <p:cNvSpPr/>
            <p:nvPr/>
          </p:nvSpPr>
          <p:spPr>
            <a:xfrm>
              <a:off x="8561323" y="582700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46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61323" y="5827001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46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8385619" y="6176200"/>
            <a:ext cx="930275" cy="605155"/>
            <a:chOff x="8399906" y="6190488"/>
            <a:chExt cx="901700" cy="576148"/>
          </a:xfrm>
        </p:grpSpPr>
        <p:sp>
          <p:nvSpPr>
            <p:cNvPr id="48" name="object 48"/>
            <p:cNvSpPr/>
            <p:nvPr/>
          </p:nvSpPr>
          <p:spPr>
            <a:xfrm>
              <a:off x="8561323" y="6190488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0" y="0"/>
                  </a:moveTo>
                  <a:lnTo>
                    <a:pt x="279400" y="25544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561323" y="6190488"/>
              <a:ext cx="279400" cy="255904"/>
            </a:xfrm>
            <a:custGeom>
              <a:avLst/>
              <a:gdLst/>
              <a:ahLst/>
              <a:cxnLst/>
              <a:rect l="l" t="t" r="r" b="b"/>
              <a:pathLst>
                <a:path w="279400" h="255904">
                  <a:moveTo>
                    <a:pt x="279400" y="0"/>
                  </a:moveTo>
                  <a:lnTo>
                    <a:pt x="0" y="255447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99906" y="6515176"/>
              <a:ext cx="152400" cy="251460"/>
            </a:xfrm>
            <a:custGeom>
              <a:avLst/>
              <a:gdLst/>
              <a:ahLst/>
              <a:cxnLst/>
              <a:rect l="l" t="t" r="r" b="b"/>
              <a:pathLst>
                <a:path w="152400" h="251459">
                  <a:moveTo>
                    <a:pt x="0" y="0"/>
                  </a:moveTo>
                  <a:lnTo>
                    <a:pt x="152400" y="251396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39606" y="6508419"/>
              <a:ext cx="762000" cy="255904"/>
            </a:xfrm>
            <a:custGeom>
              <a:avLst/>
              <a:gdLst/>
              <a:ahLst/>
              <a:cxnLst/>
              <a:rect l="l" t="t" r="r" b="b"/>
              <a:pathLst>
                <a:path w="762000" h="255904">
                  <a:moveTo>
                    <a:pt x="762000" y="0"/>
                  </a:moveTo>
                  <a:lnTo>
                    <a:pt x="0" y="255460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1" y="-62357"/>
            <a:ext cx="104876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8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2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5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30" dirty="0">
                <a:solidFill>
                  <a:srgbClr val="006600"/>
                </a:solidFill>
                <a:latin typeface="Arial"/>
                <a:cs typeface="Arial"/>
              </a:rPr>
              <a:t>for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dirty="0">
                <a:solidFill>
                  <a:srgbClr val="006600"/>
                </a:solidFill>
                <a:latin typeface="Arial"/>
                <a:cs typeface="Arial"/>
              </a:rPr>
              <a:t>Parity</a:t>
            </a:r>
            <a:r>
              <a:rPr sz="6600" u="none" spc="-1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15" dirty="0">
                <a:solidFill>
                  <a:srgbClr val="006600"/>
                </a:solidFill>
                <a:latin typeface="Arial"/>
                <a:cs typeface="Arial"/>
              </a:rPr>
              <a:t>Check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7143750" cy="19837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Encoding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Decoding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Decoding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6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Parity</a:t>
            </a:r>
            <a:r>
              <a:rPr spc="-55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702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simplest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Control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Detection.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Error,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only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one-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additional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added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make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1’s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(even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parity)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(odd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parity).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parity: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Total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1’s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even.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Odd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parity: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Total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number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1’s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odd.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k)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Check,</a:t>
            </a:r>
            <a:r>
              <a:rPr sz="2400" b="1" spc="1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k+1,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means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(Even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or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Odd).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50" dirty="0">
                <a:solidFill>
                  <a:srgbClr val="6F2F9F"/>
                </a:solidFill>
                <a:latin typeface="Calibri"/>
                <a:cs typeface="Calibri"/>
              </a:rPr>
              <a:t>P,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P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18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{This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XOR}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50" dirty="0">
                <a:solidFill>
                  <a:srgbClr val="6F2F9F"/>
                </a:solidFill>
                <a:latin typeface="Calibri"/>
                <a:cs typeface="Calibri"/>
              </a:rPr>
              <a:t>P,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P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18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XOR}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P]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Parity</a:t>
            </a:r>
            <a:r>
              <a:rPr spc="-80" dirty="0"/>
              <a:t> </a:t>
            </a:r>
            <a:r>
              <a:rPr dirty="0"/>
              <a:t>Check</a:t>
            </a:r>
            <a:r>
              <a:rPr spc="-4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10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258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(5,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codewords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corresponding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1]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0]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(5,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4)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 r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18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180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{Sum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means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XOR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Operation}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I: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So,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2,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3,</a:t>
            </a:r>
            <a:r>
              <a:rPr sz="18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4,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P]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1]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II: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So,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18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2,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3,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4,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P]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1,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0]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Decoding</a:t>
            </a:r>
            <a:r>
              <a:rPr spc="-7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Parity</a:t>
            </a:r>
            <a:r>
              <a:rPr spc="-85" dirty="0"/>
              <a:t> </a:t>
            </a:r>
            <a:r>
              <a:rPr spc="-2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512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stage,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along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V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whether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codeword,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V.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XOR}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  <a:tab pos="1024255" algn="l"/>
                <a:tab pos="1769745" algn="l"/>
                <a:tab pos="2655570" algn="l"/>
                <a:tab pos="3634104" algn="l"/>
                <a:tab pos="3959860" algn="l"/>
                <a:tab pos="4956810" algn="l"/>
                <a:tab pos="5420360" algn="l"/>
                <a:tab pos="5803900" algn="l"/>
                <a:tab pos="7304405" algn="l"/>
                <a:tab pos="8131809" algn="l"/>
                <a:tab pos="8474710" algn="l"/>
                <a:tab pos="8935085" algn="l"/>
                <a:tab pos="9716770" algn="l"/>
                <a:tab pos="10100945" algn="l"/>
                <a:tab pos="1066927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0;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otherwise,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received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  <a:p>
            <a:pPr marL="469900" marR="635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69900" algn="l"/>
                <a:tab pos="1029335" algn="l"/>
                <a:tab pos="1711960" algn="l"/>
                <a:tab pos="2600325" algn="l"/>
                <a:tab pos="3583940" algn="l"/>
                <a:tab pos="3914140" algn="l"/>
                <a:tab pos="4914265" algn="l"/>
                <a:tab pos="5382260" algn="l"/>
                <a:tab pos="5770880" algn="l"/>
                <a:tab pos="7275195" algn="l"/>
                <a:tab pos="8107045" algn="l"/>
                <a:tab pos="8455025" algn="l"/>
                <a:tab pos="8919845" algn="l"/>
                <a:tab pos="9705975" algn="l"/>
                <a:tab pos="10094595" algn="l"/>
                <a:tab pos="1066800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Check,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1;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otherwise,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received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Parity</a:t>
            </a:r>
            <a:r>
              <a:rPr spc="-80" dirty="0"/>
              <a:t> </a:t>
            </a:r>
            <a:r>
              <a:rPr dirty="0"/>
              <a:t>Check</a:t>
            </a:r>
            <a:r>
              <a:rPr spc="-4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10" dirty="0"/>
              <a:t>Decoding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575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(8,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7)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whether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2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[10110110]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[01101001]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failures.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(8,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7)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 r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8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6</a:t>
            </a:r>
            <a:r>
              <a:rPr sz="1800" b="1" spc="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r>
              <a:rPr sz="18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8</a:t>
            </a:r>
            <a:r>
              <a:rPr sz="18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{Sum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means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XOR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Operation}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I: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927100" marR="6985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1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1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1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but</a:t>
            </a:r>
            <a:r>
              <a:rPr sz="2400" b="1" spc="1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here</a:t>
            </a:r>
            <a:r>
              <a:rPr sz="2400" b="1" spc="1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we</a:t>
            </a:r>
            <a:r>
              <a:rPr sz="2400" b="1" spc="2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have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Failure,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1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is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incorrect.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Case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II: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0,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correct.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690" y="-62357"/>
            <a:ext cx="106927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5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40" dirty="0">
                <a:solidFill>
                  <a:srgbClr val="006600"/>
                </a:solidFill>
                <a:latin typeface="Arial"/>
                <a:cs typeface="Arial"/>
              </a:rPr>
              <a:t>for</a:t>
            </a:r>
            <a:r>
              <a:rPr sz="6600" u="none" spc="-2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250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sz="6600" u="none" spc="-2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3380" cy="19837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Block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for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Product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cannot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errors;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only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product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both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520065" marR="5080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Product</a:t>
            </a:r>
            <a:r>
              <a:rPr sz="2400" b="1" spc="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1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two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parity-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matrices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combined</a:t>
            </a:r>
            <a:r>
              <a:rPr sz="2400" b="1" spc="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two-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dimensional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structure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allows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both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correction.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2" y="-6114"/>
            <a:ext cx="11771630" cy="13430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/>
              <a:t>Example</a:t>
            </a:r>
            <a:r>
              <a:rPr spc="-7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Block</a:t>
            </a:r>
            <a:r>
              <a:rPr spc="-65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Product</a:t>
            </a:r>
            <a:r>
              <a:rPr spc="-70" dirty="0"/>
              <a:t> </a:t>
            </a:r>
            <a:r>
              <a:rPr spc="-20" dirty="0"/>
              <a:t>Code</a:t>
            </a:r>
          </a:p>
          <a:p>
            <a:pPr marL="484505" marR="5080" indent="-457200">
              <a:lnSpc>
                <a:spcPct val="100000"/>
              </a:lnSpc>
              <a:spcBef>
                <a:spcPts val="330"/>
              </a:spcBef>
              <a:buFont typeface="Wingdings"/>
              <a:buChar char=""/>
              <a:tabLst>
                <a:tab pos="48450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2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1: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Given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the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Information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=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[1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4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</a:t>
            </a:r>
            <a:r>
              <a:rPr sz="2400" u="none" spc="250" dirty="0">
                <a:solidFill>
                  <a:srgbClr val="6F2F9F"/>
                </a:solidFill>
              </a:rPr>
              <a:t> </a:t>
            </a:r>
            <a:r>
              <a:rPr sz="2400" u="none" spc="-25" dirty="0">
                <a:solidFill>
                  <a:srgbClr val="6F2F9F"/>
                </a:solidFill>
              </a:rPr>
              <a:t>1], </a:t>
            </a:r>
            <a:r>
              <a:rPr sz="2400" u="none" dirty="0">
                <a:solidFill>
                  <a:srgbClr val="6F2F9F"/>
                </a:solidFill>
              </a:rPr>
              <a:t>Structure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the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Block</a:t>
            </a:r>
            <a:r>
              <a:rPr sz="2400" u="none" spc="-5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for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Product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Code</a:t>
            </a:r>
            <a:r>
              <a:rPr sz="2400" u="none" spc="-6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(35,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spc="-20" dirty="0">
                <a:solidFill>
                  <a:srgbClr val="6F2F9F"/>
                </a:solidFill>
              </a:rPr>
              <a:t>24).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31731"/>
              </p:ext>
            </p:extLst>
          </p:nvPr>
        </p:nvGraphicFramePr>
        <p:xfrm>
          <a:off x="365125" y="1378077"/>
          <a:ext cx="11423015" cy="296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975"/>
                <a:gridCol w="1627505"/>
                <a:gridCol w="1627505"/>
                <a:gridCol w="1627505"/>
                <a:gridCol w="1635125"/>
                <a:gridCol w="1749425"/>
                <a:gridCol w="1577975"/>
              </a:tblGrid>
              <a:tr h="37020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2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</a:t>
                      </a: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-50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45972" y="4637608"/>
            <a:ext cx="628967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Total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rows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columns,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35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bits,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24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bits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So,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given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(35,24)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happening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per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(5,4)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(7,6)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(35,24)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used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one-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bit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error.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-62357"/>
            <a:ext cx="116274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5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40" dirty="0">
                <a:solidFill>
                  <a:srgbClr val="006600"/>
                </a:solidFill>
                <a:latin typeface="Arial"/>
                <a:cs typeface="Arial"/>
              </a:rPr>
              <a:t>for</a:t>
            </a:r>
            <a:r>
              <a:rPr sz="6600" u="none" spc="-31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90" dirty="0">
                <a:solidFill>
                  <a:srgbClr val="006600"/>
                </a:solidFill>
                <a:latin typeface="Arial"/>
                <a:cs typeface="Arial"/>
              </a:rPr>
              <a:t>Repetition</a:t>
            </a:r>
            <a:r>
              <a:rPr sz="66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4015" cy="3081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Block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for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Repetition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These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repeat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two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more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times.</a:t>
            </a:r>
            <a:endParaRPr sz="2400">
              <a:latin typeface="Calibri"/>
              <a:cs typeface="Calibri"/>
            </a:endParaRPr>
          </a:p>
          <a:p>
            <a:pPr marL="520065" marR="5080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They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type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denoted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1),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where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each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encoded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into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codeword.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Example: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(4,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1)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n=4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k=1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Redundancy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4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Here,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redundancy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even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odd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Block</a:t>
            </a:r>
            <a:r>
              <a:rPr spc="-85" dirty="0"/>
              <a:t> </a:t>
            </a:r>
            <a:r>
              <a:rPr dirty="0"/>
              <a:t>Code</a:t>
            </a:r>
            <a:r>
              <a:rPr spc="-7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Repetition</a:t>
            </a:r>
            <a:r>
              <a:rPr spc="-8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0191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(3,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1)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Explain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Encoding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Decoding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Process.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939" y="983741"/>
            <a:ext cx="43199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(3,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1)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(n,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k=1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"/>
              <a:tabLst>
                <a:tab pos="46926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Redundancy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772" y="2126360"/>
            <a:ext cx="265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Encoding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5465" y="2555239"/>
          <a:ext cx="5132066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344"/>
                <a:gridCol w="855344"/>
                <a:gridCol w="855344"/>
                <a:gridCol w="855344"/>
                <a:gridCol w="855345"/>
                <a:gridCol w="855345"/>
              </a:tblGrid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Redundancy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7962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584952" y="1113027"/>
            <a:ext cx="0" cy="4185285"/>
          </a:xfrm>
          <a:custGeom>
            <a:avLst/>
            <a:gdLst/>
            <a:ahLst/>
            <a:cxnLst/>
            <a:rect l="l" t="t" r="r" b="b"/>
            <a:pathLst>
              <a:path h="4185285">
                <a:moveTo>
                  <a:pt x="0" y="0"/>
                </a:moveTo>
                <a:lnTo>
                  <a:pt x="0" y="4185158"/>
                </a:lnTo>
              </a:path>
            </a:pathLst>
          </a:custGeom>
          <a:ln w="19050">
            <a:solidFill>
              <a:srgbClr val="538235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00521" y="1002791"/>
            <a:ext cx="5953125" cy="8343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Decoding</a:t>
            </a:r>
            <a:r>
              <a:rPr sz="2400" b="1" spc="-3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  <a:p>
            <a:pPr marL="543560" lvl="1" indent="-457200">
              <a:lnSpc>
                <a:spcPct val="100000"/>
              </a:lnSpc>
              <a:spcBef>
                <a:spcPts val="305"/>
              </a:spcBef>
              <a:buFont typeface="Wingdings"/>
              <a:buChar char=""/>
              <a:tabLst>
                <a:tab pos="54356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Decoding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done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based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Majority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Votes.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16219" y="1932051"/>
          <a:ext cx="6219822" cy="334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/>
                <a:gridCol w="685165"/>
                <a:gridCol w="701675"/>
                <a:gridCol w="1165225"/>
                <a:gridCol w="701674"/>
                <a:gridCol w="685164"/>
                <a:gridCol w="700404"/>
                <a:gridCol w="895350"/>
              </a:tblGrid>
              <a:tr h="370205">
                <a:tc gridSpan="3"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Received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One-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bit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9427" y="5423103"/>
            <a:ext cx="9347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Majority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Vote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taken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per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Info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r>
              <a:rPr sz="1800" b="1" spc="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1561</Words>
  <Application>Microsoft Office PowerPoint</Application>
  <PresentationFormat>Custom</PresentationFormat>
  <Paragraphs>335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Introduction to Block Codes, Type of Block Codes</vt:lpstr>
      <vt:lpstr>Block Code</vt:lpstr>
      <vt:lpstr>Basics of Channel and Codeword</vt:lpstr>
      <vt:lpstr>Basic Structure of Communication Systems</vt:lpstr>
      <vt:lpstr>Basics of Block Code</vt:lpstr>
      <vt:lpstr>Parameters of Block Code (n, k)</vt:lpstr>
      <vt:lpstr>Block Code (4, 3)</vt:lpstr>
      <vt:lpstr>Block Code for Parity Check</vt:lpstr>
      <vt:lpstr>Basics of Block Code for Parity Check</vt:lpstr>
      <vt:lpstr>Example of Block Code for Parity Check with Encoding</vt:lpstr>
      <vt:lpstr>Decoding of Block Code for Parity Check</vt:lpstr>
      <vt:lpstr>Example of Block Code for Parity Check with Decoding</vt:lpstr>
      <vt:lpstr>Block Code for Product Code</vt:lpstr>
      <vt:lpstr>Example of Block Code for Product Code Example 1: Given the Information I = [1 1 0 1 0 1 1 0 1 0 0 0 0 0 0 0 1 1 1 0 1 0 0 1], Structure the Block Code for Product Code (35, 24).</vt:lpstr>
      <vt:lpstr>Block Code for Repetition Code</vt:lpstr>
      <vt:lpstr>Example of Block Code for Repetition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CSE1</cp:lastModifiedBy>
  <cp:revision>8</cp:revision>
  <dcterms:created xsi:type="dcterms:W3CDTF">2026-02-16T15:48:50Z</dcterms:created>
  <dcterms:modified xsi:type="dcterms:W3CDTF">2026-02-16T19:45:18Z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